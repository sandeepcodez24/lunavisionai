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4" r:id="rId8"/>
    <p:sldId id="262" r:id="rId9"/>
    <p:sldId id="265" r:id="rId10"/>
    <p:sldId id="263"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1789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C71A1-9EE6-ECD6-78EE-07DC5905D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51BDC-3FBA-97A4-413C-DAE81EC06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C1986-AC29-C8E3-7588-187A6C9DC4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8017EA-F261-7526-3A63-ACBC0C24222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10878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CF96B-3DE1-EE8E-B1C9-C160C837E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7D55F-6C96-6F6A-78ED-3B07846EA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37492-7DAF-5E84-D22C-EC6F12EF15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ED320D-B5AA-01D5-74B0-349FA157BB4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6692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8B4D-8EB4-2AE7-3A05-C278FBA34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EC742-F4CC-FCB4-68B0-94CEFF319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07D24-3E72-CBB2-4171-F4498089D1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9536DE-2537-6466-471B-964EBF26390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78593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63325-9B3A-9F2B-091B-03F7CD9E0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CFE47-1F51-F640-D7B3-D778F6B81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0088A-5143-C2E7-E1A2-B74D8A58C4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7A5693-3EB0-E9AA-1796-1A479774833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69502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E649-8B47-048D-72EB-5669E2BDE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CFB45-5406-4B1E-A401-5F2FA9852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7311A-EBA5-746F-49BB-7F31E61EF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796253-3A3A-BF52-9A9D-0BB80FD4627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806692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A4E66-2559-067B-EF55-7AADB1407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648AD-FF9B-7512-A9D8-46AB971DA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22C71-4894-1117-B17A-2824AB5AE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F6216D-E3FE-34B1-8495-5401BF7E55B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98798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1B2E2-3D44-C948-A2D5-A37167625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AC795-2CC1-1370-727A-0FCA7C802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2E7FF-DB59-795A-5BC5-5400F95164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75E2A2-5EA8-450A-77BA-DBE41CE5CD5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148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AC43-4355-CBDE-217B-4A8359B86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A9838-E45A-AC4D-D827-AC40B7CF8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EAE22-0B50-7DB6-EDA8-952916A6A8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24B32-B77A-C905-421F-7AC058CD4AC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35789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8A639-3EE5-1FBC-83DF-155DB3C3C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1B8B7-CF20-1599-6A25-37269F814A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01413-CAA9-E5D6-53AE-1C4FC55E15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5555F-639E-FDF1-AD3E-36B51F379DE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105168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2CF5C-96C9-6E5B-CAD2-592B4F0E2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0A225-22E8-D7DA-A559-29C47F58E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D3FEC-BF16-754F-15EB-6D6D4034E9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054E7C-DDAB-3CB4-9635-D7FDB9627FD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61682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272716" y="1270853"/>
            <a:ext cx="11614484" cy="1584641"/>
          </a:xfrm>
          <a:prstGeom prst="rect">
            <a:avLst/>
          </a:prstGeom>
          <a:noFill/>
          <a:ln/>
        </p:spPr>
        <p:txBody>
          <a:bodyPr wrap="square" rtlCol="0" anchor="ctr"/>
          <a:lstStyle/>
          <a:p>
            <a:pPr marL="0" indent="0" algn="ctr">
              <a:buNone/>
            </a:pPr>
            <a:r>
              <a:rPr lang="en-US" sz="4000" b="1" dirty="0" err="1">
                <a:solidFill>
                  <a:srgbClr val="FFFFFF"/>
                </a:solidFill>
                <a:latin typeface="Times New Roman" pitchFamily="34" charset="0"/>
                <a:ea typeface="Times New Roman" pitchFamily="34" charset="-122"/>
                <a:cs typeface="Times New Roman" pitchFamily="34" charset="-120"/>
              </a:rPr>
              <a:t>LuNaVision</a:t>
            </a:r>
            <a:r>
              <a:rPr lang="en-US" sz="4000" b="1" dirty="0">
                <a:solidFill>
                  <a:srgbClr val="FFFFFF"/>
                </a:solidFill>
                <a:latin typeface="Times New Roman" pitchFamily="34" charset="0"/>
                <a:ea typeface="Times New Roman" pitchFamily="34" charset="-122"/>
                <a:cs typeface="Times New Roman" pitchFamily="34" charset="-120"/>
              </a:rPr>
              <a:t> AI:</a:t>
            </a:r>
          </a:p>
          <a:p>
            <a:pPr marL="0" indent="0" algn="ctr">
              <a:buNone/>
            </a:pPr>
            <a:r>
              <a:rPr lang="en-US" sz="4000" b="1" dirty="0">
                <a:solidFill>
                  <a:srgbClr val="FFFFFF"/>
                </a:solidFill>
                <a:latin typeface="Times New Roman" pitchFamily="34" charset="0"/>
                <a:ea typeface="Times New Roman" pitchFamily="34" charset="-122"/>
                <a:cs typeface="Times New Roman" pitchFamily="34" charset="-120"/>
              </a:rPr>
              <a:t> An Intelligent Multi-Agent Pipeline for Automated Exoplanet Discovery from TESS Observations</a:t>
            </a:r>
          </a:p>
          <a:p>
            <a:pPr marL="0" indent="0" algn="ctr">
              <a:buNone/>
            </a:pPr>
            <a:endParaRPr lang="en-US" sz="4000" b="1" dirty="0">
              <a:solidFill>
                <a:srgbClr val="FFFFFF"/>
              </a:solidFill>
              <a:latin typeface="Times New Roman" pitchFamily="34" charset="0"/>
              <a:ea typeface="Times New Roman" pitchFamily="34" charset="-122"/>
              <a:cs typeface="Times New Roman" pitchFamily="34" charset="-120"/>
            </a:endParaRPr>
          </a:p>
        </p:txBody>
      </p:sp>
      <p:sp>
        <p:nvSpPr>
          <p:cNvPr id="5" name="Text 3"/>
          <p:cNvSpPr/>
          <p:nvPr/>
        </p:nvSpPr>
        <p:spPr>
          <a:xfrm>
            <a:off x="742038" y="3668928"/>
            <a:ext cx="4754880" cy="1005840"/>
          </a:xfrm>
          <a:prstGeom prst="rect">
            <a:avLst/>
          </a:prstGeom>
          <a:noFill/>
          <a:ln/>
        </p:spPr>
        <p:txBody>
          <a:bodyPr wrap="square" rtlCol="0" anchor="t"/>
          <a:lstStyle/>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PROJECT GUIDE</a:t>
            </a:r>
          </a:p>
          <a:p>
            <a:pPr marL="0" indent="0" algn="ctr">
              <a:buNone/>
            </a:pPr>
            <a:endParaRPr lang="en-US" b="1" kern="0" spc="150" dirty="0">
              <a:solidFill>
                <a:srgbClr val="FFFFFF"/>
              </a:solidFill>
              <a:latin typeface="Times New Roman" pitchFamily="34" charset="0"/>
              <a:ea typeface="Times New Roman" pitchFamily="34" charset="-122"/>
              <a:cs typeface="Times New Roman" pitchFamily="34" charset="-120"/>
            </a:endParaRP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Mrs. M. </a:t>
            </a:r>
            <a:r>
              <a:rPr lang="en-US" b="1" kern="0" spc="150" dirty="0" err="1">
                <a:solidFill>
                  <a:srgbClr val="FFFFFF"/>
                </a:solidFill>
                <a:latin typeface="Times New Roman" pitchFamily="34" charset="0"/>
                <a:ea typeface="Times New Roman" pitchFamily="34" charset="-122"/>
                <a:cs typeface="Times New Roman" pitchFamily="34" charset="-120"/>
              </a:rPr>
              <a:t>Bhavadharini</a:t>
            </a:r>
            <a:endParaRPr lang="en-US" b="1" kern="0" spc="150" dirty="0">
              <a:solidFill>
                <a:srgbClr val="FFFFFF"/>
              </a:solidFill>
              <a:latin typeface="Times New Roman" pitchFamily="34" charset="0"/>
              <a:ea typeface="Times New Roman" pitchFamily="34" charset="-122"/>
              <a:cs typeface="Times New Roman" pitchFamily="34" charset="-120"/>
            </a:endParaRPr>
          </a:p>
          <a:p>
            <a:pPr algn="ctr"/>
            <a:r>
              <a:rPr lang="en-US" b="1" kern="0" spc="150" dirty="0">
                <a:solidFill>
                  <a:srgbClr val="FFFFFF"/>
                </a:solidFill>
                <a:latin typeface="Times New Roman" pitchFamily="34" charset="0"/>
                <a:ea typeface="Times New Roman" pitchFamily="34" charset="-122"/>
                <a:cs typeface="Times New Roman" pitchFamily="34" charset="-120"/>
              </a:rPr>
              <a:t>Dr. S. Sasikala</a:t>
            </a: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
</a:t>
            </a:r>
            <a:endParaRPr lang="en-US" dirty="0"/>
          </a:p>
        </p:txBody>
      </p:sp>
      <p:sp>
        <p:nvSpPr>
          <p:cNvPr id="6" name="Text 4"/>
          <p:cNvSpPr/>
          <p:nvPr/>
        </p:nvSpPr>
        <p:spPr>
          <a:xfrm>
            <a:off x="6695083" y="3668928"/>
            <a:ext cx="4846320" cy="1097280"/>
          </a:xfrm>
          <a:prstGeom prst="rect">
            <a:avLst/>
          </a:prstGeom>
          <a:noFill/>
          <a:ln/>
        </p:spPr>
        <p:txBody>
          <a:bodyPr wrap="square" rtlCol="0" anchor="t"/>
          <a:lstStyle/>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TEAM MEMBERS</a:t>
            </a:r>
          </a:p>
          <a:p>
            <a:pPr marL="0" indent="0" algn="ctr">
              <a:buNone/>
            </a:pPr>
            <a:endParaRPr lang="en-US" b="1" kern="0" spc="150" dirty="0">
              <a:solidFill>
                <a:srgbClr val="FFFFFF"/>
              </a:solidFill>
              <a:latin typeface="Times New Roman" pitchFamily="34" charset="0"/>
              <a:ea typeface="Times New Roman" pitchFamily="34" charset="-122"/>
              <a:cs typeface="Times New Roman" pitchFamily="34" charset="-120"/>
            </a:endParaRP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B R Prasanna</a:t>
            </a: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M Sandeep</a:t>
            </a:r>
          </a:p>
          <a:p>
            <a:pPr marL="0" indent="0" algn="ctr">
              <a:buNone/>
            </a:pPr>
            <a:r>
              <a:rPr lang="en-US" b="1" kern="0" spc="150" dirty="0">
                <a:solidFill>
                  <a:srgbClr val="FFFFFF"/>
                </a:solidFill>
                <a:latin typeface="Times New Roman" pitchFamily="34" charset="0"/>
                <a:ea typeface="Times New Roman" pitchFamily="34" charset="-122"/>
                <a:cs typeface="Times New Roman" pitchFamily="34" charset="-120"/>
              </a:rPr>
              <a:t>S Gokul
</a:t>
            </a:r>
            <a:endParaRPr lang="en-US"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352926"/>
            <a:ext cx="10515600" cy="60960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ABSTRACT</a:t>
            </a:r>
            <a:endParaRPr lang="en-US" sz="3200" dirty="0"/>
          </a:p>
        </p:txBody>
      </p:sp>
      <p:sp>
        <p:nvSpPr>
          <p:cNvPr id="4" name="Text 2"/>
          <p:cNvSpPr/>
          <p:nvPr/>
        </p:nvSpPr>
        <p:spPr>
          <a:xfrm>
            <a:off x="548640" y="962526"/>
            <a:ext cx="11064240" cy="4798194"/>
          </a:xfrm>
          <a:prstGeom prst="rect">
            <a:avLst/>
          </a:prstGeom>
          <a:noFill/>
          <a:ln/>
        </p:spPr>
        <p:txBody>
          <a:bodyPr wrap="square" rtlCol="0" anchor="t"/>
          <a:lstStyle/>
          <a:p>
            <a:pPr marL="0" indent="0" algn="just">
              <a:lnSpc>
                <a:spcPct val="140000"/>
              </a:lnSpc>
              <a:buNone/>
            </a:pPr>
            <a:r>
              <a:rPr lang="en-US" sz="1600" dirty="0">
                <a:solidFill>
                  <a:schemeClr val="bg1"/>
                </a:solidFill>
                <a:latin typeface="Times New Roman" panose="02020603050405020304" pitchFamily="18" charset="0"/>
                <a:cs typeface="Times New Roman" panose="02020603050405020304" pitchFamily="18" charset="0"/>
              </a:rPr>
              <a:t>The discovery of exoplanets has become a rapidly growing field in modern astronomy, providing valuable insights into planetary systems beyond our solar system. Space missions such as NASA's Transiting Exoplanet Survey Satellite (TESS) generate vast amounts of stellar light curve data, making manual analysis increasingly difficult. To address this challenge, researchers have applied various Machine Learning (ML) and Deep Learning (DL) techniques, including Random Forest, Support Vector Machine (SVM), Convolutional Neural Networks (CNN), Long Short-Term Memory (LSTM), and Transformer-based models, to identify planetary transit signals and distinguish them from noise and false positives. While these approaches have achieved promising results, they are typically designed for individual stages of the detection process and often require manual intervention for preprocessing, validation, and interpretation. This project proposes </a:t>
            </a:r>
            <a:r>
              <a:rPr lang="en-US" sz="1600" dirty="0" err="1">
                <a:solidFill>
                  <a:schemeClr val="bg1"/>
                </a:solidFill>
                <a:latin typeface="Times New Roman" panose="02020603050405020304" pitchFamily="18" charset="0"/>
                <a:cs typeface="Times New Roman" panose="02020603050405020304" pitchFamily="18" charset="0"/>
              </a:rPr>
              <a:t>LuNaVision</a:t>
            </a:r>
            <a:r>
              <a:rPr lang="en-US" sz="1600" dirty="0">
                <a:solidFill>
                  <a:schemeClr val="bg1"/>
                </a:solidFill>
                <a:latin typeface="Times New Roman" panose="02020603050405020304" pitchFamily="18" charset="0"/>
                <a:cs typeface="Times New Roman" panose="02020603050405020304" pitchFamily="18" charset="0"/>
              </a:rPr>
              <a:t> AI: An Intelligent Multi-Agent Pipeline for Automated Exoplanet Discovery from TESS Observations, a collaborative AI framework that automates the complete exoplanet detection workflow. The proposed system employs specialized AI agents for astronomical data acquisition, light curve preprocessing, noise reduction, transit detection, exoplanet classification, orbital parameter estimation, explainable decision-making, and automated scientific report generation. By integrating Multi-Agent Systems, Large Language Models (LLMs), Explainable Artificial Intelligence (XAI), Machine Learning, Deep Learning, and time-series analysis, </a:t>
            </a:r>
            <a:r>
              <a:rPr lang="en-US" sz="1600" dirty="0" err="1">
                <a:solidFill>
                  <a:schemeClr val="bg1"/>
                </a:solidFill>
                <a:latin typeface="Times New Roman" panose="02020603050405020304" pitchFamily="18" charset="0"/>
                <a:cs typeface="Times New Roman" panose="02020603050405020304" pitchFamily="18" charset="0"/>
              </a:rPr>
              <a:t>LuNaVision</a:t>
            </a:r>
            <a:r>
              <a:rPr lang="en-US" sz="1600" dirty="0">
                <a:solidFill>
                  <a:schemeClr val="bg1"/>
                </a:solidFill>
                <a:latin typeface="Times New Roman" panose="02020603050405020304" pitchFamily="18" charset="0"/>
                <a:cs typeface="Times New Roman" panose="02020603050405020304" pitchFamily="18" charset="0"/>
              </a:rPr>
              <a:t> AI provides a scalable, interpretable, and intelligent solution for processing noisy astronomical datasets. The framework aims to improve detection accuracy, reduce false positives, minimize manual effort, and accelerate exoplanet discovery through an autonomous and efficient scientific analysis pipeline.</a:t>
            </a:r>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02</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351692"/>
            <a:ext cx="10515600" cy="672123"/>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OBJECTIVES</a:t>
            </a:r>
            <a:endParaRPr lang="en-US" sz="3200" dirty="0"/>
          </a:p>
        </p:txBody>
      </p:sp>
      <p:sp>
        <p:nvSpPr>
          <p:cNvPr id="4" name="Text 2"/>
          <p:cNvSpPr/>
          <p:nvPr/>
        </p:nvSpPr>
        <p:spPr>
          <a:xfrm>
            <a:off x="822960" y="1141046"/>
            <a:ext cx="10058400" cy="5214033"/>
          </a:xfrm>
          <a:prstGeom prst="rect">
            <a:avLst/>
          </a:prstGeom>
          <a:noFill/>
          <a:ln/>
        </p:spPr>
        <p:txBody>
          <a:bodyPr wrap="square" rtlCol="0" anchor="t"/>
          <a:lstStyle/>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develop an AI-based multi-agent framework for automated exoplanet discovery.</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automate TESS data acquisition and preprocessing.</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reduce noise in stellar light curves.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detect potential planetary transit signals.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classify exoplanet candidates and false positives.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estimate orbital parameters.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provide Explainable AI (XAI) for decisions.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generate automated scientific reports.</a:t>
            </a:r>
          </a:p>
          <a:p>
            <a:pPr marL="285750" indent="-285750">
              <a:spcAft>
                <a:spcPts val="2000"/>
              </a:spcAft>
              <a:buSzPct val="10000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reduce manual effort and improve scalability.</a:t>
            </a:r>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03</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233837"/>
            <a:ext cx="10515600" cy="633046"/>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SCOPE OF THE PROJECT</a:t>
            </a:r>
            <a:endParaRPr lang="en-US" sz="3200" dirty="0"/>
          </a:p>
        </p:txBody>
      </p:sp>
      <p:sp>
        <p:nvSpPr>
          <p:cNvPr id="7" name="Text 5"/>
          <p:cNvSpPr/>
          <p:nvPr/>
        </p:nvSpPr>
        <p:spPr>
          <a:xfrm>
            <a:off x="548640" y="1505119"/>
            <a:ext cx="10789920" cy="3908453"/>
          </a:xfrm>
          <a:prstGeom prst="rect">
            <a:avLst/>
          </a:prstGeom>
          <a:noFill/>
          <a:ln/>
        </p:spPr>
        <p:txBody>
          <a:bodyPr wrap="square" rtlCol="0" anchor="t"/>
          <a:lstStyle/>
          <a:p>
            <a:pPr marL="0" indent="0">
              <a:lnSpc>
                <a:spcPct val="130000"/>
              </a:lnSpc>
              <a:buNone/>
            </a:pPr>
            <a:endParaRPr lang="en-US" sz="1600" dirty="0"/>
          </a:p>
        </p:txBody>
      </p:sp>
      <p:sp>
        <p:nvSpPr>
          <p:cNvPr id="8" name="Text 6"/>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04</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2" name="TextBox 1">
            <a:extLst>
              <a:ext uri="{FF2B5EF4-FFF2-40B4-BE49-F238E27FC236}">
                <a16:creationId xmlns:a16="http://schemas.microsoft.com/office/drawing/2014/main" id="{FF397868-07D5-0D0F-C115-0E167E8AAFCF}"/>
              </a:ext>
            </a:extLst>
          </p:cNvPr>
          <p:cNvSpPr txBox="1"/>
          <p:nvPr/>
        </p:nvSpPr>
        <p:spPr>
          <a:xfrm>
            <a:off x="2486526" y="3320716"/>
            <a:ext cx="184731" cy="369332"/>
          </a:xfrm>
          <a:prstGeom prst="rect">
            <a:avLst/>
          </a:prstGeom>
          <a:noFill/>
        </p:spPr>
        <p:txBody>
          <a:bodyPr wrap="none" rtlCol="0">
            <a:spAutoFit/>
          </a:bodyPr>
          <a:lstStyle/>
          <a:p>
            <a:endParaRPr lang="en-IN" dirty="0"/>
          </a:p>
        </p:txBody>
      </p:sp>
      <p:sp>
        <p:nvSpPr>
          <p:cNvPr id="5" name="TextBox 4">
            <a:extLst>
              <a:ext uri="{FF2B5EF4-FFF2-40B4-BE49-F238E27FC236}">
                <a16:creationId xmlns:a16="http://schemas.microsoft.com/office/drawing/2014/main" id="{D65E8B48-DDBD-ADDC-7307-2FFBDE4CC3B9}"/>
              </a:ext>
            </a:extLst>
          </p:cNvPr>
          <p:cNvSpPr txBox="1"/>
          <p:nvPr/>
        </p:nvSpPr>
        <p:spPr>
          <a:xfrm>
            <a:off x="853440" y="917088"/>
            <a:ext cx="10515600" cy="5632311"/>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Where it is used:</a:t>
            </a:r>
          </a:p>
          <a:p>
            <a:r>
              <a:rPr lang="en-IN" b="1" dirty="0">
                <a:solidFill>
                  <a:schemeClr val="bg1"/>
                </a:solidFill>
                <a:latin typeface="Times New Roman" panose="02020603050405020304" pitchFamily="18" charset="0"/>
                <a:cs typeface="Times New Roman" panose="02020603050405020304" pitchFamily="18" charset="0"/>
              </a:rPr>
              <a:t>•	Astronomical Research – </a:t>
            </a:r>
            <a:r>
              <a:rPr lang="en-IN" dirty="0">
                <a:solidFill>
                  <a:schemeClr val="bg1"/>
                </a:solidFill>
                <a:latin typeface="Times New Roman" panose="02020603050405020304" pitchFamily="18" charset="0"/>
                <a:cs typeface="Times New Roman" panose="02020603050405020304" pitchFamily="18" charset="0"/>
              </a:rPr>
              <a:t>Assist astronomers in analysing TESS observations. </a:t>
            </a:r>
          </a:p>
          <a:p>
            <a:r>
              <a:rPr lang="en-IN" b="1" dirty="0">
                <a:solidFill>
                  <a:schemeClr val="bg1"/>
                </a:solidFill>
                <a:latin typeface="Times New Roman" panose="02020603050405020304" pitchFamily="18" charset="0"/>
                <a:cs typeface="Times New Roman" panose="02020603050405020304" pitchFamily="18" charset="0"/>
              </a:rPr>
              <a:t>•	Exoplanet Discovery – </a:t>
            </a:r>
            <a:r>
              <a:rPr lang="en-IN" dirty="0">
                <a:solidFill>
                  <a:schemeClr val="bg1"/>
                </a:solidFill>
                <a:latin typeface="Times New Roman" panose="02020603050405020304" pitchFamily="18" charset="0"/>
                <a:cs typeface="Times New Roman" panose="02020603050405020304" pitchFamily="18" charset="0"/>
              </a:rPr>
              <a:t>Identify potential planets from stellar light curves. </a:t>
            </a:r>
          </a:p>
          <a:p>
            <a:r>
              <a:rPr lang="en-IN" b="1" dirty="0">
                <a:solidFill>
                  <a:schemeClr val="bg1"/>
                </a:solidFill>
                <a:latin typeface="Times New Roman" panose="02020603050405020304" pitchFamily="18" charset="0"/>
                <a:cs typeface="Times New Roman" panose="02020603050405020304" pitchFamily="18" charset="0"/>
              </a:rPr>
              <a:t>•	Space Missions – </a:t>
            </a:r>
            <a:r>
              <a:rPr lang="en-IN" dirty="0">
                <a:solidFill>
                  <a:schemeClr val="bg1"/>
                </a:solidFill>
                <a:latin typeface="Times New Roman" panose="02020603050405020304" pitchFamily="18" charset="0"/>
                <a:cs typeface="Times New Roman" panose="02020603050405020304" pitchFamily="18" charset="0"/>
              </a:rPr>
              <a:t>Support analysis of large-scale TESS datasets.</a:t>
            </a:r>
            <a:r>
              <a:rPr lang="en-IN" b="1" dirty="0">
                <a:solidFill>
                  <a:schemeClr val="bg1"/>
                </a:solidFill>
                <a:latin typeface="Times New Roman" panose="02020603050405020304" pitchFamily="18" charset="0"/>
                <a:cs typeface="Times New Roman" panose="02020603050405020304" pitchFamily="18" charset="0"/>
              </a:rPr>
              <a:t> </a:t>
            </a:r>
          </a:p>
          <a:p>
            <a:r>
              <a:rPr lang="en-IN" b="1" dirty="0">
                <a:solidFill>
                  <a:schemeClr val="bg1"/>
                </a:solidFill>
                <a:latin typeface="Times New Roman" panose="02020603050405020304" pitchFamily="18" charset="0"/>
                <a:cs typeface="Times New Roman" panose="02020603050405020304" pitchFamily="18" charset="0"/>
              </a:rPr>
              <a:t>•	Planetary System Studies – </a:t>
            </a:r>
            <a:r>
              <a:rPr lang="en-IN" dirty="0">
                <a:solidFill>
                  <a:schemeClr val="bg1"/>
                </a:solidFill>
                <a:latin typeface="Times New Roman" panose="02020603050405020304" pitchFamily="18" charset="0"/>
                <a:cs typeface="Times New Roman" panose="02020603050405020304" pitchFamily="18" charset="0"/>
              </a:rPr>
              <a:t>Assist in studying planets beyond our Solar System. </a:t>
            </a:r>
          </a:p>
          <a:p>
            <a:r>
              <a:rPr lang="en-IN" b="1" dirty="0">
                <a:solidFill>
                  <a:schemeClr val="bg1"/>
                </a:solidFill>
                <a:latin typeface="Times New Roman" panose="02020603050405020304" pitchFamily="18" charset="0"/>
                <a:cs typeface="Times New Roman" panose="02020603050405020304" pitchFamily="18" charset="0"/>
              </a:rPr>
              <a:t>•	Scientific Data Analysis – </a:t>
            </a:r>
            <a:r>
              <a:rPr lang="en-IN" dirty="0">
                <a:solidFill>
                  <a:schemeClr val="bg1"/>
                </a:solidFill>
                <a:latin typeface="Times New Roman" panose="02020603050405020304" pitchFamily="18" charset="0"/>
                <a:cs typeface="Times New Roman" panose="02020603050405020304" pitchFamily="18" charset="0"/>
              </a:rPr>
              <a:t>Automate processing of large and noisy astronomical datasets.</a:t>
            </a:r>
            <a:r>
              <a:rPr lang="en-IN" b="1" dirty="0">
                <a:solidFill>
                  <a:schemeClr val="bg1"/>
                </a:solidFill>
                <a:latin typeface="Times New Roman" panose="02020603050405020304" pitchFamily="18" charset="0"/>
                <a:cs typeface="Times New Roman" panose="02020603050405020304" pitchFamily="18" charset="0"/>
              </a:rPr>
              <a:t> </a:t>
            </a:r>
          </a:p>
          <a:p>
            <a:endParaRPr lang="en-IN"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Benefits:</a:t>
            </a:r>
          </a:p>
          <a:p>
            <a:r>
              <a:rPr lang="en-IN" b="1" dirty="0">
                <a:solidFill>
                  <a:schemeClr val="bg1"/>
                </a:solidFill>
                <a:latin typeface="Times New Roman" panose="02020603050405020304" pitchFamily="18" charset="0"/>
                <a:cs typeface="Times New Roman" panose="02020603050405020304" pitchFamily="18" charset="0"/>
              </a:rPr>
              <a:t>•	Automates the exoplanet detection workflow. </a:t>
            </a:r>
          </a:p>
          <a:p>
            <a:r>
              <a:rPr lang="en-IN" b="1" dirty="0">
                <a:solidFill>
                  <a:schemeClr val="bg1"/>
                </a:solidFill>
                <a:latin typeface="Times New Roman" panose="02020603050405020304" pitchFamily="18" charset="0"/>
                <a:cs typeface="Times New Roman" panose="02020603050405020304" pitchFamily="18" charset="0"/>
              </a:rPr>
              <a:t>•	Reduces manual effort in data analysis. </a:t>
            </a:r>
          </a:p>
          <a:p>
            <a:r>
              <a:rPr lang="en-IN" b="1" dirty="0">
                <a:solidFill>
                  <a:schemeClr val="bg1"/>
                </a:solidFill>
                <a:latin typeface="Times New Roman" panose="02020603050405020304" pitchFamily="18" charset="0"/>
                <a:cs typeface="Times New Roman" panose="02020603050405020304" pitchFamily="18" charset="0"/>
              </a:rPr>
              <a:t>•	Reduces false positives during candidate identification. </a:t>
            </a:r>
          </a:p>
          <a:p>
            <a:r>
              <a:rPr lang="en-IN" b="1" dirty="0">
                <a:solidFill>
                  <a:schemeClr val="bg1"/>
                </a:solidFill>
                <a:latin typeface="Times New Roman" panose="02020603050405020304" pitchFamily="18" charset="0"/>
                <a:cs typeface="Times New Roman" panose="02020603050405020304" pitchFamily="18" charset="0"/>
              </a:rPr>
              <a:t>•	Handles large datasets efficiently. </a:t>
            </a:r>
          </a:p>
          <a:p>
            <a:r>
              <a:rPr lang="en-IN" b="1" dirty="0">
                <a:solidFill>
                  <a:schemeClr val="bg1"/>
                </a:solidFill>
                <a:latin typeface="Times New Roman" panose="02020603050405020304" pitchFamily="18" charset="0"/>
                <a:cs typeface="Times New Roman" panose="02020603050405020304" pitchFamily="18" charset="0"/>
              </a:rPr>
              <a:t>•	Improves interpretability using XAI. </a:t>
            </a:r>
          </a:p>
          <a:p>
            <a:r>
              <a:rPr lang="en-IN" b="1" dirty="0">
                <a:solidFill>
                  <a:schemeClr val="bg1"/>
                </a:solidFill>
                <a:latin typeface="Times New Roman" panose="02020603050405020304" pitchFamily="18" charset="0"/>
                <a:cs typeface="Times New Roman" panose="02020603050405020304" pitchFamily="18" charset="0"/>
              </a:rPr>
              <a:t>•	Generates automated scientific reports. </a:t>
            </a:r>
          </a:p>
          <a:p>
            <a:r>
              <a:rPr lang="en-IN" b="1" dirty="0">
                <a:solidFill>
                  <a:schemeClr val="bg1"/>
                </a:solidFill>
                <a:latin typeface="Times New Roman" panose="02020603050405020304" pitchFamily="18" charset="0"/>
                <a:cs typeface="Times New Roman" panose="02020603050405020304" pitchFamily="18" charset="0"/>
              </a:rPr>
              <a:t>•	Accelerates exoplanet discovery. </a:t>
            </a:r>
          </a:p>
          <a:p>
            <a:endParaRPr lang="en-IN"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One-line Scope:</a:t>
            </a:r>
          </a:p>
          <a:p>
            <a:r>
              <a:rPr lang="en-US" dirty="0" err="1">
                <a:solidFill>
                  <a:schemeClr val="bg1"/>
                </a:solidFill>
                <a:latin typeface="Times New Roman" panose="02020603050405020304" pitchFamily="18" charset="0"/>
                <a:cs typeface="Times New Roman" panose="02020603050405020304" pitchFamily="18" charset="0"/>
              </a:rPr>
              <a:t>LuNaVision</a:t>
            </a:r>
            <a:r>
              <a:rPr lang="en-US" dirty="0">
                <a:solidFill>
                  <a:schemeClr val="bg1"/>
                </a:solidFill>
                <a:latin typeface="Times New Roman" panose="02020603050405020304" pitchFamily="18" charset="0"/>
                <a:cs typeface="Times New Roman" panose="02020603050405020304" pitchFamily="18" charset="0"/>
              </a:rPr>
              <a:t> AI can be used as an intelligent assistance system for astronomers and space-research applications to automatically </a:t>
            </a:r>
            <a:r>
              <a:rPr lang="en-US" dirty="0" err="1">
                <a:solidFill>
                  <a:schemeClr val="bg1"/>
                </a:solidFill>
                <a:latin typeface="Times New Roman" panose="02020603050405020304" pitchFamily="18" charset="0"/>
                <a:cs typeface="Times New Roman" panose="02020603050405020304" pitchFamily="18" charset="0"/>
              </a:rPr>
              <a:t>analyse</a:t>
            </a:r>
            <a:r>
              <a:rPr lang="en-US" dirty="0">
                <a:solidFill>
                  <a:schemeClr val="bg1"/>
                </a:solidFill>
                <a:latin typeface="Times New Roman" panose="02020603050405020304" pitchFamily="18" charset="0"/>
                <a:cs typeface="Times New Roman" panose="02020603050405020304" pitchFamily="18" charset="0"/>
              </a:rPr>
              <a:t> TESS observations and identify potential exoplanet candidates.</a:t>
            </a:r>
          </a:p>
          <a:p>
            <a:endParaRPr lang="en-IN"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125046"/>
            <a:ext cx="10515600" cy="476739"/>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EXISTING SYSTEM</a:t>
            </a:r>
            <a:endParaRPr lang="en-US" sz="3200" dirty="0"/>
          </a:p>
        </p:txBody>
      </p:sp>
      <p:sp>
        <p:nvSpPr>
          <p:cNvPr id="4" name="Text 2"/>
          <p:cNvSpPr/>
          <p:nvPr/>
        </p:nvSpPr>
        <p:spPr>
          <a:xfrm>
            <a:off x="548640" y="1783080"/>
            <a:ext cx="11064240" cy="3931920"/>
          </a:xfrm>
          <a:prstGeom prst="rect">
            <a:avLst/>
          </a:prstGeom>
          <a:noFill/>
          <a:ln/>
        </p:spPr>
        <p:txBody>
          <a:bodyPr wrap="square" rtlCol="0" anchor="t"/>
          <a:lstStyle/>
          <a:p>
            <a:pPr>
              <a:spcAft>
                <a:spcPts val="1600"/>
              </a:spcAft>
              <a:buSzPct val="100000"/>
            </a:pPr>
            <a:endParaRPr lang="en-US" sz="1800" dirty="0">
              <a:solidFill>
                <a:schemeClr val="bg1"/>
              </a:solidFill>
            </a:endParaRPr>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05</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59F25801-5C3B-6CE2-65E5-CFBFC50C7280}"/>
              </a:ext>
            </a:extLst>
          </p:cNvPr>
          <p:cNvSpPr txBox="1"/>
          <p:nvPr/>
        </p:nvSpPr>
        <p:spPr>
          <a:xfrm>
            <a:off x="715030" y="711201"/>
            <a:ext cx="11199602" cy="5632311"/>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A CNN-Based Ensemble Model for Exoplanet Detection</a:t>
            </a:r>
            <a:endParaRPr lang="en-IN"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Existing Approach: </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Uses stellar flux (light intensity) for exoplanet detection. </a:t>
            </a:r>
          </a:p>
          <a:p>
            <a:r>
              <a:rPr lang="en-IN" dirty="0">
                <a:solidFill>
                  <a:schemeClr val="bg1"/>
                </a:solidFill>
                <a:latin typeface="Times New Roman" panose="02020603050405020304" pitchFamily="18" charset="0"/>
                <a:cs typeface="Times New Roman" panose="02020603050405020304" pitchFamily="18" charset="0"/>
              </a:rPr>
              <a:t>•	Applies multiple Machine Learning and Deep Learning models. </a:t>
            </a:r>
          </a:p>
          <a:p>
            <a:r>
              <a:rPr lang="en-IN" dirty="0">
                <a:solidFill>
                  <a:schemeClr val="bg1"/>
                </a:solidFill>
                <a:latin typeface="Times New Roman" panose="02020603050405020304" pitchFamily="18" charset="0"/>
                <a:cs typeface="Times New Roman" panose="02020603050405020304" pitchFamily="18" charset="0"/>
              </a:rPr>
              <a:t>•	Uses CNN-based ensemble learning for classification. </a:t>
            </a:r>
          </a:p>
          <a:p>
            <a:r>
              <a:rPr lang="en-IN" dirty="0">
                <a:solidFill>
                  <a:schemeClr val="bg1"/>
                </a:solidFill>
                <a:latin typeface="Times New Roman" panose="02020603050405020304" pitchFamily="18" charset="0"/>
                <a:cs typeface="Times New Roman" panose="02020603050405020304" pitchFamily="18" charset="0"/>
              </a:rPr>
              <a:t>•	Evaluates models using Accuracy, Precision, Sensitivity and Specificity. </a:t>
            </a:r>
          </a:p>
          <a:p>
            <a:r>
              <a:rPr lang="en-IN" dirty="0">
                <a:solidFill>
                  <a:schemeClr val="bg1"/>
                </a:solidFill>
                <a:latin typeface="Times New Roman" panose="02020603050405020304" pitchFamily="18" charset="0"/>
                <a:cs typeface="Times New Roman" panose="02020603050405020304" pitchFamily="18" charset="0"/>
              </a:rPr>
              <a:t>•	The proposed Ensemble-CNN achieved 99.62% accuracy in the study. </a:t>
            </a:r>
          </a:p>
          <a:p>
            <a:endParaRPr lang="en-IN"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Existing System Workflow:</a:t>
            </a:r>
          </a:p>
          <a:p>
            <a:r>
              <a:rPr lang="en-IN" b="1" dirty="0">
                <a:solidFill>
                  <a:schemeClr val="bg1"/>
                </a:solidFill>
                <a:latin typeface="Times New Roman" panose="02020603050405020304" pitchFamily="18" charset="0"/>
                <a:cs typeface="Times New Roman" panose="02020603050405020304" pitchFamily="18" charset="0"/>
              </a:rPr>
              <a:t>   Stellar Light Intensity → Data Processing → ML/DL Models → Ensemble-CNN → Exoplanet Classification</a:t>
            </a:r>
            <a:endParaRPr lang="en-IN" dirty="0">
              <a:solidFill>
                <a:schemeClr val="bg1"/>
              </a:solidFill>
              <a:latin typeface="Times New Roman" panose="02020603050405020304" pitchFamily="18" charset="0"/>
              <a:cs typeface="Times New Roman" panose="02020603050405020304" pitchFamily="18" charset="0"/>
            </a:endParaRPr>
          </a:p>
          <a:p>
            <a:endParaRPr lang="en-IN"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Limitations :</a:t>
            </a:r>
          </a:p>
          <a:p>
            <a:pPr lvl="0"/>
            <a:r>
              <a:rPr lang="en-US" dirty="0">
                <a:solidFill>
                  <a:schemeClr val="bg1"/>
                </a:solidFill>
                <a:latin typeface="Times New Roman" panose="02020603050405020304" pitchFamily="18" charset="0"/>
                <a:cs typeface="Times New Roman" panose="02020603050405020304" pitchFamily="18" charset="0"/>
              </a:rPr>
              <a:t>•  Mainly focuses on exoplanet classification. </a:t>
            </a:r>
          </a:p>
          <a:p>
            <a:pPr lvl="0"/>
            <a:r>
              <a:rPr lang="en-US" dirty="0">
                <a:solidFill>
                  <a:schemeClr val="bg1"/>
                </a:solidFill>
                <a:latin typeface="Times New Roman" panose="02020603050405020304" pitchFamily="18" charset="0"/>
                <a:cs typeface="Times New Roman" panose="02020603050405020304" pitchFamily="18" charset="0"/>
              </a:rPr>
              <a:t>•  Does not provide a complete automated end-to-end discovery pipeline. </a:t>
            </a:r>
          </a:p>
          <a:p>
            <a:pPr lvl="0"/>
            <a:r>
              <a:rPr lang="en-US" dirty="0">
                <a:solidFill>
                  <a:schemeClr val="bg1"/>
                </a:solidFill>
                <a:latin typeface="Times New Roman" panose="02020603050405020304" pitchFamily="18" charset="0"/>
                <a:cs typeface="Times New Roman" panose="02020603050405020304" pitchFamily="18" charset="0"/>
              </a:rPr>
              <a:t>•  Does not cover all stages such as data acquisition, orbital parameter estimation, XAI and automated scientific reporting. </a:t>
            </a:r>
          </a:p>
          <a:p>
            <a:pPr lvl="0"/>
            <a:endParaRPr lang="en-IN"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Problem :</a:t>
            </a:r>
          </a:p>
          <a:p>
            <a:r>
              <a:rPr lang="en-IN"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Need for an automated, scalable, and interpretable end-to-end exoplanet discovery pipeline.</a:t>
            </a:r>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33957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PROPOSED SYSTEM</a:t>
            </a:r>
            <a:endParaRPr lang="en-US" sz="3200" dirty="0"/>
          </a:p>
        </p:txBody>
      </p:sp>
      <p:sp>
        <p:nvSpPr>
          <p:cNvPr id="4" name="Text 2"/>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06</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2" name="TextBox 1">
            <a:extLst>
              <a:ext uri="{FF2B5EF4-FFF2-40B4-BE49-F238E27FC236}">
                <a16:creationId xmlns:a16="http://schemas.microsoft.com/office/drawing/2014/main" id="{28C5E47C-CB08-2C89-6699-7F53F1A5D486}"/>
              </a:ext>
            </a:extLst>
          </p:cNvPr>
          <p:cNvSpPr txBox="1"/>
          <p:nvPr/>
        </p:nvSpPr>
        <p:spPr>
          <a:xfrm>
            <a:off x="1109785" y="1233726"/>
            <a:ext cx="8934882" cy="5355312"/>
          </a:xfrm>
          <a:prstGeom prst="rect">
            <a:avLst/>
          </a:prstGeom>
          <a:noFill/>
        </p:spPr>
        <p:txBody>
          <a:bodyPr wrap="none" rtlCol="0">
            <a:spAutoFit/>
          </a:bodyPr>
          <a:lstStyle/>
          <a:p>
            <a:r>
              <a:rPr lang="en-IN" b="1" dirty="0" err="1">
                <a:solidFill>
                  <a:schemeClr val="bg1"/>
                </a:solidFill>
                <a:latin typeface="Times New Roman" panose="02020603050405020304" pitchFamily="18" charset="0"/>
                <a:cs typeface="Times New Roman" panose="02020603050405020304" pitchFamily="18" charset="0"/>
              </a:rPr>
              <a:t>LuNaVision</a:t>
            </a:r>
            <a:r>
              <a:rPr lang="en-IN" b="1" dirty="0">
                <a:solidFill>
                  <a:schemeClr val="bg1"/>
                </a:solidFill>
                <a:latin typeface="Times New Roman" panose="02020603050405020304" pitchFamily="18" charset="0"/>
                <a:cs typeface="Times New Roman" panose="02020603050405020304" pitchFamily="18" charset="0"/>
              </a:rPr>
              <a:t> AI</a:t>
            </a:r>
          </a:p>
          <a:p>
            <a:r>
              <a:rPr lang="en-IN" dirty="0">
                <a:solidFill>
                  <a:schemeClr val="bg1"/>
                </a:solidFill>
                <a:latin typeface="Times New Roman" panose="02020603050405020304" pitchFamily="18" charset="0"/>
                <a:cs typeface="Times New Roman" panose="02020603050405020304" pitchFamily="18" charset="0"/>
              </a:rPr>
              <a:t>An intelligent multi-agent pipeline that automates the complete exoplanet discovery workflow.</a:t>
            </a:r>
          </a:p>
          <a:p>
            <a:endParaRPr lang="en-IN"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Workflow :</a:t>
            </a:r>
          </a:p>
          <a:p>
            <a:endParaRPr lang="en-IN" b="1" dirty="0">
              <a:solidFill>
                <a:schemeClr val="bg1"/>
              </a:solidFill>
              <a:latin typeface="Times New Roman" panose="02020603050405020304" pitchFamily="18" charset="0"/>
              <a:cs typeface="Times New Roman" panose="02020603050405020304" pitchFamily="18" charset="0"/>
            </a:endParaRPr>
          </a:p>
          <a:p>
            <a:pPr algn="ctr"/>
            <a:r>
              <a:rPr lang="en-IN" dirty="0">
                <a:solidFill>
                  <a:schemeClr val="bg1"/>
                </a:solidFill>
                <a:latin typeface="Times New Roman" panose="02020603050405020304" pitchFamily="18" charset="0"/>
                <a:cs typeface="Times New Roman" panose="02020603050405020304" pitchFamily="18" charset="0"/>
              </a:rPr>
              <a:t>TESS Data</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Preprocessing &amp; Noise Reduction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Transit Detection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Exoplanet Classification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Orbital Parameter Estimation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XAI Interpretation</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Scientific Report</a:t>
            </a:r>
          </a:p>
          <a:p>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DDB3217A-0290-2C5F-C030-D333C6F1ADA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75757F4-BF7B-7E87-E10D-9CD97E487567}"/>
              </a:ext>
            </a:extLst>
          </p:cNvPr>
          <p:cNvSpPr/>
          <p:nvPr/>
        </p:nvSpPr>
        <p:spPr>
          <a:xfrm>
            <a:off x="548640" y="347394"/>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PROPOSED SYSTEM</a:t>
            </a:r>
            <a:endParaRPr lang="en-US" sz="3200" dirty="0"/>
          </a:p>
        </p:txBody>
      </p:sp>
      <p:sp>
        <p:nvSpPr>
          <p:cNvPr id="4" name="Text 2">
            <a:extLst>
              <a:ext uri="{FF2B5EF4-FFF2-40B4-BE49-F238E27FC236}">
                <a16:creationId xmlns:a16="http://schemas.microsoft.com/office/drawing/2014/main" id="{8AD8D7DE-EF33-4444-7DB6-4EDAF35F23F9}"/>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87B09375-4718-00FB-8528-222952834B55}"/>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07</a:t>
            </a:r>
            <a:endParaRPr lang="en-US" sz="1100" dirty="0"/>
          </a:p>
        </p:txBody>
      </p:sp>
      <p:sp>
        <p:nvSpPr>
          <p:cNvPr id="100" name="Footer">
            <a:extLst>
              <a:ext uri="{FF2B5EF4-FFF2-40B4-BE49-F238E27FC236}">
                <a16:creationId xmlns:a16="http://schemas.microsoft.com/office/drawing/2014/main" id="{7E053DD4-C475-1011-6941-88654992FB35}"/>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607FAF25-3910-7915-B426-393CBFC6D905}"/>
              </a:ext>
            </a:extLst>
          </p:cNvPr>
          <p:cNvSpPr txBox="1"/>
          <p:nvPr/>
        </p:nvSpPr>
        <p:spPr>
          <a:xfrm>
            <a:off x="1781907" y="1298586"/>
            <a:ext cx="6096000" cy="3416320"/>
          </a:xfrm>
          <a:prstGeom prst="rect">
            <a:avLst/>
          </a:prstGeom>
          <a:noFill/>
        </p:spPr>
        <p:txBody>
          <a:bodyPr wrap="square">
            <a:spAutoFit/>
          </a:bodyPr>
          <a:lstStyle/>
          <a:p>
            <a:pPr>
              <a:buNone/>
            </a:pPr>
            <a:r>
              <a:rPr lang="en-IN" b="1" dirty="0">
                <a:solidFill>
                  <a:schemeClr val="bg1"/>
                </a:solidFill>
                <a:latin typeface="Times New Roman" panose="02020603050405020304" pitchFamily="18" charset="0"/>
                <a:cs typeface="Times New Roman" panose="02020603050405020304" pitchFamily="18" charset="0"/>
              </a:rPr>
              <a:t>Key Technologies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Multi-Agent Systems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ML &amp; Deep Learning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LLMs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XAI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Time-Series Analysis </a:t>
            </a:r>
          </a:p>
          <a:p>
            <a:pPr lvl="0"/>
            <a:endParaRPr lang="en-IN" dirty="0">
              <a:solidFill>
                <a:schemeClr val="bg1"/>
              </a:solidFill>
              <a:latin typeface="Times New Roman" panose="02020603050405020304" pitchFamily="18" charset="0"/>
              <a:cs typeface="Times New Roman" panose="02020603050405020304" pitchFamily="18" charset="0"/>
            </a:endParaRPr>
          </a:p>
          <a:p>
            <a:pPr>
              <a:buNone/>
            </a:pPr>
            <a:r>
              <a:rPr lang="en-IN" b="1" dirty="0">
                <a:solidFill>
                  <a:schemeClr val="bg1"/>
                </a:solidFill>
                <a:latin typeface="Times New Roman" panose="02020603050405020304" pitchFamily="18" charset="0"/>
                <a:cs typeface="Times New Roman" panose="02020603050405020304" pitchFamily="18" charset="0"/>
              </a:rPr>
              <a:t>Advantages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End-to-end automation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Reduced manual effort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Fewer false positives </a:t>
            </a:r>
          </a:p>
          <a:p>
            <a:pPr marL="342900" lvl="0" indent="-34290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Scalable &amp; interpretable </a:t>
            </a:r>
          </a:p>
        </p:txBody>
      </p:sp>
    </p:spTree>
    <p:extLst>
      <p:ext uri="{BB962C8B-B14F-4D97-AF65-F5344CB8AC3E}">
        <p14:creationId xmlns:p14="http://schemas.microsoft.com/office/powerpoint/2010/main" val="1142934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548640" y="242277"/>
            <a:ext cx="10515600" cy="640861"/>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LITERATURE SURVEY</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684467993"/>
              </p:ext>
            </p:extLst>
          </p:nvPr>
        </p:nvGraphicFramePr>
        <p:xfrm>
          <a:off x="457200" y="1031631"/>
          <a:ext cx="11247120" cy="5109516"/>
        </p:xfrm>
        <a:graphic>
          <a:graphicData uri="http://schemas.openxmlformats.org/drawingml/2006/table">
            <a:tbl>
              <a:tblPr/>
              <a:tblGrid>
                <a:gridCol w="640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831571">
                  <a:extLst>
                    <a:ext uri="{9D8B030D-6E8A-4147-A177-3AD203B41FA5}">
                      <a16:colId xmlns:a16="http://schemas.microsoft.com/office/drawing/2014/main" val="20005"/>
                    </a:ext>
                  </a:extLst>
                </a:gridCol>
                <a:gridCol w="2283229">
                  <a:extLst>
                    <a:ext uri="{9D8B030D-6E8A-4147-A177-3AD203B41FA5}">
                      <a16:colId xmlns:a16="http://schemas.microsoft.com/office/drawing/2014/main" val="20006"/>
                    </a:ext>
                  </a:extLst>
                </a:gridCol>
              </a:tblGrid>
              <a:tr h="825018">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S.No</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Title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Journal Name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Year</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Methodology Used</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Pros and Cons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825018">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Exoplanet Imaging via Differentiable Rendering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Brandon Y. Feng, Rodrigo Ferrer-Chávez, Aviad Levis, William T. Freeman, Jason J. Wang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International Journal of Data Science and Analytics (Springer)</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2025</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Differentiable Rendering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lvl="0"/>
                      <a:r>
                        <a:rPr lang="en-IN" sz="1100" b="1" dirty="0">
                          <a:solidFill>
                            <a:schemeClr val="bg1"/>
                          </a:solidFill>
                          <a:latin typeface="Times New Roman" panose="02020603050405020304" pitchFamily="18" charset="0"/>
                          <a:cs typeface="Times New Roman" panose="02020603050405020304" pitchFamily="18" charset="0"/>
                        </a:rPr>
                        <a:t>Pros:</a:t>
                      </a:r>
                      <a:r>
                        <a:rPr lang="en-IN" sz="1100" dirty="0">
                          <a:solidFill>
                            <a:schemeClr val="bg1"/>
                          </a:solidFill>
                          <a:latin typeface="Times New Roman" panose="02020603050405020304" pitchFamily="18" charset="0"/>
                          <a:cs typeface="Times New Roman" panose="02020603050405020304" pitchFamily="18" charset="0"/>
                        </a:rPr>
                        <a:t> Better contrast; improves faint-planet detection; uses wavefront data. </a:t>
                      </a:r>
                      <a:r>
                        <a:rPr lang="en-IN" sz="1100" b="1" dirty="0">
                          <a:solidFill>
                            <a:schemeClr val="bg1"/>
                          </a:solidFill>
                          <a:latin typeface="Times New Roman" panose="02020603050405020304" pitchFamily="18" charset="0"/>
                          <a:cs typeface="Times New Roman" panose="02020603050405020304" pitchFamily="18" charset="0"/>
                        </a:rPr>
                        <a:t>Cons:</a:t>
                      </a:r>
                      <a:r>
                        <a:rPr lang="en-IN" sz="1100" dirty="0">
                          <a:solidFill>
                            <a:schemeClr val="bg1"/>
                          </a:solidFill>
                          <a:latin typeface="Times New Roman" panose="02020603050405020304" pitchFamily="18" charset="0"/>
                          <a:cs typeface="Times New Roman" panose="02020603050405020304" pitchFamily="18" charset="0"/>
                        </a:rPr>
                        <a:t> High complexity; simulation-based; depends on wavefront data.</a:t>
                      </a:r>
                      <a:endParaRPr lang="en-US" sz="1100" dirty="0">
                        <a:solidFill>
                          <a:schemeClr val="bg1"/>
                        </a:solidFill>
                        <a:latin typeface="Times New Roman" panose="02020603050405020304" pitchFamily="18" charset="0"/>
                        <a:ea typeface="Times New Roman" pitchFamily="34" charset="-122"/>
                        <a:cs typeface="Times New Roman" panose="02020603050405020304" pitchFamily="18"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1"/>
                  </a:ext>
                </a:extLst>
              </a:tr>
              <a:tr h="1053214">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Light intensity of stars for exoplanet detection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s-ES" sz="1100" dirty="0">
                          <a:solidFill>
                            <a:srgbClr val="FFFFFF"/>
                          </a:solidFill>
                          <a:latin typeface="Times New Roman" pitchFamily="34" charset="0"/>
                          <a:ea typeface="Times New Roman" pitchFamily="34" charset="-122"/>
                          <a:cs typeface="Times New Roman" pitchFamily="34" charset="-120"/>
                        </a:rPr>
                        <a:t>Jara-Maldonado, M. et al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IEEE Region 10 Symposium (TENSYMP)</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KNN + SMOTE</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High accuracy; handles class imbalance; works with limited observations.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Limited dataset; performance decreases with less data; mainly classification-focused.</a:t>
                      </a: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2"/>
                  </a:ext>
                </a:extLst>
              </a:tr>
              <a:tr h="1214122">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Feature extraction for exoplanet detection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pt-BR" sz="1100" dirty="0">
                          <a:solidFill>
                            <a:srgbClr val="FFFFFF"/>
                          </a:solidFill>
                          <a:latin typeface="Times New Roman" pitchFamily="34" charset="0"/>
                          <a:ea typeface="Times New Roman" pitchFamily="34" charset="-122"/>
                          <a:cs typeface="Times New Roman" pitchFamily="34" charset="-120"/>
                        </a:rPr>
                        <a:t>Pimentel J, Amorim J, Rudzicz</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International Journal of Data Science and Analytics (Springer)</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2024</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latin typeface="Times New Roman" pitchFamily="34" charset="0"/>
                          <a:ea typeface="Times New Roman" pitchFamily="34" charset="-122"/>
                          <a:cs typeface="Times New Roman" pitchFamily="34" charset="-120"/>
                        </a:rPr>
                        <a:t>Feature Extraction</a:t>
                      </a:r>
                      <a:endParaRPr lang="en-US" sz="1100" dirty="0">
                        <a:latin typeface="Times New Roman" charset="0"/>
                        <a:ea typeface="Times New Roman" charset="0"/>
                        <a:cs typeface="Times New Roman" charset="0"/>
                      </a:endParaRPr>
                    </a:p>
                    <a:p>
                      <a:pPr marL="0" indent="0" algn="l">
                        <a:buNone/>
                      </a:pP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Uses multiple feature domains; strong classification performance; reduces dataset bias through cross-validation.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Depends on preprocessing; requires feature engineering; feature importance needs further analysis.</a:t>
                      </a: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3"/>
                  </a:ext>
                </a:extLst>
              </a:tr>
              <a:tr h="867390">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Scientific domain knowledge &amp; deep learning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nb-NO" sz="1100" dirty="0">
                          <a:solidFill>
                            <a:srgbClr val="FFFFFF"/>
                          </a:solidFill>
                          <a:latin typeface="Times New Roman" pitchFamily="34" charset="0"/>
                          <a:ea typeface="Times New Roman" pitchFamily="34" charset="-122"/>
                          <a:cs typeface="Times New Roman" pitchFamily="34" charset="-120"/>
                        </a:rPr>
                        <a:t>Ansdell, M. et al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The Astrophysical Journal Letters (IOP / AAS)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2018</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Domain-Informed DL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Improves accuracy and recall; better detection of low-SNR transits; supports smaller models.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Needs additional input data; requires centroid information; risk of overfitting.</a:t>
                      </a: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4"/>
                  </a:ext>
                </a:extLst>
              </a:tr>
            </a:tbl>
          </a:graphicData>
        </a:graphic>
      </p:graphicFrame>
      <p:sp>
        <p:nvSpPr>
          <p:cNvPr id="5" name="Text 2"/>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08</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B46737C8-BF9F-5BD8-4686-18D2BAB5796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0BE77CD-31C0-944C-8681-10BACDAC29D5}"/>
              </a:ext>
            </a:extLst>
          </p:cNvPr>
          <p:cNvSpPr/>
          <p:nvPr/>
        </p:nvSpPr>
        <p:spPr>
          <a:xfrm>
            <a:off x="548640" y="78154"/>
            <a:ext cx="10515600" cy="664855"/>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LITERATURE SURVEY</a:t>
            </a:r>
            <a:endParaRPr lang="en-US" sz="3200" dirty="0"/>
          </a:p>
        </p:txBody>
      </p:sp>
      <p:graphicFrame>
        <p:nvGraphicFramePr>
          <p:cNvPr id="8" name="Table 0">
            <a:extLst>
              <a:ext uri="{FF2B5EF4-FFF2-40B4-BE49-F238E27FC236}">
                <a16:creationId xmlns:a16="http://schemas.microsoft.com/office/drawing/2014/main" id="{C37C2FE0-0048-722C-D637-41914AE15B76}"/>
              </a:ext>
            </a:extLst>
          </p:cNvPr>
          <p:cNvGraphicFramePr>
            <a:graphicFrameLocks noGrp="1"/>
          </p:cNvGraphicFramePr>
          <p:nvPr>
            <p:extLst>
              <p:ext uri="{D42A27DB-BD31-4B8C-83A1-F6EECF244321}">
                <p14:modId xmlns:p14="http://schemas.microsoft.com/office/powerpoint/2010/main" val="3925293714"/>
              </p:ext>
            </p:extLst>
          </p:nvPr>
        </p:nvGraphicFramePr>
        <p:xfrm>
          <a:off x="472440" y="928233"/>
          <a:ext cx="11247120" cy="5248656"/>
        </p:xfrm>
        <a:graphic>
          <a:graphicData uri="http://schemas.openxmlformats.org/drawingml/2006/table">
            <a:tbl>
              <a:tblPr/>
              <a:tblGrid>
                <a:gridCol w="640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gridCol w="2286000">
                  <a:extLst>
                    <a:ext uri="{9D8B030D-6E8A-4147-A177-3AD203B41FA5}">
                      <a16:colId xmlns:a16="http://schemas.microsoft.com/office/drawing/2014/main" val="20006"/>
                    </a:ext>
                  </a:extLst>
                </a:gridCol>
              </a:tblGrid>
              <a:tr h="859536">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S.No</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Title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Journal Name</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Year</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Methodology Used</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Pros and Cons</a:t>
                      </a:r>
                      <a:endParaRPr lang="en-US" sz="12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5</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A CNN-based ensemble model for exoplanet detection.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pt-BR" sz="1100" dirty="0">
                          <a:solidFill>
                            <a:srgbClr val="FFFFFF"/>
                          </a:solidFill>
                          <a:latin typeface="Times New Roman" pitchFamily="34" charset="0"/>
                          <a:ea typeface="Times New Roman" pitchFamily="34" charset="-122"/>
                          <a:cs typeface="Times New Roman" pitchFamily="34" charset="-120"/>
                        </a:rPr>
                        <a:t>Priyadarshini I, Puri V</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Earth Science Informatics (Springer)</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2021</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Ensemble-CNN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High detection accuracy; improves model performance; combines multiple models.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Higher complexity; increased computational cost; mainly classification-focused.</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1"/>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6</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Identifying Exoplanets with Deep Learning IV: Removing stellar activity signals from RV data using neural networks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nl-NL" sz="1100" dirty="0">
                          <a:solidFill>
                            <a:srgbClr val="FFFFFF"/>
                          </a:solidFill>
                          <a:latin typeface="Times New Roman" pitchFamily="34" charset="0"/>
                          <a:ea typeface="Times New Roman" pitchFamily="34" charset="-122"/>
                          <a:cs typeface="Times New Roman" pitchFamily="34" charset="-120"/>
                        </a:rPr>
                        <a:t>de Beurs Z.L. et al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The Astronomical Journal (IOP / AAS)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2022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Neural Networks + Linear Regression</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Removes stellar activity signals; improves RV quality; validated with real observations. Cons: Requires spectral information; generalization needs further testing; RV-focused.</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2"/>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7</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Discovering new worlds: signal processing methods for RV exoplanet detection. IEEE Signal Process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Khan, M.S., Jenkins, J., Yoma, N.B</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IEEE Signal Processing Magazine (Vol. 34, pp.104–115)</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2017</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Signal Processing</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Improves signal-to-noise ratio; provides statistical methods; useful for weak signals. </a:t>
                      </a:r>
                    </a:p>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Cons: Mainly RV-focused; relies on signal-processing techniques; not an automated AI pipeline.</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3"/>
                  </a:ext>
                </a:extLst>
              </a:tr>
              <a:tr h="859536">
                <a:tc>
                  <a:txBody>
                    <a:bodyPr/>
                    <a:lstStyle/>
                    <a:p>
                      <a:pPr marL="0" indent="0" algn="ctr">
                        <a:buNone/>
                      </a:pPr>
                      <a:r>
                        <a:rPr lang="en-US" sz="1100" dirty="0">
                          <a:solidFill>
                            <a:srgbClr val="FFFFFF"/>
                          </a:solidFill>
                          <a:latin typeface="Times New Roman" pitchFamily="34" charset="0"/>
                          <a:ea typeface="Times New Roman" charset="0"/>
                          <a:cs typeface="Times New Roman" pitchFamily="34" charset="-120"/>
                        </a:rPr>
                        <a:t>8</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Exoplanet detection methods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Wright, J.T., Gaudi, B.S</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Book chapter — Planets, Stars and Stellar Systems, Vol. 3 (Springer Netherlands); also on </a:t>
                      </a:r>
                      <a:r>
                        <a:rPr lang="en-US" sz="1100" dirty="0" err="1">
                          <a:solidFill>
                            <a:srgbClr val="FFFFFF"/>
                          </a:solidFill>
                          <a:latin typeface="Times New Roman" pitchFamily="34" charset="0"/>
                          <a:ea typeface="Times New Roman" pitchFamily="34" charset="-122"/>
                          <a:cs typeface="Times New Roman" pitchFamily="34" charset="-120"/>
                        </a:rPr>
                        <a:t>arXiv</a:t>
                      </a:r>
                      <a:r>
                        <a:rPr lang="en-US" sz="1100" dirty="0">
                          <a:solidFill>
                            <a:srgbClr val="FFFFFF"/>
                          </a:solidFill>
                          <a:latin typeface="Times New Roman" pitchFamily="34" charset="0"/>
                          <a:ea typeface="Times New Roman" pitchFamily="34" charset="-122"/>
                          <a:cs typeface="Times New Roman" pitchFamily="34" charset="-120"/>
                        </a:rPr>
                        <a:t> (2012)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2012</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Detection Methods Review</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tc>
                  <a:txBody>
                    <a:bodyPr/>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Pros: Covers major detection methods; explains detection requirements; compares method sensitivity. Cons: Broad review; less focus on AI/ML; does not provide a new detection model.</a:t>
                      </a:r>
                      <a:endParaRPr lang="en-US" sz="1100" dirty="0">
                        <a:latin typeface="Times New Roman" charset="0"/>
                        <a:ea typeface="Times New Roman" charset="0"/>
                        <a:cs typeface="Times New Roman" charset="0"/>
                      </a:endParaRPr>
                    </a:p>
                  </a:txBody>
                  <a:tcPr anchor="ctr">
                    <a:lnL w="12700" cap="flat" cmpd="sng" algn="ctr">
                      <a:solidFill>
                        <a:srgbClr val="3E4A8C"/>
                      </a:solidFill>
                      <a:prstDash val="solid"/>
                      <a:round/>
                      <a:headEnd type="none" w="med" len="med"/>
                      <a:tailEnd type="none" w="med" len="med"/>
                    </a:lnL>
                    <a:lnR w="12700" cap="flat" cmpd="sng" algn="ctr">
                      <a:solidFill>
                        <a:srgbClr val="3E4A8C"/>
                      </a:solidFill>
                      <a:prstDash val="solid"/>
                      <a:round/>
                      <a:headEnd type="none" w="med" len="med"/>
                      <a:tailEnd type="none" w="med" len="med"/>
                    </a:lnR>
                    <a:lnT w="12700" cap="flat" cmpd="sng" algn="ctr">
                      <a:solidFill>
                        <a:srgbClr val="3E4A8C"/>
                      </a:solidFill>
                      <a:prstDash val="solid"/>
                      <a:round/>
                      <a:headEnd type="none" w="med" len="med"/>
                      <a:tailEnd type="none" w="med" len="med"/>
                    </a:lnT>
                    <a:lnB w="12700" cap="flat" cmpd="sng" algn="ctr">
                      <a:solidFill>
                        <a:srgbClr val="3E4A8C"/>
                      </a:solidFill>
                      <a:prstDash val="solid"/>
                      <a:round/>
                      <a:headEnd type="none" w="med" len="med"/>
                      <a:tailEnd type="none" w="med" len="med"/>
                    </a:lnB>
                    <a:solidFill>
                      <a:srgbClr val="252F70"/>
                    </a:solidFill>
                  </a:tcPr>
                </a:tc>
                <a:extLst>
                  <a:ext uri="{0D108BD9-81ED-4DB2-BD59-A6C34878D82A}">
                    <a16:rowId xmlns:a16="http://schemas.microsoft.com/office/drawing/2014/main" val="10004"/>
                  </a:ext>
                </a:extLst>
              </a:tr>
            </a:tbl>
          </a:graphicData>
        </a:graphic>
      </p:graphicFrame>
      <p:sp>
        <p:nvSpPr>
          <p:cNvPr id="5" name="Text 2">
            <a:extLst>
              <a:ext uri="{FF2B5EF4-FFF2-40B4-BE49-F238E27FC236}">
                <a16:creationId xmlns:a16="http://schemas.microsoft.com/office/drawing/2014/main" id="{0815300E-CFBD-0580-E36D-17C53502FB69}"/>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09</a:t>
            </a:r>
            <a:endParaRPr lang="en-US" sz="1100" dirty="0"/>
          </a:p>
        </p:txBody>
      </p:sp>
      <p:sp>
        <p:nvSpPr>
          <p:cNvPr id="100" name="Footer">
            <a:extLst>
              <a:ext uri="{FF2B5EF4-FFF2-40B4-BE49-F238E27FC236}">
                <a16:creationId xmlns:a16="http://schemas.microsoft.com/office/drawing/2014/main" id="{5BA518B4-D53B-C920-B2C8-36F01878D0AB}"/>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Tree>
    <p:extLst>
      <p:ext uri="{BB962C8B-B14F-4D97-AF65-F5344CB8AC3E}">
        <p14:creationId xmlns:p14="http://schemas.microsoft.com/office/powerpoint/2010/main" val="97457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462671" y="157377"/>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MODULES AND METHODOLOGIES</a:t>
            </a:r>
            <a:endParaRPr lang="en-US" sz="3200" dirty="0"/>
          </a:p>
        </p:txBody>
      </p:sp>
      <p:sp>
        <p:nvSpPr>
          <p:cNvPr id="11" name="Text 9"/>
          <p:cNvSpPr/>
          <p:nvPr/>
        </p:nvSpPr>
        <p:spPr>
          <a:xfrm>
            <a:off x="868680" y="1844984"/>
            <a:ext cx="10424160" cy="4025464"/>
          </a:xfrm>
          <a:prstGeom prst="rect">
            <a:avLst/>
          </a:prstGeom>
          <a:noFill/>
          <a:ln/>
        </p:spPr>
        <p:txBody>
          <a:bodyPr wrap="square" rtlCol="0" anchor="t"/>
          <a:lstStyle/>
          <a:p>
            <a:pPr marL="0" indent="0">
              <a:buNone/>
            </a:pPr>
            <a:endParaRPr lang="en-US" sz="1400" dirty="0"/>
          </a:p>
        </p:txBody>
      </p:sp>
      <p:sp>
        <p:nvSpPr>
          <p:cNvPr id="12" name="Text 10"/>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cs typeface="Times New Roman" pitchFamily="34" charset="-120"/>
              </a:rPr>
              <a:t>10</a:t>
            </a:r>
            <a:endParaRPr lang="en-US" sz="1100" dirty="0"/>
          </a:p>
        </p:txBody>
      </p:sp>
      <p:sp>
        <p:nvSpPr>
          <p:cNvPr id="100" name="Foote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4" name="TextBox 3">
            <a:extLst>
              <a:ext uri="{FF2B5EF4-FFF2-40B4-BE49-F238E27FC236}">
                <a16:creationId xmlns:a16="http://schemas.microsoft.com/office/drawing/2014/main" id="{9296288D-EB98-2B8E-D0B3-2AE3351081B1}"/>
              </a:ext>
            </a:extLst>
          </p:cNvPr>
          <p:cNvSpPr txBox="1"/>
          <p:nvPr/>
        </p:nvSpPr>
        <p:spPr>
          <a:xfrm>
            <a:off x="1213729" y="722769"/>
            <a:ext cx="9247633" cy="5632311"/>
          </a:xfrm>
          <a:prstGeom prst="rect">
            <a:avLst/>
          </a:prstGeom>
          <a:noFill/>
        </p:spPr>
        <p:txBody>
          <a:bodyPr wrap="square">
            <a:spAutoFit/>
          </a:bodyPr>
          <a:lstStyle/>
          <a:p>
            <a:pPr>
              <a:buNone/>
            </a:pPr>
            <a:r>
              <a:rPr lang="en-IN" b="1" dirty="0">
                <a:solidFill>
                  <a:schemeClr val="bg1"/>
                </a:solidFill>
                <a:latin typeface="Times New Roman" panose="02020603050405020304" pitchFamily="18" charset="0"/>
                <a:cs typeface="Times New Roman" panose="02020603050405020304" pitchFamily="18" charset="0"/>
              </a:rPr>
              <a:t>Modules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Data Acquisition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Collects TESS observations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Preprocessing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Processes light curves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Noise Reduction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Removes unwanted noise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Transit Detection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Detects transit signals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Classification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Identifies exoplanet candidates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Orbital Analysis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Estimates orbital parameters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XAI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Explains decisions </a:t>
            </a:r>
          </a:p>
          <a:p>
            <a:pPr marL="342900" lvl="0" indent="-342900">
              <a:buFont typeface="+mj-lt"/>
              <a:buAutoNum type="arabicPeriod"/>
            </a:pPr>
            <a:r>
              <a:rPr lang="en-IN" b="1" dirty="0">
                <a:solidFill>
                  <a:schemeClr val="bg1"/>
                </a:solidFill>
                <a:latin typeface="Times New Roman" panose="02020603050405020304" pitchFamily="18" charset="0"/>
                <a:cs typeface="Times New Roman" panose="02020603050405020304" pitchFamily="18" charset="0"/>
              </a:rPr>
              <a:t>Report Generation Agent</a:t>
            </a:r>
            <a:br>
              <a:rPr lang="en-IN" dirty="0">
                <a:solidFill>
                  <a:schemeClr val="bg1"/>
                </a:solidFill>
                <a:latin typeface="Times New Roman" panose="02020603050405020304" pitchFamily="18" charset="0"/>
                <a:cs typeface="Times New Roman" panose="02020603050405020304" pitchFamily="18" charset="0"/>
              </a:rPr>
            </a:br>
            <a:r>
              <a:rPr lang="en-IN" dirty="0">
                <a:solidFill>
                  <a:schemeClr val="bg1"/>
                </a:solidFill>
                <a:latin typeface="Times New Roman" panose="02020603050405020304" pitchFamily="18" charset="0"/>
                <a:cs typeface="Times New Roman" panose="02020603050405020304" pitchFamily="18" charset="0"/>
              </a:rPr>
              <a:t>→ Generates scientific reports</a:t>
            </a:r>
          </a:p>
          <a:p>
            <a:pPr lvl="0"/>
            <a:endParaRPr lang="en-IN" dirty="0">
              <a:solidFill>
                <a:schemeClr val="bg1"/>
              </a:solidFill>
              <a:latin typeface="Times New Roman" panose="02020603050405020304" pitchFamily="18" charset="0"/>
              <a:cs typeface="Times New Roman" panose="02020603050405020304" pitchFamily="18" charset="0"/>
            </a:endParaRPr>
          </a:p>
          <a:p>
            <a:pPr lvl="0"/>
            <a:r>
              <a:rPr lang="en-IN" b="1" dirty="0">
                <a:solidFill>
                  <a:schemeClr val="bg1"/>
                </a:solidFill>
                <a:latin typeface="Times New Roman" panose="02020603050405020304" pitchFamily="18" charset="0"/>
                <a:cs typeface="Times New Roman" panose="02020603050405020304" pitchFamily="18" charset="0"/>
              </a:rPr>
              <a:t>Methodology :</a:t>
            </a:r>
          </a:p>
          <a:p>
            <a:pPr lvl="0"/>
            <a:r>
              <a:rPr lang="en-IN" dirty="0">
                <a:solidFill>
                  <a:schemeClr val="bg1"/>
                </a:solidFill>
                <a:latin typeface="Times New Roman" panose="02020603050405020304" pitchFamily="18" charset="0"/>
                <a:cs typeface="Times New Roman" panose="02020603050405020304" pitchFamily="18" charset="0"/>
              </a:rPr>
              <a:t>TESS → Preprocess → Denoise → Detect → Classify → Estimate → Explain → Report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A0971C48-077A-2749-A63A-AF61369376E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24EE925-2767-477E-1FE6-8F420FD405B3}"/>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ARCHITECTURE DIAGRAM</a:t>
            </a:r>
            <a:endParaRPr lang="en-US" sz="3200" dirty="0"/>
          </a:p>
        </p:txBody>
      </p:sp>
      <p:sp>
        <p:nvSpPr>
          <p:cNvPr id="4" name="Text 2">
            <a:extLst>
              <a:ext uri="{FF2B5EF4-FFF2-40B4-BE49-F238E27FC236}">
                <a16:creationId xmlns:a16="http://schemas.microsoft.com/office/drawing/2014/main" id="{9DE21C21-6E4F-840A-98CD-EC39EB44ED14}"/>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F7B50BB3-AB1C-7588-2DE3-3A6F22CBE28D}"/>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cs typeface="Times New Roman" pitchFamily="34" charset="-120"/>
              </a:rPr>
              <a:t>11</a:t>
            </a:r>
            <a:endParaRPr lang="en-US" sz="1100" dirty="0"/>
          </a:p>
        </p:txBody>
      </p:sp>
      <p:sp>
        <p:nvSpPr>
          <p:cNvPr id="100" name="Footer">
            <a:extLst>
              <a:ext uri="{FF2B5EF4-FFF2-40B4-BE49-F238E27FC236}">
                <a16:creationId xmlns:a16="http://schemas.microsoft.com/office/drawing/2014/main" id="{8CBC0363-71E7-AE5F-83AE-4565776C5062}"/>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pic>
        <p:nvPicPr>
          <p:cNvPr id="2" name="Picture 1">
            <a:extLst>
              <a:ext uri="{FF2B5EF4-FFF2-40B4-BE49-F238E27FC236}">
                <a16:creationId xmlns:a16="http://schemas.microsoft.com/office/drawing/2014/main" id="{435DBF60-52B0-DA6A-FB1E-58E4566198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42831" y="929639"/>
            <a:ext cx="8151446" cy="5434298"/>
          </a:xfrm>
          <a:prstGeom prst="rect">
            <a:avLst/>
          </a:prstGeom>
          <a:noFill/>
        </p:spPr>
      </p:pic>
    </p:spTree>
    <p:extLst>
      <p:ext uri="{BB962C8B-B14F-4D97-AF65-F5344CB8AC3E}">
        <p14:creationId xmlns:p14="http://schemas.microsoft.com/office/powerpoint/2010/main" val="1203434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5780E864-49A1-262F-EAD6-62C81E3FDD5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E38BE1D-9066-822C-18D6-AB308E11EF8F}"/>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1291B28-6FD6-5979-B516-4B17892100F1}"/>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CE644E71-E5E6-45C7-AADF-DE2A0345676E}"/>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12</a:t>
            </a:r>
            <a:endParaRPr lang="en-US" sz="1100" dirty="0"/>
          </a:p>
        </p:txBody>
      </p:sp>
      <p:sp>
        <p:nvSpPr>
          <p:cNvPr id="100" name="Footer">
            <a:extLst>
              <a:ext uri="{FF2B5EF4-FFF2-40B4-BE49-F238E27FC236}">
                <a16:creationId xmlns:a16="http://schemas.microsoft.com/office/drawing/2014/main" id="{D83E01F9-CE14-FBE2-8A98-217BD0220576}"/>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9" name="TextBox 8">
            <a:extLst>
              <a:ext uri="{FF2B5EF4-FFF2-40B4-BE49-F238E27FC236}">
                <a16:creationId xmlns:a16="http://schemas.microsoft.com/office/drawing/2014/main" id="{5389CB22-719A-2EFF-CF1E-F7853C5B4E46}"/>
              </a:ext>
            </a:extLst>
          </p:cNvPr>
          <p:cNvSpPr txBox="1"/>
          <p:nvPr/>
        </p:nvSpPr>
        <p:spPr>
          <a:xfrm>
            <a:off x="1234830" y="1281723"/>
            <a:ext cx="7909169" cy="4165243"/>
          </a:xfrm>
          <a:prstGeom prst="rect">
            <a:avLst/>
          </a:prstGeom>
          <a:noFill/>
        </p:spPr>
        <p:txBody>
          <a:bodyPr wrap="square">
            <a:spAutoFit/>
          </a:bodyPr>
          <a:lstStyle/>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0 — Setup &amp; Data Ingestion</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Collect and prepare TESS observation data for analysis.</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Obtain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TESS light-curve data</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from NASA MAST Archive.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Download and read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FITS files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containing stellar brightness observations.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Extract required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target ID, time, flux and observation metadata</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Perform initial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data quality checks and EDA</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Set up the Python environment and required astronomy/ML libraries. </a:t>
            </a: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TESS light curves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Metadata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Initial EDA results </a:t>
            </a:r>
            <a:endParaRPr lang="en-IN" sz="12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47222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68A6DC7E-D5E0-A2F7-1246-6CE5CADDEAD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2ECE834-290E-95F1-6109-890CAB28A660}"/>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D60B7594-222B-C0DA-2254-A910B6038AD1}"/>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DB06DCCE-EF88-8C84-BFCC-88CEF63E0B15}"/>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13</a:t>
            </a:r>
            <a:endParaRPr lang="en-US" sz="1100" dirty="0"/>
          </a:p>
        </p:txBody>
      </p:sp>
      <p:sp>
        <p:nvSpPr>
          <p:cNvPr id="100" name="Footer">
            <a:extLst>
              <a:ext uri="{FF2B5EF4-FFF2-40B4-BE49-F238E27FC236}">
                <a16:creationId xmlns:a16="http://schemas.microsoft.com/office/drawing/2014/main" id="{05778B86-7314-8593-A66D-0062EEA64453}"/>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58D7F6FB-6CF0-8CA3-1CCF-D5ECFE5059D3}"/>
              </a:ext>
            </a:extLst>
          </p:cNvPr>
          <p:cNvSpPr txBox="1"/>
          <p:nvPr/>
        </p:nvSpPr>
        <p:spPr>
          <a:xfrm>
            <a:off x="1328615" y="1273908"/>
            <a:ext cx="8073294" cy="4188691"/>
          </a:xfrm>
          <a:prstGeom prst="rect">
            <a:avLst/>
          </a:prstGeom>
          <a:noFill/>
        </p:spPr>
        <p:txBody>
          <a:bodyPr wrap="square">
            <a:spAutoFit/>
          </a:bodyPr>
          <a:lstStyle/>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1 — Preprocessing &amp; BLS Detection</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Clean the light curves and identify potential transit signals.</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Remove long-term trends and instrumental variations through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detrending</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Handle missing values, outliers and noisy observations.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Apply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Box Least Squares (BLS)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to search for periodic transit patterns.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Estimate candidate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period, transit depth and duration</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Select the strongest BLS signals as potential exoplanet candidates. </a:t>
            </a: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Cleaned/detrended light curves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Potential exoplanet candidate list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BLS parameters </a:t>
            </a:r>
            <a:endParaRPr lang="en-IN" sz="12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16994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EC8B7900-27DE-86D9-F18E-D68B03F3418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B820804-8524-59C6-A428-B7759E2B4DC9}"/>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05FCED1-9819-CBEA-98BF-842C9AE8B143}"/>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76FA3CEE-EEAC-ED8A-51BC-83A6E7F895C1}"/>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14</a:t>
            </a:r>
            <a:endParaRPr lang="en-US" sz="1100" dirty="0"/>
          </a:p>
        </p:txBody>
      </p:sp>
      <p:sp>
        <p:nvSpPr>
          <p:cNvPr id="100" name="Footer">
            <a:extLst>
              <a:ext uri="{FF2B5EF4-FFF2-40B4-BE49-F238E27FC236}">
                <a16:creationId xmlns:a16="http://schemas.microsoft.com/office/drawing/2014/main" id="{70D5C79C-6EA3-6D62-76A4-880729A10475}"/>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AD9F7074-811B-A26C-A63D-C1305AA91370}"/>
              </a:ext>
            </a:extLst>
          </p:cNvPr>
          <p:cNvSpPr txBox="1"/>
          <p:nvPr/>
        </p:nvSpPr>
        <p:spPr>
          <a:xfrm>
            <a:off x="1273907" y="1227015"/>
            <a:ext cx="8135815" cy="4614181"/>
          </a:xfrm>
          <a:prstGeom prst="rect">
            <a:avLst/>
          </a:prstGeom>
          <a:noFill/>
        </p:spPr>
        <p:txBody>
          <a:bodyPr wrap="square">
            <a:spAutoFit/>
          </a:bodyPr>
          <a:lstStyle/>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2 — Feature Engineering</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Convert transit signals into meaningful numerical features for ML.</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Extract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35+ features for each candidate</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Calculate transit characteristics such as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depth, duration and period</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Generate statistical features such as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mean, standard deviation, skewness and kurtosis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Calculate signal-quality features such as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SNR and noise level</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Include BLS-based and transit-shape features. </a:t>
            </a: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Feature Matrix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X</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Candidate labels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y</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ML-ready dataset </a:t>
            </a:r>
            <a:endParaRPr lang="en-IN" sz="12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0685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C5A8D237-FFCC-35CB-CEC3-9AB2D58F427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813062A-5EF2-7AAE-69F2-A3DAE05D5121}"/>
              </a:ext>
            </a:extLst>
          </p:cNvPr>
          <p:cNvSpPr/>
          <p:nvPr/>
        </p:nvSpPr>
        <p:spPr>
          <a:xfrm>
            <a:off x="548640" y="227172"/>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4C76D54-EF1D-53E8-74DE-6A1EC71E6383}"/>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A2A8FD0C-9C8D-3586-CA26-092768495257}"/>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15</a:t>
            </a:r>
            <a:endParaRPr lang="en-US" sz="1100" dirty="0"/>
          </a:p>
        </p:txBody>
      </p:sp>
      <p:sp>
        <p:nvSpPr>
          <p:cNvPr id="100" name="Footer">
            <a:extLst>
              <a:ext uri="{FF2B5EF4-FFF2-40B4-BE49-F238E27FC236}">
                <a16:creationId xmlns:a16="http://schemas.microsoft.com/office/drawing/2014/main" id="{A7AD3903-C8B9-B3AA-7FBB-72BF18254D06}"/>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945B0FEB-AEF7-768F-9954-C53BC96D1640}"/>
              </a:ext>
            </a:extLst>
          </p:cNvPr>
          <p:cNvSpPr txBox="1"/>
          <p:nvPr/>
        </p:nvSpPr>
        <p:spPr>
          <a:xfrm>
            <a:off x="1359876" y="820625"/>
            <a:ext cx="8104554" cy="5570756"/>
          </a:xfrm>
          <a:prstGeom prst="rect">
            <a:avLst/>
          </a:prstGeom>
          <a:noFill/>
        </p:spPr>
        <p:txBody>
          <a:bodyPr wrap="square">
            <a:spAutoFit/>
          </a:bodyPr>
          <a:lstStyle/>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3 — ML Classifier</a:t>
            </a:r>
            <a:endPar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Automatically distinguish planetary candidates from false positives.</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Prepare the feature dataset for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training, validation and testing</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Handle class imbalance using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SMOTE</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Train ensemble ML models such as: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Random Forest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XGBoost</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Extra Trees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Predict the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probability of a candidate being planetary</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Evaluate using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Precision, Recall, F1-score and ROC-AUC</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Target:</a:t>
            </a:r>
            <a:endPar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F1-score ≥ 90%</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endPar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Trained ML ensemble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Planet probability </a:t>
            </a:r>
          </a:p>
          <a:p>
            <a:pPr>
              <a:buNone/>
            </a:pPr>
            <a:r>
              <a:rPr lang="en-IN" sz="16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Planet / False Positive classification FESW</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6834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835E0C3-6ACB-02B3-B499-C02AD723F15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52277B0-D9D3-0DBD-5330-39982B69EA94}"/>
              </a:ext>
            </a:extLst>
          </p:cNvPr>
          <p:cNvSpPr/>
          <p:nvPr/>
        </p:nvSpPr>
        <p:spPr>
          <a:xfrm>
            <a:off x="548640" y="85713"/>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981CDFC3-1AC6-6C00-3958-748F3F961265}"/>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5A6DAC2E-184F-89E6-80DF-6C3BA4483E01}"/>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16</a:t>
            </a:r>
            <a:endParaRPr lang="en-US" sz="1100" dirty="0"/>
          </a:p>
        </p:txBody>
      </p:sp>
      <p:sp>
        <p:nvSpPr>
          <p:cNvPr id="100" name="Footer">
            <a:extLst>
              <a:ext uri="{FF2B5EF4-FFF2-40B4-BE49-F238E27FC236}">
                <a16:creationId xmlns:a16="http://schemas.microsoft.com/office/drawing/2014/main" id="{F912E150-3E1B-AAF8-1DF8-0660AF945370}"/>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0AC191A8-94DA-CD00-AE30-5F7FA83B8374}"/>
              </a:ext>
            </a:extLst>
          </p:cNvPr>
          <p:cNvSpPr txBox="1"/>
          <p:nvPr/>
        </p:nvSpPr>
        <p:spPr>
          <a:xfrm>
            <a:off x="1250462" y="750266"/>
            <a:ext cx="7893538" cy="5570756"/>
          </a:xfrm>
          <a:prstGeom prst="rect">
            <a:avLst/>
          </a:prstGeom>
          <a:noFill/>
        </p:spPr>
        <p:txBody>
          <a:bodyPr wrap="square">
            <a:spAutoFit/>
          </a:bodyPr>
          <a:lstStyle/>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4 — Parameter Fitting</a:t>
            </a:r>
            <a:endPar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Estimate the physical and orbital parameters of high-confidence candidates.</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Generate theoretical transit models using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batman</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Use detected transit parameters as initial model estimates.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Apply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MCMC sampling using emcee</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Estimate parameters such as: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Planet-to-star radius ratio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Rp/Rs</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Orbital period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Impact parameter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Inclination </a:t>
            </a:r>
          </a:p>
          <a:p>
            <a:pPr marL="742950" lvl="1" indent="-285750">
              <a:lnSpc>
                <a:spcPct val="100000"/>
              </a:lnSpc>
              <a:spcAft>
                <a:spcPts val="800"/>
              </a:spcAft>
              <a:buSzPts val="1000"/>
              <a:buFont typeface="Courier New" panose="02070309020205020404" pitchFamily="49" charset="0"/>
              <a:buChar char="o"/>
              <a:tabLst>
                <a:tab pos="9144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Transit midpoint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Calculate </a:t>
            </a: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posterior distributions and credible intervals</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a:lnSpc>
                <a:spcPct val="100000"/>
              </a:lnSpc>
              <a:spcAft>
                <a:spcPts val="800"/>
              </a:spcAft>
              <a:buNone/>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endPar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Best-fit transit model </a:t>
            </a:r>
          </a:p>
          <a:p>
            <a:pPr marL="342900" lvl="0" indent="-342900">
              <a:lnSpc>
                <a:spcPct val="100000"/>
              </a:lnSpc>
              <a:spcAft>
                <a:spcPts val="800"/>
              </a:spcAft>
              <a:buSzPts val="1000"/>
              <a:buFont typeface="Symbol" panose="05050102010706020507" pitchFamily="18" charset="2"/>
              <a:buChar char=""/>
              <a:tabLst>
                <a:tab pos="457200" algn="l"/>
              </a:tabLst>
            </a:pP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Estimated planetary parameters </a:t>
            </a:r>
          </a:p>
          <a:p>
            <a:pPr marL="342900" lvl="0" indent="-342900">
              <a:lnSpc>
                <a:spcPct val="100000"/>
              </a:lnSpc>
              <a:spcAft>
                <a:spcPts val="800"/>
              </a:spcAft>
              <a:buSzPts val="1000"/>
              <a:buFont typeface="Symbol" panose="05050102010706020507" pitchFamily="18" charset="2"/>
              <a:buChar char=""/>
              <a:tabLst>
                <a:tab pos="457200" algn="l"/>
              </a:tabLst>
            </a:pPr>
            <a:r>
              <a:rPr lang="en-IN" sz="16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95% credible intervals</a:t>
            </a:r>
            <a:r>
              <a:rPr lang="en-IN" sz="1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494741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15854E38-7163-8B1D-B42D-1DCC3ADDDD2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A33257F-00A3-8533-DA2B-74015800EA0A}"/>
              </a:ext>
            </a:extLst>
          </p:cNvPr>
          <p:cNvSpPr/>
          <p:nvPr/>
        </p:nvSpPr>
        <p:spPr>
          <a:xfrm>
            <a:off x="548640" y="304539"/>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9F085E15-93BE-53BC-03D3-3F40C582BF06}"/>
              </a:ext>
            </a:extLst>
          </p:cNvPr>
          <p:cNvSpPr/>
          <p:nvPr/>
        </p:nvSpPr>
        <p:spPr>
          <a:xfrm>
            <a:off x="556455"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376F1F8A-41DC-45B3-05D4-0BCEEE90B873}"/>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17</a:t>
            </a:r>
            <a:endParaRPr lang="en-US" sz="1100" dirty="0"/>
          </a:p>
        </p:txBody>
      </p:sp>
      <p:sp>
        <p:nvSpPr>
          <p:cNvPr id="100" name="Footer">
            <a:extLst>
              <a:ext uri="{FF2B5EF4-FFF2-40B4-BE49-F238E27FC236}">
                <a16:creationId xmlns:a16="http://schemas.microsoft.com/office/drawing/2014/main" id="{EA66E98E-3EA5-CB47-82F5-2571070FCC08}"/>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CE4DA6E4-C360-08C0-2664-CCC8244CC2B3}"/>
              </a:ext>
            </a:extLst>
          </p:cNvPr>
          <p:cNvSpPr txBox="1"/>
          <p:nvPr/>
        </p:nvSpPr>
        <p:spPr>
          <a:xfrm>
            <a:off x="1227015" y="1143000"/>
            <a:ext cx="7916985" cy="4544834"/>
          </a:xfrm>
          <a:prstGeom prst="rect">
            <a:avLst/>
          </a:prstGeom>
          <a:noFill/>
        </p:spPr>
        <p:txBody>
          <a:bodyPr wrap="square">
            <a:spAutoFit/>
          </a:bodyPr>
          <a:lstStyle/>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5 — Visualization &amp; Report</a:t>
            </a:r>
            <a:endPar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Present the detection results in a clear scientific format.</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Visualize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raw and detrended light curves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Generate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phase-folded transit plots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Plot the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BLS periodogram</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Display the ML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confusion matrix and performance metrics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Generate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MCMC corner plots</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for parameter uncertainty. </a:t>
            </a:r>
          </a:p>
          <a:p>
            <a:pPr marL="342900" lvl="0" indent="-342900">
              <a:lnSpc>
                <a:spcPct val="100000"/>
              </a:lnSpc>
              <a:spcAft>
                <a:spcPts val="800"/>
              </a:spcAft>
              <a:buSzPts val="1000"/>
              <a:buFont typeface="Symbol" panose="05050102010706020507" pitchFamily="18" charset="2"/>
              <a:buChar char=""/>
              <a:tabLst>
                <a:tab pos="457200" algn="l"/>
              </a:tabLst>
            </a:pP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Create the final </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candidate </a:t>
            </a:r>
            <a:r>
              <a:rPr lang="en-IN" sz="1800" b="1" kern="100" dirty="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catalog</a:t>
            </a: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and scientific report</a:t>
            </a:r>
            <a:r>
              <a:rPr lang="en-IN" sz="18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a:lnSpc>
                <a:spcPct val="100000"/>
              </a:lnSpc>
              <a:spcAft>
                <a:spcPts val="800"/>
              </a:spcAft>
              <a:buNone/>
            </a:pPr>
            <a:r>
              <a:rPr lang="en-IN" sz="18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p>
          <a:p>
            <a:pPr marL="285750" indent="-285750">
              <a:spcAft>
                <a:spcPts val="800"/>
              </a:spcAf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PNG/PDF visualizations </a:t>
            </a:r>
          </a:p>
          <a:p>
            <a:pPr marL="285750" indent="-285750">
              <a:spcAft>
                <a:spcPts val="800"/>
              </a:spcAf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Candidate </a:t>
            </a:r>
            <a:r>
              <a:rPr lang="en-IN" dirty="0" err="1">
                <a:solidFill>
                  <a:schemeClr val="bg1"/>
                </a:solidFill>
                <a:latin typeface="Times New Roman" panose="02020603050405020304" pitchFamily="18" charset="0"/>
                <a:cs typeface="Times New Roman" panose="02020603050405020304" pitchFamily="18" charset="0"/>
              </a:rPr>
              <a:t>catalog</a:t>
            </a:r>
            <a:r>
              <a:rPr lang="en-IN" dirty="0">
                <a:solidFill>
                  <a:schemeClr val="bg1"/>
                </a:solidFill>
                <a:latin typeface="Times New Roman" panose="02020603050405020304" pitchFamily="18" charset="0"/>
                <a:cs typeface="Times New Roman" panose="02020603050405020304" pitchFamily="18" charset="0"/>
              </a:rPr>
              <a:t> </a:t>
            </a:r>
            <a:r>
              <a:rPr lang="en-IN" b="1" dirty="0">
                <a:solidFill>
                  <a:schemeClr val="bg1"/>
                </a:solidFill>
                <a:latin typeface="Times New Roman" panose="02020603050405020304" pitchFamily="18" charset="0"/>
                <a:cs typeface="Times New Roman" panose="02020603050405020304" pitchFamily="18" charset="0"/>
              </a:rPr>
              <a:t>CSV</a:t>
            </a:r>
            <a:r>
              <a:rPr lang="en-IN" dirty="0">
                <a:solidFill>
                  <a:schemeClr val="bg1"/>
                </a:solidFill>
                <a:latin typeface="Times New Roman" panose="02020603050405020304" pitchFamily="18" charset="0"/>
                <a:cs typeface="Times New Roman" panose="02020603050405020304" pitchFamily="18" charset="0"/>
              </a:rPr>
              <a:t> </a:t>
            </a:r>
          </a:p>
          <a:p>
            <a:pPr marL="285750" indent="-285750">
              <a:spcAft>
                <a:spcPts val="800"/>
              </a:spcAft>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3-page scientific report </a:t>
            </a:r>
          </a:p>
        </p:txBody>
      </p:sp>
    </p:spTree>
    <p:extLst>
      <p:ext uri="{BB962C8B-B14F-4D97-AF65-F5344CB8AC3E}">
        <p14:creationId xmlns:p14="http://schemas.microsoft.com/office/powerpoint/2010/main" val="1397850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D8745A0D-2C10-B5AA-CC4B-FABC796F89B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34FEAF7-E062-F116-0D03-9D9A1B5F11BF}"/>
              </a:ext>
            </a:extLst>
          </p:cNvPr>
          <p:cNvSpPr/>
          <p:nvPr/>
        </p:nvSpPr>
        <p:spPr>
          <a:xfrm>
            <a:off x="548640" y="109164"/>
            <a:ext cx="10515600" cy="640080"/>
          </a:xfrm>
          <a:prstGeom prst="rect">
            <a:avLst/>
          </a:prstGeom>
          <a:noFill/>
          <a:ln/>
        </p:spPr>
        <p:txBody>
          <a:bodyPr wrap="square" rtlCol="0" anchor="ctr"/>
          <a:lstStyle/>
          <a:p>
            <a:pPr marL="0" indent="0">
              <a:buNone/>
            </a:pPr>
            <a:r>
              <a:rPr lang="en-US" sz="3200" b="1" dirty="0">
                <a:solidFill>
                  <a:srgbClr val="FFFFFF"/>
                </a:solidFill>
                <a:latin typeface="Times New Roman" pitchFamily="34" charset="0"/>
                <a:ea typeface="Times New Roman" pitchFamily="34" charset="-122"/>
                <a:cs typeface="Times New Roman" pitchFamily="34" charset="-120"/>
              </a:rPr>
              <a:t>EXOPLANET DETECTION PIPELINE</a:t>
            </a:r>
            <a:endParaRPr lang="en-US" sz="3200" dirty="0"/>
          </a:p>
        </p:txBody>
      </p:sp>
      <p:sp>
        <p:nvSpPr>
          <p:cNvPr id="4" name="Text 2">
            <a:extLst>
              <a:ext uri="{FF2B5EF4-FFF2-40B4-BE49-F238E27FC236}">
                <a16:creationId xmlns:a16="http://schemas.microsoft.com/office/drawing/2014/main" id="{8F07B342-713F-F57D-7DDF-34E7B7FDDC59}"/>
              </a:ext>
            </a:extLst>
          </p:cNvPr>
          <p:cNvSpPr/>
          <p:nvPr/>
        </p:nvSpPr>
        <p:spPr>
          <a:xfrm>
            <a:off x="548640" y="1783080"/>
            <a:ext cx="11064240" cy="3931920"/>
          </a:xfrm>
          <a:prstGeom prst="rect">
            <a:avLst/>
          </a:prstGeom>
          <a:noFill/>
          <a:ln/>
        </p:spPr>
        <p:txBody>
          <a:bodyPr wrap="square" rtlCol="0" anchor="t"/>
          <a:lstStyle/>
          <a:p>
            <a:pPr marL="342900" indent="-342900">
              <a:spcAft>
                <a:spcPts val="1600"/>
              </a:spcAft>
              <a:buSzPct val="100000"/>
              <a:buChar char="•"/>
            </a:pPr>
            <a:endParaRPr lang="en-US" sz="1800" dirty="0"/>
          </a:p>
        </p:txBody>
      </p:sp>
      <p:sp>
        <p:nvSpPr>
          <p:cNvPr id="5" name="Text 3">
            <a:extLst>
              <a:ext uri="{FF2B5EF4-FFF2-40B4-BE49-F238E27FC236}">
                <a16:creationId xmlns:a16="http://schemas.microsoft.com/office/drawing/2014/main" id="{6FE1710F-D9FD-ED20-868F-1371D8BCBFFA}"/>
              </a:ext>
            </a:extLst>
          </p:cNvPr>
          <p:cNvSpPr/>
          <p:nvPr/>
        </p:nvSpPr>
        <p:spPr>
          <a:xfrm>
            <a:off x="11365992" y="6355080"/>
            <a:ext cx="548640" cy="320040"/>
          </a:xfrm>
          <a:prstGeom prst="rect">
            <a:avLst/>
          </a:prstGeom>
          <a:noFill/>
          <a:ln/>
        </p:spPr>
        <p:txBody>
          <a:bodyPr wrap="square" rtlCol="0" anchor="ctr"/>
          <a:lstStyle/>
          <a:p>
            <a:pPr marL="0" indent="0" algn="r">
              <a:buNone/>
            </a:pPr>
            <a:r>
              <a:rPr lang="en-US" sz="1100" dirty="0">
                <a:solidFill>
                  <a:srgbClr val="CADCFC"/>
                </a:solidFill>
                <a:latin typeface="Times New Roman" pitchFamily="34" charset="0"/>
                <a:ea typeface="Times New Roman" pitchFamily="34" charset="-122"/>
                <a:cs typeface="Times New Roman" pitchFamily="34" charset="-120"/>
              </a:rPr>
              <a:t>18</a:t>
            </a:r>
            <a:endParaRPr lang="en-US" sz="1100" dirty="0"/>
          </a:p>
        </p:txBody>
      </p:sp>
      <p:sp>
        <p:nvSpPr>
          <p:cNvPr id="100" name="Footer">
            <a:extLst>
              <a:ext uri="{FF2B5EF4-FFF2-40B4-BE49-F238E27FC236}">
                <a16:creationId xmlns:a16="http://schemas.microsoft.com/office/drawing/2014/main" id="{DDE35E92-0785-C800-4B71-76C6697B4302}"/>
              </a:ext>
            </a:extLst>
          </p:cNvPr>
          <p:cNvSpPr/>
          <p:nvPr/>
        </p:nvSpPr>
        <p:spPr>
          <a:xfrm>
            <a:off x="548640" y="6355080"/>
            <a:ext cx="5486400" cy="320040"/>
          </a:xfrm>
          <a:prstGeom prst="rect">
            <a:avLst/>
          </a:prstGeom>
          <a:noFill/>
          <a:ln/>
        </p:spPr>
        <p:txBody>
          <a:bodyPr wrap="square" rtlCol="0" anchor="ctr"/>
          <a:lstStyle/>
          <a:p>
            <a:pPr marL="0" indent="0" algn="l">
              <a:buNone/>
            </a:pPr>
            <a:r>
              <a:rPr lang="en-US" sz="1100" dirty="0">
                <a:solidFill>
                  <a:srgbClr val="CADCFC"/>
                </a:solidFill>
                <a:latin typeface="Times New Roman" pitchFamily="34" charset="0"/>
                <a:ea typeface="Times New Roman" pitchFamily="34" charset="-122"/>
                <a:cs typeface="Times New Roman" pitchFamily="34" charset="-120"/>
              </a:rPr>
              <a:t>PROJECT PHASE 1 / AI&amp;DS</a:t>
            </a:r>
            <a:endParaRPr lang="en-US" sz="1100" dirty="0"/>
          </a:p>
        </p:txBody>
      </p:sp>
      <p:sp>
        <p:nvSpPr>
          <p:cNvPr id="6" name="TextBox 5">
            <a:extLst>
              <a:ext uri="{FF2B5EF4-FFF2-40B4-BE49-F238E27FC236}">
                <a16:creationId xmlns:a16="http://schemas.microsoft.com/office/drawing/2014/main" id="{CDA95D5E-7D47-EA33-6C95-89CD3F930228}"/>
              </a:ext>
            </a:extLst>
          </p:cNvPr>
          <p:cNvSpPr txBox="1"/>
          <p:nvPr/>
        </p:nvSpPr>
        <p:spPr>
          <a:xfrm>
            <a:off x="1195752" y="687749"/>
            <a:ext cx="7987323" cy="5714385"/>
          </a:xfrm>
          <a:prstGeom prst="rect">
            <a:avLst/>
          </a:prstGeom>
          <a:noFill/>
        </p:spPr>
        <p:txBody>
          <a:bodyPr wrap="square">
            <a:spAutoFit/>
          </a:bodyPr>
          <a:lstStyle/>
          <a:p>
            <a:pPr>
              <a:lnSpc>
                <a:spcPct val="100000"/>
              </a:lnSpc>
              <a:spcAft>
                <a:spcPts val="8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Phase 6 — Enhanced Analysis </a:t>
            </a:r>
            <a:r>
              <a:rPr lang="en-IN" sz="1400" b="1" i="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(Bonus)</a:t>
            </a:r>
            <a:endPar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Aft>
                <a:spcPts val="8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Objective:</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Improve the reliability and robustness of the detection pipeline.</a:t>
            </a:r>
          </a:p>
          <a:p>
            <a:pPr>
              <a:lnSpc>
                <a:spcPct val="100000"/>
              </a:lnSpc>
              <a:spcAft>
                <a:spcPts val="8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Centroid Analysis</a:t>
            </a:r>
            <a:endPar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Check whether the transit signal originates from the target star.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Detect possible </a:t>
            </a: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background-source contamination</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Helps identify false positives. </a:t>
            </a:r>
          </a:p>
          <a:p>
            <a:pPr>
              <a:lnSpc>
                <a:spcPct val="100000"/>
              </a:lnSpc>
              <a:spcAft>
                <a:spcPts val="8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Injection–Recovery</a:t>
            </a:r>
            <a:endPar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Inject artificial transit signals into real light curves.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Run the complete pipeline again.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Measure the pipeline's </a:t>
            </a: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detection sensitivity</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a:lnSpc>
                <a:spcPct val="100000"/>
              </a:lnSpc>
              <a:spcAft>
                <a:spcPts val="8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Active Learning</a:t>
            </a:r>
            <a:endPar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Identify candidates where the ML model is uncertain.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Prioritize these candidates for additional review/</a:t>
            </a:r>
            <a:r>
              <a:rPr lang="en-IN" sz="1400" kern="100" dirty="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labeling</a:t>
            </a: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Use new labels to improve future model training. </a:t>
            </a:r>
          </a:p>
          <a:p>
            <a:pPr>
              <a:lnSpc>
                <a:spcPct val="100000"/>
              </a:lnSpc>
              <a:spcAft>
                <a:spcPts val="800"/>
              </a:spcAft>
              <a:buNone/>
            </a:pPr>
            <a:r>
              <a:rPr lang="en-IN" sz="14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Output:</a:t>
            </a:r>
            <a:endPar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Robustness metrics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Improved candidate confidence </a:t>
            </a:r>
          </a:p>
          <a:p>
            <a:pPr marL="342900" lvl="0" indent="-342900">
              <a:lnSpc>
                <a:spcPct val="100000"/>
              </a:lnSpc>
              <a:spcAft>
                <a:spcPts val="800"/>
              </a:spcAft>
              <a:buSzPts val="1000"/>
              <a:buFont typeface="Symbol" panose="05050102010706020507" pitchFamily="18" charset="2"/>
              <a:buChar char=""/>
              <a:tabLst>
                <a:tab pos="457200" algn="l"/>
              </a:tabLst>
            </a:pPr>
            <a:r>
              <a:rPr lang="en-IN" sz="14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Better candidate prioritization</a:t>
            </a:r>
          </a:p>
        </p:txBody>
      </p:sp>
    </p:spTree>
    <p:extLst>
      <p:ext uri="{BB962C8B-B14F-4D97-AF65-F5344CB8AC3E}">
        <p14:creationId xmlns:p14="http://schemas.microsoft.com/office/powerpoint/2010/main" val="3729973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2165</Words>
  <Application>Microsoft Office PowerPoint</Application>
  <PresentationFormat>Widescreen</PresentationFormat>
  <Paragraphs>329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Prasanna B R</cp:lastModifiedBy>
  <cp:revision>6</cp:revision>
  <dcterms:created xsi:type="dcterms:W3CDTF">2026-08-10T08:35:58Z</dcterms:created>
  <dcterms:modified xsi:type="dcterms:W3CDTF">2026-09-10T08:50:00Z</dcterms:modified>
</cp:coreProperties>
</file>