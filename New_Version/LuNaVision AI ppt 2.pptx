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4" r:id="rId8"/>
    <p:sldId id="262" r:id="rId9"/>
    <p:sldId id="265" r:id="rId10"/>
    <p:sldId id="263"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1789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C71A1-9EE6-ECD6-78EE-07DC5905D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51BDC-3FBA-97A4-413C-DAE81EC06D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C1986-AC29-C8E3-7588-187A6C9DC4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8017EA-F261-7526-3A63-ACBC0C24222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10878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CF96B-3DE1-EE8E-B1C9-C160C837E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7D55F-6C96-6F6A-78ED-3B07846EA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37492-7DAF-5E84-D22C-EC6F12EF15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ED320D-B5AA-01D5-74B0-349FA157BB4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66921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08B4D-8EB4-2AE7-3A05-C278FBA34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EC742-F4CC-FCB4-68B0-94CEFF319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07D24-3E72-CBB2-4171-F4498089D1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9536DE-2537-6466-471B-964EBF26390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78593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63325-9B3A-9F2B-091B-03F7CD9E0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CFE47-1F51-F640-D7B3-D778F6B81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0088A-5143-C2E7-E1A2-B74D8A58C4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7A5693-3EB0-E9AA-1796-1A479774833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69502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0E649-8B47-048D-72EB-5669E2BDE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CFB45-5406-4B1E-A401-5F2FA9852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E7311A-EBA5-746F-49BB-7F31E61EF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796253-3A3A-BF52-9A9D-0BB80FD4627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806692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A4E66-2559-067B-EF55-7AADB1407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648AD-FF9B-7512-A9D8-46AB971DA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22C71-4894-1117-B17A-2824AB5AE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F6216D-E3FE-34B1-8495-5401BF7E55B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98798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1B2E2-3D44-C948-A2D5-A37167625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AC795-2CC1-1370-727A-0FCA7C802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F2E7FF-DB59-795A-5BC5-5400F95164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75E2A2-5EA8-450A-77BA-DBE41CE5CD5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73148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0AC43-4355-CBDE-217B-4A8359B86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A9838-E45A-AC4D-D827-AC40B7CF8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EAE22-0B50-7DB6-EDA8-952916A6A8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24B32-B77A-C905-421F-7AC058CD4AC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235789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8A639-3EE5-1FBC-83DF-155DB3C3C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1B8B7-CF20-1599-6A25-37269F814A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01413-CAA9-E5D6-53AE-1C4FC55E15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95555F-639E-FDF1-AD3E-36B51F379DE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105168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2CF5C-96C9-6E5B-CAD2-592B4F0E2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0A225-22E8-D7DA-A559-29C47F58E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D3FEC-BF16-754F-15EB-6D6D4034E9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054E7C-DDAB-3CB4-9635-D7FDB9627FDC}"/>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961682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272716" y="1270853"/>
            <a:ext cx="11614484" cy="1584641"/>
          </a:xfrm>
          <a:prstGeom prst="rect">
            <a:avLst/>
          </a:prstGeom>
          <a:noFill/>
          <a:ln/>
        </p:spPr>
        <p:txBody>
          <a:bodyPr wrap="square" rtlCol="0" anchor="ctr"/>
          <a:lstStyle/>
          <a:p>
            <a:pPr marL="0" indent="0" algn="ctr">
              <a:buNone/>
            </a:pPr>
            <a:r>
              <a:rPr lang="en-US" sz="4000" b="1" dirty="0" err="1">
                <a:solidFill>
                  <a:srgbClr val="FFFFFF"/>
                </a:solidFill>
                <a:latin typeface="Times New Roman" pitchFamily="34" charset="0"/>
                <a:ea typeface="Times New Roman" pitchFamily="34" charset="-122"/>
                <a:cs typeface="Times New Roman" pitchFamily="34" charset="-120"/>
              </a:rPr>
              <a:t>LuNaVision</a:t>
            </a:r>
            <a:r>
              <a:rPr lang="en-US" sz="4000" b="1" dirty="0">
                <a:solidFill>
                  <a:srgbClr val="FFFFFF"/>
                </a:solidFill>
                <a:latin typeface="Times New Roman" pitchFamily="34" charset="0"/>
                <a:ea typeface="Times New Roman" pitchFamily="34" charset="-122"/>
                <a:cs typeface="Times New Roman" pitchFamily="34" charset="-120"/>
              </a:rPr>
              <a:t> AI:</a:t>
            </a:r>
          </a:p>
          <a:p>
            <a:pPr marL="0" indent="0" algn="ctr">
              <a:buNone/>
            </a:pPr>
            <a:r>
              <a:rPr lang="en-US" sz="4000" b="1" dirty="0">
                <a:solidFill>
                  <a:srgbClr val="FFFFFF"/>
                </a:solidFill>
                <a:latin typeface="Times New Roman" pitchFamily="34" charset="0"/>
                <a:ea typeface="Times New Roman" pitchFamily="34" charset="-122"/>
                <a:cs typeface="Times New Roman" pitchFamily="34" charset="-120"/>
              </a:rPr>
              <a:t> An Intelligent Multi-Agent Pipeline for Automated Exoplanet Discovery from TESS Observations</a:t>
            </a:r>
          </a:p>
          <a:p>
            <a:pPr marL="0" indent="0" algn="ctr">
              <a:buNone/>
            </a:pPr>
            <a:endParaRPr lang="en-US" sz="4000" b="1" dirty="0">
              <a:solidFill>
                <a:srgbClr val="FFFFFF"/>
              </a:solidFill>
              <a:latin typeface="Times New Roman" pitchFamily="34" charset="0"/>
              <a:ea typeface="Times New Roman" pitchFamily="34" charset="-122"/>
              <a:cs typeface="Times New Roman" pitchFamily="34" charset="-120"/>
            </a:endParaRPr>
          </a:p>
        </p:txBody>
      </p:sp>
      <p:sp>
        <p:nvSpPr>
          <p:cNvPr id="5" name="Text 3"/>
          <p:cNvSpPr/>
          <p:nvPr/>
        </p:nvSpPr>
        <p:spPr>
          <a:xfrm>
            <a:off x="742038" y="3668928"/>
            <a:ext cx="4754880" cy="1005840"/>
          </a:xfrm>
          <a:prstGeom prst="rect">
            <a:avLst/>
          </a:prstGeom>
          <a:noFill/>
          <a:ln/>
        </p:spPr>
        <p:txBody>
          <a:bodyPr wrap="square" rtlCol="0" anchor="t"/>
          <a:lstStyle/>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PROJECT GUIDE</a:t>
            </a:r>
          </a:p>
          <a:p>
            <a:pPr marL="0" indent="0" algn="ctr">
              <a:buNone/>
            </a:pPr>
            <a:endParaRPr lang="en-US" b="1" kern="0" spc="150" dirty="0">
              <a:solidFill>
                <a:srgbClr val="FFFFFF"/>
              </a:solidFill>
              <a:latin typeface="Times New Roman" pitchFamily="34" charset="0"/>
              <a:ea typeface="Times New Roman" pitchFamily="34" charset="-122"/>
              <a:cs typeface="Times New Roman" pitchFamily="34" charset="-120"/>
            </a:endParaRPr>
          </a:p>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Mrs. M. </a:t>
            </a:r>
            <a:r>
              <a:rPr lang="en-US" b="1" kern="0" spc="150" dirty="0" err="1">
                <a:solidFill>
                  <a:srgbClr val="FFFFFF"/>
                </a:solidFill>
                <a:latin typeface="Times New Roman" pitchFamily="34" charset="0"/>
                <a:ea typeface="Times New Roman" pitchFamily="34" charset="-122"/>
                <a:cs typeface="Times New Roman" pitchFamily="34" charset="-120"/>
              </a:rPr>
              <a:t>Bhavadharini</a:t>
            </a:r>
            <a:endParaRPr lang="en-US" b="1" kern="0" spc="150" dirty="0">
              <a:solidFill>
                <a:srgbClr val="FFFFFF"/>
              </a:solidFill>
              <a:latin typeface="Times New Roman" pitchFamily="34" charset="0"/>
              <a:ea typeface="Times New Roman" pitchFamily="34" charset="-122"/>
              <a:cs typeface="Times New Roman" pitchFamily="34" charset="-120"/>
            </a:endParaRPr>
          </a:p>
          <a:p>
            <a:pPr algn="ctr"/>
            <a:r>
              <a:rPr lang="en-US" b="1" kern="0" spc="150" dirty="0">
                <a:solidFill>
                  <a:srgbClr val="FFFFFF"/>
                </a:solidFill>
                <a:latin typeface="Times New Roman" pitchFamily="34" charset="0"/>
                <a:ea typeface="Times New Roman" pitchFamily="34" charset="-122"/>
                <a:cs typeface="Times New Roman" pitchFamily="34" charset="-120"/>
              </a:rPr>
              <a:t>Dr. S. Sasikala</a:t>
            </a:r>
          </a:p>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
</a:t>
            </a:r>
            <a:endParaRPr lang="en-US" dirty="0"/>
          </a:p>
        </p:txBody>
      </p:sp>
      <p:sp>
        <p:nvSpPr>
          <p:cNvPr id="6" name="Text 4"/>
          <p:cNvSpPr/>
          <p:nvPr/>
        </p:nvSpPr>
        <p:spPr>
          <a:xfrm>
            <a:off x="6695083" y="3668928"/>
            <a:ext cx="4846320" cy="1097280"/>
          </a:xfrm>
          <a:prstGeom prst="rect">
            <a:avLst/>
          </a:prstGeom>
          <a:noFill/>
          <a:ln/>
        </p:spPr>
        <p:txBody>
          <a:bodyPr wrap="square" rtlCol="0" anchor="t"/>
          <a:lstStyle/>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TEAM MEMBERS</a:t>
            </a:r>
          </a:p>
          <a:p>
            <a:pPr marL="0" indent="0" algn="ctr">
              <a:buNone/>
            </a:pPr>
            <a:endParaRPr lang="en-US" b="1" kern="0" spc="150" dirty="0">
              <a:solidFill>
                <a:srgbClr val="FFFFFF"/>
              </a:solidFill>
              <a:latin typeface="Times New Roman" pitchFamily="34" charset="0"/>
              <a:ea typeface="Times New Roman" pitchFamily="34" charset="-122"/>
              <a:cs typeface="Times New Roman" pitchFamily="34" charset="-120"/>
            </a:endParaRPr>
          </a:p>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B R Prasanna</a:t>
            </a:r>
          </a:p>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M Sandeep</a:t>
            </a:r>
          </a:p>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S Gokul
</a:t>
            </a:r>
            <a:endParaRPr lang="en-US"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352926"/>
            <a:ext cx="10515600" cy="60960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ABSTRACT</a:t>
            </a:r>
            <a:endParaRPr lang="en-US" sz="3200" dirty="0"/>
          </a:p>
        </p:txBody>
      </p:sp>
      <p:sp>
        <p:nvSpPr>
          <p:cNvPr id="4" name="Text 2"/>
          <p:cNvSpPr/>
          <p:nvPr/>
        </p:nvSpPr>
        <p:spPr>
          <a:xfrm>
            <a:off x="548640" y="962526"/>
            <a:ext cx="11064240" cy="4798194"/>
          </a:xfrm>
          <a:prstGeom prst="rect">
            <a:avLst/>
          </a:prstGeom>
          <a:noFill/>
          <a:ln/>
        </p:spPr>
        <p:txBody>
          <a:bodyPr wrap="square" rtlCol="0" anchor="t"/>
          <a:lstStyle/>
          <a:p>
            <a:pPr marL="0" indent="0" algn="just">
              <a:lnSpc>
                <a:spcPct val="140000"/>
              </a:lnSpc>
              <a:buNone/>
            </a:pPr>
            <a:r>
              <a:rPr lang="en-US" sz="1600" dirty="0">
                <a:solidFill>
                  <a:schemeClr val="bg1"/>
                </a:solidFill>
                <a:latin typeface="Times New Roman" panose="02020603050405020304" pitchFamily="18" charset="0"/>
                <a:cs typeface="Times New Roman" panose="02020603050405020304" pitchFamily="18" charset="0"/>
              </a:rPr>
              <a:t>The discovery of exoplanets has become a rapidly growing field in modern astronomy, providing valuable insights into planetary systems beyond our solar system. Space missions such as NASA's Transiting Exoplanet Survey Satellite (TESS) generate vast amounts of stellar light curve data, making manual analysis increasingly difficult. To address this challenge, researchers have applied various Machine Learning (ML) and Deep Learning (DL) techniques, including Random Forest, Support Vector Machine (SVM), Convolutional Neural Networks (CNN), Long Short-Term Memory (LSTM), and Transformer-based models, to identify planetary transit signals and distinguish them from noise and false positives. While these approaches have achieved promising results, they are typically designed for individual stages of the detection process and often require manual intervention for preprocessing, validation, and interpretation. This project proposes </a:t>
            </a:r>
            <a:r>
              <a:rPr lang="en-US" sz="1600" dirty="0" err="1">
                <a:solidFill>
                  <a:schemeClr val="bg1"/>
                </a:solidFill>
                <a:latin typeface="Times New Roman" panose="02020603050405020304" pitchFamily="18" charset="0"/>
                <a:cs typeface="Times New Roman" panose="02020603050405020304" pitchFamily="18" charset="0"/>
              </a:rPr>
              <a:t>LuNaVision</a:t>
            </a:r>
            <a:r>
              <a:rPr lang="en-US" sz="1600" dirty="0">
                <a:solidFill>
                  <a:schemeClr val="bg1"/>
                </a:solidFill>
                <a:latin typeface="Times New Roman" panose="02020603050405020304" pitchFamily="18" charset="0"/>
                <a:cs typeface="Times New Roman" panose="02020603050405020304" pitchFamily="18" charset="0"/>
              </a:rPr>
              <a:t> AI: An Intelligent Multi-Agent Pipeline for Automated Exoplanet Discovery from TESS Observations, a collaborative AI framework that automates the complete exoplanet detection workflow. The proposed system employs specialized AI agents for astronomical data acquisition, light curve preprocessing, noise reduction, transit detection, exoplanet classification, orbital parameter estimation, explainable decision-making, and automated scientific report generation. By integrating Multi-Agent Systems, Large Language Models (LLMs), Explainable Artificial Intelligence (XAI), Machine Learning, Deep Learning, and time-series analysis, </a:t>
            </a:r>
            <a:r>
              <a:rPr lang="en-US" sz="1600" dirty="0" err="1">
                <a:solidFill>
                  <a:schemeClr val="bg1"/>
                </a:solidFill>
                <a:latin typeface="Times New Roman" panose="02020603050405020304" pitchFamily="18" charset="0"/>
                <a:cs typeface="Times New Roman" panose="02020603050405020304" pitchFamily="18" charset="0"/>
              </a:rPr>
              <a:t>LuNaVision</a:t>
            </a:r>
            <a:r>
              <a:rPr lang="en-US" sz="1600" dirty="0">
                <a:solidFill>
                  <a:schemeClr val="bg1"/>
                </a:solidFill>
                <a:latin typeface="Times New Roman" panose="02020603050405020304" pitchFamily="18" charset="0"/>
                <a:cs typeface="Times New Roman" panose="02020603050405020304" pitchFamily="18" charset="0"/>
              </a:rPr>
              <a:t> AI provides a scalable, interpretable, and intelligent solution for processing noisy astronomical datasets. The framework aims to improve detection accuracy, reduce false positives, minimize manual effort, and accelerate exoplanet discovery through an autonomous and efficient scientific analysis pipeline.</a:t>
            </a:r>
          </a:p>
        </p:txBody>
      </p:sp>
      <p:sp>
        <p:nvSpPr>
          <p:cNvPr id="5" name="Text 3"/>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02</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351692"/>
            <a:ext cx="10515600" cy="672123"/>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OBJECTIVES</a:t>
            </a:r>
            <a:endParaRPr lang="en-US" sz="3200" dirty="0"/>
          </a:p>
        </p:txBody>
      </p:sp>
      <p:sp>
        <p:nvSpPr>
          <p:cNvPr id="4" name="Text 2"/>
          <p:cNvSpPr/>
          <p:nvPr/>
        </p:nvSpPr>
        <p:spPr>
          <a:xfrm>
            <a:off x="822960" y="1141046"/>
            <a:ext cx="10058400" cy="5214033"/>
          </a:xfrm>
          <a:prstGeom prst="rect">
            <a:avLst/>
          </a:prstGeom>
          <a:noFill/>
          <a:ln/>
        </p:spPr>
        <p:txBody>
          <a:bodyPr wrap="square" rtlCol="0" anchor="t"/>
          <a:lstStyle/>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develop an AI-based multi-agent framework for automated exoplanet discovery.</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automate TESS data acquisition and preprocessing.</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reduce noise in stellar light curves.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detect potential planetary transit signals.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classify exoplanet candidates and false positives.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estimate orbital parameters.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provide Explainable AI (XAI) for decisions.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generate automated scientific reports.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reduce manual effort and improve scalability.</a:t>
            </a:r>
          </a:p>
        </p:txBody>
      </p:sp>
      <p:sp>
        <p:nvSpPr>
          <p:cNvPr id="5" name="Text 3"/>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03</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233837"/>
            <a:ext cx="10515600" cy="633046"/>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SCOPE OF THE PROJECT</a:t>
            </a:r>
            <a:endParaRPr lang="en-US" sz="3200" dirty="0"/>
          </a:p>
        </p:txBody>
      </p:sp>
      <p:sp>
        <p:nvSpPr>
          <p:cNvPr id="7" name="Text 5"/>
          <p:cNvSpPr/>
          <p:nvPr/>
        </p:nvSpPr>
        <p:spPr>
          <a:xfrm>
            <a:off x="548640" y="1505119"/>
            <a:ext cx="10789920" cy="3908453"/>
          </a:xfrm>
          <a:prstGeom prst="rect">
            <a:avLst/>
          </a:prstGeom>
          <a:noFill/>
          <a:ln/>
        </p:spPr>
        <p:txBody>
          <a:bodyPr wrap="square" rtlCol="0" anchor="t"/>
          <a:lstStyle/>
          <a:p>
            <a:pPr marL="0" indent="0">
              <a:lnSpc>
                <a:spcPct val="130000"/>
              </a:lnSpc>
              <a:buNone/>
            </a:pPr>
            <a:endParaRPr lang="en-US" sz="1600" dirty="0"/>
          </a:p>
        </p:txBody>
      </p:sp>
      <p:sp>
        <p:nvSpPr>
          <p:cNvPr id="8" name="Text 6"/>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04</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2" name="TextBox 1">
            <a:extLst>
              <a:ext uri="{FF2B5EF4-FFF2-40B4-BE49-F238E27FC236}">
                <a16:creationId xmlns:a16="http://schemas.microsoft.com/office/drawing/2014/main" id="{FF397868-07D5-0D0F-C115-0E167E8AAFCF}"/>
              </a:ext>
            </a:extLst>
          </p:cNvPr>
          <p:cNvSpPr txBox="1"/>
          <p:nvPr/>
        </p:nvSpPr>
        <p:spPr>
          <a:xfrm>
            <a:off x="2486526" y="3320716"/>
            <a:ext cx="184731" cy="369332"/>
          </a:xfrm>
          <a:prstGeom prst="rect">
            <a:avLst/>
          </a:prstGeom>
          <a:noFill/>
        </p:spPr>
        <p:txBody>
          <a:bodyPr wrap="none" rtlCol="0">
            <a:spAutoFit/>
          </a:bodyPr>
          <a:lstStyle/>
          <a:p>
            <a:endParaRPr lang="en-IN" dirty="0"/>
          </a:p>
        </p:txBody>
      </p:sp>
      <p:sp>
        <p:nvSpPr>
          <p:cNvPr id="5" name="TextBox 4">
            <a:extLst>
              <a:ext uri="{FF2B5EF4-FFF2-40B4-BE49-F238E27FC236}">
                <a16:creationId xmlns:a16="http://schemas.microsoft.com/office/drawing/2014/main" id="{D65E8B48-DDBD-ADDC-7307-2FFBDE4CC3B9}"/>
              </a:ext>
            </a:extLst>
          </p:cNvPr>
          <p:cNvSpPr txBox="1"/>
          <p:nvPr/>
        </p:nvSpPr>
        <p:spPr>
          <a:xfrm>
            <a:off x="853440" y="917088"/>
            <a:ext cx="10515600" cy="5632311"/>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Where it is used:</a:t>
            </a:r>
          </a:p>
          <a:p>
            <a:r>
              <a:rPr lang="en-IN" b="1" dirty="0">
                <a:solidFill>
                  <a:schemeClr val="bg1"/>
                </a:solidFill>
                <a:latin typeface="Times New Roman" panose="02020603050405020304" pitchFamily="18" charset="0"/>
                <a:cs typeface="Times New Roman" panose="02020603050405020304" pitchFamily="18" charset="0"/>
              </a:rPr>
              <a:t>•	Astronomical Research – </a:t>
            </a:r>
            <a:r>
              <a:rPr lang="en-IN" dirty="0">
                <a:solidFill>
                  <a:schemeClr val="bg1"/>
                </a:solidFill>
                <a:latin typeface="Times New Roman" panose="02020603050405020304" pitchFamily="18" charset="0"/>
                <a:cs typeface="Times New Roman" panose="02020603050405020304" pitchFamily="18" charset="0"/>
              </a:rPr>
              <a:t>Assist astronomers in analysing TESS observations. </a:t>
            </a:r>
          </a:p>
          <a:p>
            <a:r>
              <a:rPr lang="en-IN" b="1" dirty="0">
                <a:solidFill>
                  <a:schemeClr val="bg1"/>
                </a:solidFill>
                <a:latin typeface="Times New Roman" panose="02020603050405020304" pitchFamily="18" charset="0"/>
                <a:cs typeface="Times New Roman" panose="02020603050405020304" pitchFamily="18" charset="0"/>
              </a:rPr>
              <a:t>•	Exoplanet Discovery – </a:t>
            </a:r>
            <a:r>
              <a:rPr lang="en-IN" dirty="0">
                <a:solidFill>
                  <a:schemeClr val="bg1"/>
                </a:solidFill>
                <a:latin typeface="Times New Roman" panose="02020603050405020304" pitchFamily="18" charset="0"/>
                <a:cs typeface="Times New Roman" panose="02020603050405020304" pitchFamily="18" charset="0"/>
              </a:rPr>
              <a:t>Identify potential planets from stellar light curves. </a:t>
            </a:r>
          </a:p>
          <a:p>
            <a:r>
              <a:rPr lang="en-IN" b="1" dirty="0">
                <a:solidFill>
                  <a:schemeClr val="bg1"/>
                </a:solidFill>
                <a:latin typeface="Times New Roman" panose="02020603050405020304" pitchFamily="18" charset="0"/>
                <a:cs typeface="Times New Roman" panose="02020603050405020304" pitchFamily="18" charset="0"/>
              </a:rPr>
              <a:t>•	Space Missions – </a:t>
            </a:r>
            <a:r>
              <a:rPr lang="en-IN" dirty="0">
                <a:solidFill>
                  <a:schemeClr val="bg1"/>
                </a:solidFill>
                <a:latin typeface="Times New Roman" panose="02020603050405020304" pitchFamily="18" charset="0"/>
                <a:cs typeface="Times New Roman" panose="02020603050405020304" pitchFamily="18" charset="0"/>
              </a:rPr>
              <a:t>Support analysis of large-scale TESS datasets.</a:t>
            </a:r>
            <a:r>
              <a:rPr lang="en-IN" b="1" dirty="0">
                <a:solidFill>
                  <a:schemeClr val="bg1"/>
                </a:solidFill>
                <a:latin typeface="Times New Roman" panose="02020603050405020304" pitchFamily="18" charset="0"/>
                <a:cs typeface="Times New Roman" panose="02020603050405020304" pitchFamily="18" charset="0"/>
              </a:rPr>
              <a:t> </a:t>
            </a:r>
          </a:p>
          <a:p>
            <a:r>
              <a:rPr lang="en-IN" b="1" dirty="0">
                <a:solidFill>
                  <a:schemeClr val="bg1"/>
                </a:solidFill>
                <a:latin typeface="Times New Roman" panose="02020603050405020304" pitchFamily="18" charset="0"/>
                <a:cs typeface="Times New Roman" panose="02020603050405020304" pitchFamily="18" charset="0"/>
              </a:rPr>
              <a:t>•	Planetary System Studies – </a:t>
            </a:r>
            <a:r>
              <a:rPr lang="en-IN" dirty="0">
                <a:solidFill>
                  <a:schemeClr val="bg1"/>
                </a:solidFill>
                <a:latin typeface="Times New Roman" panose="02020603050405020304" pitchFamily="18" charset="0"/>
                <a:cs typeface="Times New Roman" panose="02020603050405020304" pitchFamily="18" charset="0"/>
              </a:rPr>
              <a:t>Assist in studying planets beyond our Solar System. </a:t>
            </a:r>
          </a:p>
          <a:p>
            <a:r>
              <a:rPr lang="en-IN" b="1" dirty="0">
                <a:solidFill>
                  <a:schemeClr val="bg1"/>
                </a:solidFill>
                <a:latin typeface="Times New Roman" panose="02020603050405020304" pitchFamily="18" charset="0"/>
                <a:cs typeface="Times New Roman" panose="02020603050405020304" pitchFamily="18" charset="0"/>
              </a:rPr>
              <a:t>•	Scientific Data Analysis – </a:t>
            </a:r>
            <a:r>
              <a:rPr lang="en-IN" dirty="0">
                <a:solidFill>
                  <a:schemeClr val="bg1"/>
                </a:solidFill>
                <a:latin typeface="Times New Roman" panose="02020603050405020304" pitchFamily="18" charset="0"/>
                <a:cs typeface="Times New Roman" panose="02020603050405020304" pitchFamily="18" charset="0"/>
              </a:rPr>
              <a:t>Automate processing of large and noisy astronomical datasets.</a:t>
            </a:r>
            <a:r>
              <a:rPr lang="en-IN" b="1" dirty="0">
                <a:solidFill>
                  <a:schemeClr val="bg1"/>
                </a:solidFill>
                <a:latin typeface="Times New Roman" panose="02020603050405020304" pitchFamily="18" charset="0"/>
                <a:cs typeface="Times New Roman" panose="02020603050405020304" pitchFamily="18" charset="0"/>
              </a:rPr>
              <a:t> </a:t>
            </a:r>
          </a:p>
          <a:p>
            <a:endParaRPr lang="en-IN" b="1"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Benefits:</a:t>
            </a:r>
          </a:p>
          <a:p>
            <a:r>
              <a:rPr lang="en-IN" b="1" dirty="0">
                <a:solidFill>
                  <a:schemeClr val="bg1"/>
                </a:solidFill>
                <a:latin typeface="Times New Roman" panose="02020603050405020304" pitchFamily="18" charset="0"/>
                <a:cs typeface="Times New Roman" panose="02020603050405020304" pitchFamily="18" charset="0"/>
              </a:rPr>
              <a:t>•	Automates the exoplanet detection workflow. </a:t>
            </a:r>
          </a:p>
          <a:p>
            <a:r>
              <a:rPr lang="en-IN" b="1" dirty="0">
                <a:solidFill>
                  <a:schemeClr val="bg1"/>
                </a:solidFill>
                <a:latin typeface="Times New Roman" panose="02020603050405020304" pitchFamily="18" charset="0"/>
                <a:cs typeface="Times New Roman" panose="02020603050405020304" pitchFamily="18" charset="0"/>
              </a:rPr>
              <a:t>•	Reduces manual effort in data analysis. </a:t>
            </a:r>
          </a:p>
          <a:p>
            <a:r>
              <a:rPr lang="en-IN" b="1" dirty="0">
                <a:solidFill>
                  <a:schemeClr val="bg1"/>
                </a:solidFill>
                <a:latin typeface="Times New Roman" panose="02020603050405020304" pitchFamily="18" charset="0"/>
                <a:cs typeface="Times New Roman" panose="02020603050405020304" pitchFamily="18" charset="0"/>
              </a:rPr>
              <a:t>•	Reduces false positives during candidate identification. </a:t>
            </a:r>
          </a:p>
          <a:p>
            <a:r>
              <a:rPr lang="en-IN" b="1" dirty="0">
                <a:solidFill>
                  <a:schemeClr val="bg1"/>
                </a:solidFill>
                <a:latin typeface="Times New Roman" panose="02020603050405020304" pitchFamily="18" charset="0"/>
                <a:cs typeface="Times New Roman" panose="02020603050405020304" pitchFamily="18" charset="0"/>
              </a:rPr>
              <a:t>•	Handles large datasets efficiently. </a:t>
            </a:r>
          </a:p>
          <a:p>
            <a:r>
              <a:rPr lang="en-IN" b="1" dirty="0">
                <a:solidFill>
                  <a:schemeClr val="bg1"/>
                </a:solidFill>
                <a:latin typeface="Times New Roman" panose="02020603050405020304" pitchFamily="18" charset="0"/>
                <a:cs typeface="Times New Roman" panose="02020603050405020304" pitchFamily="18" charset="0"/>
              </a:rPr>
              <a:t>•	Improves interpretability using XAI. </a:t>
            </a:r>
          </a:p>
          <a:p>
            <a:r>
              <a:rPr lang="en-IN" b="1" dirty="0">
                <a:solidFill>
                  <a:schemeClr val="bg1"/>
                </a:solidFill>
                <a:latin typeface="Times New Roman" panose="02020603050405020304" pitchFamily="18" charset="0"/>
                <a:cs typeface="Times New Roman" panose="02020603050405020304" pitchFamily="18" charset="0"/>
              </a:rPr>
              <a:t>•	Generates automated scientific reports. </a:t>
            </a:r>
          </a:p>
          <a:p>
            <a:r>
              <a:rPr lang="en-IN" b="1" dirty="0">
                <a:solidFill>
                  <a:schemeClr val="bg1"/>
                </a:solidFill>
                <a:latin typeface="Times New Roman" panose="02020603050405020304" pitchFamily="18" charset="0"/>
                <a:cs typeface="Times New Roman" panose="02020603050405020304" pitchFamily="18" charset="0"/>
              </a:rPr>
              <a:t>•	Accelerates exoplanet discovery. </a:t>
            </a:r>
          </a:p>
          <a:p>
            <a:endParaRPr lang="en-IN"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One-line Scope:</a:t>
            </a:r>
          </a:p>
          <a:p>
            <a:r>
              <a:rPr lang="en-US" dirty="0" err="1">
                <a:solidFill>
                  <a:schemeClr val="bg1"/>
                </a:solidFill>
                <a:latin typeface="Times New Roman" panose="02020603050405020304" pitchFamily="18" charset="0"/>
                <a:cs typeface="Times New Roman" panose="02020603050405020304" pitchFamily="18" charset="0"/>
              </a:rPr>
              <a:t>LuNaVision</a:t>
            </a:r>
            <a:r>
              <a:rPr lang="en-US" dirty="0">
                <a:solidFill>
                  <a:schemeClr val="bg1"/>
                </a:solidFill>
                <a:latin typeface="Times New Roman" panose="02020603050405020304" pitchFamily="18" charset="0"/>
                <a:cs typeface="Times New Roman" panose="02020603050405020304" pitchFamily="18" charset="0"/>
              </a:rPr>
              <a:t> AI can be used as an intelligent assistance system for astronomers and space-research applications to automatically </a:t>
            </a:r>
            <a:r>
              <a:rPr lang="en-US" dirty="0" err="1">
                <a:solidFill>
                  <a:schemeClr val="bg1"/>
                </a:solidFill>
                <a:latin typeface="Times New Roman" panose="02020603050405020304" pitchFamily="18" charset="0"/>
                <a:cs typeface="Times New Roman" panose="02020603050405020304" pitchFamily="18" charset="0"/>
              </a:rPr>
              <a:t>analyse</a:t>
            </a:r>
            <a:r>
              <a:rPr lang="en-US" dirty="0">
                <a:solidFill>
                  <a:schemeClr val="bg1"/>
                </a:solidFill>
                <a:latin typeface="Times New Roman" panose="02020603050405020304" pitchFamily="18" charset="0"/>
                <a:cs typeface="Times New Roman" panose="02020603050405020304" pitchFamily="18" charset="0"/>
              </a:rPr>
              <a:t> TESS observations and identify potential exoplanet candidates.</a:t>
            </a:r>
          </a:p>
          <a:p>
            <a:endParaRPr lang="en-IN"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125046"/>
            <a:ext cx="10515600" cy="476739"/>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EXISTING SYSTEM</a:t>
            </a:r>
            <a:endParaRPr lang="en-US" sz="3200" dirty="0"/>
          </a:p>
        </p:txBody>
      </p:sp>
      <p:sp>
        <p:nvSpPr>
          <p:cNvPr id="4" name="Text 2"/>
          <p:cNvSpPr/>
          <p:nvPr/>
        </p:nvSpPr>
        <p:spPr>
          <a:xfrm>
            <a:off x="548640" y="1783080"/>
            <a:ext cx="11064240" cy="3931920"/>
          </a:xfrm>
          <a:prstGeom prst="rect">
            <a:avLst/>
          </a:prstGeom>
          <a:noFill/>
          <a:ln/>
        </p:spPr>
        <p:txBody>
          <a:bodyPr wrap="square" rtlCol="0" anchor="t"/>
          <a:lstStyle/>
          <a:p>
            <a:pPr>
              <a:spcAft>
                <a:spcPts val="1600"/>
              </a:spcAft>
              <a:buSzPct val="100000"/>
            </a:pPr>
            <a:endParaRPr lang="en-US" sz="1800" dirty="0">
              <a:solidFill>
                <a:schemeClr val="bg1"/>
              </a:solidFill>
            </a:endParaRPr>
          </a:p>
        </p:txBody>
      </p:sp>
      <p:sp>
        <p:nvSpPr>
          <p:cNvPr id="5" name="Text 3"/>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05</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59F25801-5C3B-6CE2-65E5-CFBFC50C7280}"/>
              </a:ext>
            </a:extLst>
          </p:cNvPr>
          <p:cNvSpPr txBox="1"/>
          <p:nvPr/>
        </p:nvSpPr>
        <p:spPr>
          <a:xfrm>
            <a:off x="715030" y="711201"/>
            <a:ext cx="11199602" cy="5632311"/>
          </a:xfrm>
          <a:prstGeom prst="rect">
            <a:avLst/>
          </a:prstGeom>
          <a:noFill/>
        </p:spPr>
        <p:txBody>
          <a:bodyPr wrap="square">
            <a:spAutoFit/>
          </a:bodyPr>
          <a:lstStyle/>
          <a:p>
            <a:r>
              <a:rPr lang="en-IN" b="1" dirty="0">
                <a:solidFill>
                  <a:schemeClr val="bg1"/>
                </a:solidFill>
                <a:latin typeface="Times New Roman" panose="02020603050405020304" pitchFamily="18" charset="0"/>
                <a:cs typeface="Times New Roman" panose="02020603050405020304" pitchFamily="18" charset="0"/>
              </a:rPr>
              <a:t>A CNN-Based Ensemble Model for Exoplanet Detection</a:t>
            </a:r>
            <a:endParaRPr lang="en-IN" dirty="0">
              <a:solidFill>
                <a:schemeClr val="bg1"/>
              </a:solidFill>
              <a:latin typeface="Times New Roman" panose="02020603050405020304" pitchFamily="18" charset="0"/>
              <a:cs typeface="Times New Roman" panose="02020603050405020304" pitchFamily="18" charset="0"/>
            </a:endParaRPr>
          </a:p>
          <a:p>
            <a:endParaRPr lang="en-IN" b="1"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Existing Approach: </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Uses stellar flux (light intensity) for exoplanet detection. </a:t>
            </a:r>
          </a:p>
          <a:p>
            <a:r>
              <a:rPr lang="en-IN" dirty="0">
                <a:solidFill>
                  <a:schemeClr val="bg1"/>
                </a:solidFill>
                <a:latin typeface="Times New Roman" panose="02020603050405020304" pitchFamily="18" charset="0"/>
                <a:cs typeface="Times New Roman" panose="02020603050405020304" pitchFamily="18" charset="0"/>
              </a:rPr>
              <a:t>•	Applies multiple Machine Learning and Deep Learning models. </a:t>
            </a:r>
          </a:p>
          <a:p>
            <a:r>
              <a:rPr lang="en-IN" dirty="0">
                <a:solidFill>
                  <a:schemeClr val="bg1"/>
                </a:solidFill>
                <a:latin typeface="Times New Roman" panose="02020603050405020304" pitchFamily="18" charset="0"/>
                <a:cs typeface="Times New Roman" panose="02020603050405020304" pitchFamily="18" charset="0"/>
              </a:rPr>
              <a:t>•	Uses CNN-based ensemble learning for classification. </a:t>
            </a:r>
          </a:p>
          <a:p>
            <a:r>
              <a:rPr lang="en-IN" dirty="0">
                <a:solidFill>
                  <a:schemeClr val="bg1"/>
                </a:solidFill>
                <a:latin typeface="Times New Roman" panose="02020603050405020304" pitchFamily="18" charset="0"/>
                <a:cs typeface="Times New Roman" panose="02020603050405020304" pitchFamily="18" charset="0"/>
              </a:rPr>
              <a:t>•	Evaluates models using Accuracy, Precision, Sensitivity and Specificity. </a:t>
            </a:r>
          </a:p>
          <a:p>
            <a:r>
              <a:rPr lang="en-IN" dirty="0">
                <a:solidFill>
                  <a:schemeClr val="bg1"/>
                </a:solidFill>
                <a:latin typeface="Times New Roman" panose="02020603050405020304" pitchFamily="18" charset="0"/>
                <a:cs typeface="Times New Roman" panose="02020603050405020304" pitchFamily="18" charset="0"/>
              </a:rPr>
              <a:t>•	The proposed Ensemble-CNN achieved 99.62% accuracy in the study. </a:t>
            </a:r>
          </a:p>
          <a:p>
            <a:endParaRPr lang="en-IN"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Existing System Workflow:</a:t>
            </a:r>
          </a:p>
          <a:p>
            <a:r>
              <a:rPr lang="en-IN" b="1" dirty="0">
                <a:solidFill>
                  <a:schemeClr val="bg1"/>
                </a:solidFill>
                <a:latin typeface="Times New Roman" panose="02020603050405020304" pitchFamily="18" charset="0"/>
                <a:cs typeface="Times New Roman" panose="02020603050405020304" pitchFamily="18" charset="0"/>
              </a:rPr>
              <a:t>   Stellar Light Intensity → Data Processing → ML/DL Models → Ensemble-CNN → Exoplanet Classification</a:t>
            </a:r>
            <a:endParaRPr lang="en-IN" dirty="0">
              <a:solidFill>
                <a:schemeClr val="bg1"/>
              </a:solidFill>
              <a:latin typeface="Times New Roman" panose="02020603050405020304" pitchFamily="18" charset="0"/>
              <a:cs typeface="Times New Roman" panose="02020603050405020304" pitchFamily="18" charset="0"/>
            </a:endParaRPr>
          </a:p>
          <a:p>
            <a:endParaRPr lang="en-IN" b="1"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Limitations :</a:t>
            </a:r>
          </a:p>
          <a:p>
            <a:pPr lvl="0"/>
            <a:r>
              <a:rPr lang="en-US" dirty="0">
                <a:solidFill>
                  <a:schemeClr val="bg1"/>
                </a:solidFill>
                <a:latin typeface="Times New Roman" panose="02020603050405020304" pitchFamily="18" charset="0"/>
                <a:cs typeface="Times New Roman" panose="02020603050405020304" pitchFamily="18" charset="0"/>
              </a:rPr>
              <a:t>•  Mainly focuses on exoplanet classification. </a:t>
            </a:r>
          </a:p>
          <a:p>
            <a:pPr lvl="0"/>
            <a:r>
              <a:rPr lang="en-US" dirty="0">
                <a:solidFill>
                  <a:schemeClr val="bg1"/>
                </a:solidFill>
                <a:latin typeface="Times New Roman" panose="02020603050405020304" pitchFamily="18" charset="0"/>
                <a:cs typeface="Times New Roman" panose="02020603050405020304" pitchFamily="18" charset="0"/>
              </a:rPr>
              <a:t>•  Does not provide a complete automated end-to-end discovery pipeline. </a:t>
            </a:r>
          </a:p>
          <a:p>
            <a:pPr lvl="0"/>
            <a:r>
              <a:rPr lang="en-US" dirty="0">
                <a:solidFill>
                  <a:schemeClr val="bg1"/>
                </a:solidFill>
                <a:latin typeface="Times New Roman" panose="02020603050405020304" pitchFamily="18" charset="0"/>
                <a:cs typeface="Times New Roman" panose="02020603050405020304" pitchFamily="18" charset="0"/>
              </a:rPr>
              <a:t>•  Does not cover all stages such as data acquisition, orbital parameter estimation, XAI and automated scientific reporting. </a:t>
            </a:r>
          </a:p>
          <a:p>
            <a:pPr lvl="0"/>
            <a:endParaRPr lang="en-IN"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Problem :</a:t>
            </a:r>
          </a:p>
          <a:p>
            <a:r>
              <a:rPr lang="en-IN"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Need for an automated, scalable, and interpretable end-to-end exoplanet discovery pipeline.</a:t>
            </a:r>
            <a:endParaRPr lang="en-IN"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33957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PROPOSED SYSTEM</a:t>
            </a:r>
            <a:endParaRPr lang="en-US" sz="3200" dirty="0"/>
          </a:p>
        </p:txBody>
      </p:sp>
      <p:sp>
        <p:nvSpPr>
          <p:cNvPr id="4" name="Text 2"/>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06</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2" name="TextBox 1">
            <a:extLst>
              <a:ext uri="{FF2B5EF4-FFF2-40B4-BE49-F238E27FC236}">
                <a16:creationId xmlns:a16="http://schemas.microsoft.com/office/drawing/2014/main" id="{28C5E47C-CB08-2C89-6699-7F53F1A5D486}"/>
              </a:ext>
            </a:extLst>
          </p:cNvPr>
          <p:cNvSpPr txBox="1"/>
          <p:nvPr/>
        </p:nvSpPr>
        <p:spPr>
          <a:xfrm>
            <a:off x="1109785" y="1233726"/>
            <a:ext cx="8934882" cy="5355312"/>
          </a:xfrm>
          <a:prstGeom prst="rect">
            <a:avLst/>
          </a:prstGeom>
          <a:noFill/>
        </p:spPr>
        <p:txBody>
          <a:bodyPr wrap="none" rtlCol="0">
            <a:spAutoFit/>
          </a:bodyPr>
          <a:lstStyle/>
          <a:p>
            <a:r>
              <a:rPr lang="en-IN" b="1" dirty="0" err="1">
                <a:solidFill>
                  <a:schemeClr val="bg1"/>
                </a:solidFill>
                <a:latin typeface="Times New Roman" panose="02020603050405020304" pitchFamily="18" charset="0"/>
                <a:cs typeface="Times New Roman" panose="02020603050405020304" pitchFamily="18" charset="0"/>
              </a:rPr>
              <a:t>LuNaVision</a:t>
            </a:r>
            <a:r>
              <a:rPr lang="en-IN" b="1" dirty="0">
                <a:solidFill>
                  <a:schemeClr val="bg1"/>
                </a:solidFill>
                <a:latin typeface="Times New Roman" panose="02020603050405020304" pitchFamily="18" charset="0"/>
                <a:cs typeface="Times New Roman" panose="02020603050405020304" pitchFamily="18" charset="0"/>
              </a:rPr>
              <a:t> AI</a:t>
            </a:r>
          </a:p>
          <a:p>
            <a:r>
              <a:rPr lang="en-IN" dirty="0">
                <a:solidFill>
                  <a:schemeClr val="bg1"/>
                </a:solidFill>
                <a:latin typeface="Times New Roman" panose="02020603050405020304" pitchFamily="18" charset="0"/>
                <a:cs typeface="Times New Roman" panose="02020603050405020304" pitchFamily="18" charset="0"/>
              </a:rPr>
              <a:t>An intelligent multi-agent pipeline that automates the complete exoplanet discovery workflow.</a:t>
            </a:r>
          </a:p>
          <a:p>
            <a:endParaRPr lang="en-IN"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Workflow :</a:t>
            </a:r>
          </a:p>
          <a:p>
            <a:endParaRPr lang="en-IN" b="1" dirty="0">
              <a:solidFill>
                <a:schemeClr val="bg1"/>
              </a:solidFill>
              <a:latin typeface="Times New Roman" panose="02020603050405020304" pitchFamily="18" charset="0"/>
              <a:cs typeface="Times New Roman" panose="02020603050405020304" pitchFamily="18" charset="0"/>
            </a:endParaRPr>
          </a:p>
          <a:p>
            <a:pPr algn="ctr"/>
            <a:r>
              <a:rPr lang="en-IN" dirty="0">
                <a:solidFill>
                  <a:schemeClr val="bg1"/>
                </a:solidFill>
                <a:latin typeface="Times New Roman" panose="02020603050405020304" pitchFamily="18" charset="0"/>
                <a:cs typeface="Times New Roman" panose="02020603050405020304" pitchFamily="18" charset="0"/>
              </a:rPr>
              <a:t>TESS Data</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Preprocessing &amp; Noise Reduction</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Transit Detection</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Exoplanet Classification</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Orbital Parameter Estimation</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XAI Interpretation</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Scientific Report</a:t>
            </a:r>
          </a:p>
          <a:p>
            <a:endParaRPr lang="en-IN"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DDB3217A-0290-2C5F-C030-D333C6F1ADA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75757F4-BF7B-7E87-E10D-9CD97E487567}"/>
              </a:ext>
            </a:extLst>
          </p:cNvPr>
          <p:cNvSpPr/>
          <p:nvPr/>
        </p:nvSpPr>
        <p:spPr>
          <a:xfrm>
            <a:off x="548640" y="347394"/>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PROPOSED SYSTEM</a:t>
            </a:r>
            <a:endParaRPr lang="en-US" sz="3200" dirty="0"/>
          </a:p>
        </p:txBody>
      </p:sp>
      <p:sp>
        <p:nvSpPr>
          <p:cNvPr id="4" name="Text 2">
            <a:extLst>
              <a:ext uri="{FF2B5EF4-FFF2-40B4-BE49-F238E27FC236}">
                <a16:creationId xmlns:a16="http://schemas.microsoft.com/office/drawing/2014/main" id="{8AD8D7DE-EF33-4444-7DB6-4EDAF35F23F9}"/>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87B09375-4718-00FB-8528-222952834B55}"/>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07</a:t>
            </a:r>
            <a:endParaRPr lang="en-US" sz="1100" dirty="0"/>
          </a:p>
        </p:txBody>
      </p:sp>
      <p:sp>
        <p:nvSpPr>
          <p:cNvPr id="100" name="Footer">
            <a:extLst>
              <a:ext uri="{FF2B5EF4-FFF2-40B4-BE49-F238E27FC236}">
                <a16:creationId xmlns:a16="http://schemas.microsoft.com/office/drawing/2014/main" id="{7E053DD4-C475-1011-6941-88654992FB35}"/>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607FAF25-3910-7915-B426-393CBFC6D905}"/>
              </a:ext>
            </a:extLst>
          </p:cNvPr>
          <p:cNvSpPr txBox="1"/>
          <p:nvPr/>
        </p:nvSpPr>
        <p:spPr>
          <a:xfrm>
            <a:off x="1781907" y="1298586"/>
            <a:ext cx="6096000" cy="3416320"/>
          </a:xfrm>
          <a:prstGeom prst="rect">
            <a:avLst/>
          </a:prstGeom>
          <a:noFill/>
        </p:spPr>
        <p:txBody>
          <a:bodyPr wrap="square">
            <a:spAutoFit/>
          </a:bodyPr>
          <a:lstStyle/>
          <a:p>
            <a:pPr>
              <a:buNone/>
            </a:pPr>
            <a:r>
              <a:rPr lang="en-IN" b="1" dirty="0">
                <a:solidFill>
                  <a:schemeClr val="bg1"/>
                </a:solidFill>
                <a:latin typeface="Times New Roman" panose="02020603050405020304" pitchFamily="18" charset="0"/>
                <a:cs typeface="Times New Roman" panose="02020603050405020304" pitchFamily="18" charset="0"/>
              </a:rPr>
              <a:t>Key Technologies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Multi-Agent Systems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ML &amp; Deep Learning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LLMs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XAI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Time-Series Analysis </a:t>
            </a:r>
          </a:p>
          <a:p>
            <a:pPr lvl="0"/>
            <a:endParaRPr lang="en-IN" dirty="0">
              <a:solidFill>
                <a:schemeClr val="bg1"/>
              </a:solidFill>
              <a:latin typeface="Times New Roman" panose="02020603050405020304" pitchFamily="18" charset="0"/>
              <a:cs typeface="Times New Roman" panose="02020603050405020304" pitchFamily="18" charset="0"/>
            </a:endParaRPr>
          </a:p>
          <a:p>
            <a:pPr>
              <a:buNone/>
            </a:pPr>
            <a:r>
              <a:rPr lang="en-IN" b="1" dirty="0">
                <a:solidFill>
                  <a:schemeClr val="bg1"/>
                </a:solidFill>
                <a:latin typeface="Times New Roman" panose="02020603050405020304" pitchFamily="18" charset="0"/>
                <a:cs typeface="Times New Roman" panose="02020603050405020304" pitchFamily="18" charset="0"/>
              </a:rPr>
              <a:t>Advantages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End-to-end automation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Reduced manual effort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Fewer false positives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Scalable &amp; interpretable </a:t>
            </a:r>
          </a:p>
        </p:txBody>
      </p:sp>
    </p:spTree>
    <p:extLst>
      <p:ext uri="{BB962C8B-B14F-4D97-AF65-F5344CB8AC3E}">
        <p14:creationId xmlns:p14="http://schemas.microsoft.com/office/powerpoint/2010/main" val="1142934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242277"/>
            <a:ext cx="10515600" cy="640861"/>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LITERATURE SURVEY</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684467993"/>
              </p:ext>
            </p:extLst>
          </p:nvPr>
        </p:nvGraphicFramePr>
        <p:xfrm>
          <a:off x="457200" y="1031631"/>
          <a:ext cx="11247120" cy="5109516"/>
        </p:xfrm>
        <a:graphic>
          <a:graphicData uri="http://schemas.openxmlformats.org/drawingml/2006/table">
            <a:tbl>
              <a:tblPr/>
              <a:tblGrid>
                <a:gridCol w="640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1831571">
                  <a:extLst>
                    <a:ext uri="{9D8B030D-6E8A-4147-A177-3AD203B41FA5}">
                      <a16:colId xmlns:a16="http://schemas.microsoft.com/office/drawing/2014/main" val="20005"/>
                    </a:ext>
                  </a:extLst>
                </a:gridCol>
                <a:gridCol w="2283229">
                  <a:extLst>
                    <a:ext uri="{9D8B030D-6E8A-4147-A177-3AD203B41FA5}">
                      <a16:colId xmlns:a16="http://schemas.microsoft.com/office/drawing/2014/main" val="20006"/>
                    </a:ext>
                  </a:extLst>
                </a:gridCol>
              </a:tblGrid>
              <a:tr h="825018">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S.No</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Title</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Journal Name</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Year</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Methodology Used</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Pros and Cons</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825018">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1</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Exoplanet Imaging via Differentiable Rendering</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Brandon Y. Feng, Rodrigo Ferrer-Chávez, Aviad Levis, William T. Freeman, Jason J. Wang</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International Journal of Data Science and Analytics (Springer)</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2025</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Differentiable Rendering</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lvl="0"/>
                      <a:r>
                        <a:rPr lang="en-IN" sz="1100" b="1" dirty="0">
                          <a:solidFill>
                            <a:schemeClr val="bg1"/>
                          </a:solidFill>
                          <a:latin typeface="Times New Roman" panose="02020603050405020304" pitchFamily="18" charset="0"/>
                          <a:cs typeface="Times New Roman" panose="02020603050405020304" pitchFamily="18" charset="0"/>
                        </a:rPr>
                        <a:t>Pros:</a:t>
                      </a:r>
                      <a:r>
                        <a:rPr lang="en-IN" sz="1100" dirty="0">
                          <a:solidFill>
                            <a:schemeClr val="bg1"/>
                          </a:solidFill>
                          <a:latin typeface="Times New Roman" panose="02020603050405020304" pitchFamily="18" charset="0"/>
                          <a:cs typeface="Times New Roman" panose="02020603050405020304" pitchFamily="18" charset="0"/>
                        </a:rPr>
                        <a:t> Better contrast; improves faint-planet detection; uses wavefront data. </a:t>
                      </a:r>
                      <a:r>
                        <a:rPr lang="en-IN" sz="1100" b="1" dirty="0">
                          <a:solidFill>
                            <a:schemeClr val="bg1"/>
                          </a:solidFill>
                          <a:latin typeface="Times New Roman" panose="02020603050405020304" pitchFamily="18" charset="0"/>
                          <a:cs typeface="Times New Roman" panose="02020603050405020304" pitchFamily="18" charset="0"/>
                        </a:rPr>
                        <a:t>Cons:</a:t>
                      </a:r>
                      <a:r>
                        <a:rPr lang="en-IN" sz="1100" dirty="0">
                          <a:solidFill>
                            <a:schemeClr val="bg1"/>
                          </a:solidFill>
                          <a:latin typeface="Times New Roman" panose="02020603050405020304" pitchFamily="18" charset="0"/>
                          <a:cs typeface="Times New Roman" panose="02020603050405020304" pitchFamily="18" charset="0"/>
                        </a:rPr>
                        <a:t> High complexity; simulation-based; depends on wavefront data.</a:t>
                      </a:r>
                      <a:endParaRPr lang="en-US" sz="1100" dirty="0">
                        <a:solidFill>
                          <a:schemeClr val="bg1"/>
                        </a:solidFill>
                        <a:latin typeface="Times New Roman" panose="02020603050405020304" pitchFamily="18" charset="0"/>
                        <a:ea typeface="Times New Roman" pitchFamily="34" charset="-122"/>
                        <a:cs typeface="Times New Roman" panose="02020603050405020304" pitchFamily="18"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1"/>
                  </a:ext>
                </a:extLst>
              </a:tr>
              <a:tr h="1053214">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Light intensity of stars for exoplanet detection</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s-ES" sz="1100" dirty="0">
                          <a:solidFill>
                            <a:srgbClr val="FFFFFF"/>
                          </a:solidFill>
                          <a:latin typeface="Times New Roman" pitchFamily="34" charset="0"/>
                          <a:ea typeface="Times New Roman" pitchFamily="34" charset="-122"/>
                          <a:cs typeface="Times New Roman" pitchFamily="34" charset="-120"/>
                        </a:rPr>
                        <a:t>Jara-Maldonado, M. et al</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IEEE Region 10 Symposium (TENSYMP)</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2022</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KNN + SMOTE</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High accuracy; handles class imbalance; works with limited observations. </a:t>
                      </a:r>
                    </a:p>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Cons: Limited dataset; performance decreases with less data; mainly classification-focused.</a:t>
                      </a: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2"/>
                  </a:ext>
                </a:extLst>
              </a:tr>
              <a:tr h="1214122">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3</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Feature extraction for exoplanet detection</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pt-BR" sz="1100" dirty="0">
                          <a:solidFill>
                            <a:srgbClr val="FFFFFF"/>
                          </a:solidFill>
                          <a:latin typeface="Times New Roman" pitchFamily="34" charset="0"/>
                          <a:ea typeface="Times New Roman" pitchFamily="34" charset="-122"/>
                          <a:cs typeface="Times New Roman" pitchFamily="34" charset="-120"/>
                        </a:rPr>
                        <a:t>Pimentel J, Amorim J, Rudzicz</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International Journal of Data Science and Analytics (Springer)</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2024</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FFFFFF"/>
                          </a:solidFill>
                          <a:latin typeface="Times New Roman" pitchFamily="34" charset="0"/>
                          <a:ea typeface="Times New Roman" pitchFamily="34" charset="-122"/>
                          <a:cs typeface="Times New Roman" pitchFamily="34" charset="-120"/>
                        </a:rPr>
                        <a:t>Feature Extraction</a:t>
                      </a:r>
                      <a:endParaRPr lang="en-US" sz="1100" dirty="0">
                        <a:latin typeface="Times New Roman" charset="0"/>
                        <a:ea typeface="Times New Roman" charset="0"/>
                        <a:cs typeface="Times New Roman" charset="0"/>
                      </a:endParaRPr>
                    </a:p>
                    <a:p>
                      <a:pPr marL="0" indent="0" algn="l">
                        <a:buNone/>
                      </a:pP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Uses multiple feature domains; strong classification performance; reduces dataset bias through cross-validation. </a:t>
                      </a:r>
                    </a:p>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Cons: Depends on preprocessing; requires feature engineering; feature importance needs further analysis.</a:t>
                      </a: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3"/>
                  </a:ext>
                </a:extLst>
              </a:tr>
              <a:tr h="867390">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4</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Scientific domain knowledge &amp; deep learning</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nb-NO" sz="1100" dirty="0">
                          <a:solidFill>
                            <a:srgbClr val="FFFFFF"/>
                          </a:solidFill>
                          <a:latin typeface="Times New Roman" pitchFamily="34" charset="0"/>
                          <a:ea typeface="Times New Roman" pitchFamily="34" charset="-122"/>
                          <a:cs typeface="Times New Roman" pitchFamily="34" charset="-120"/>
                        </a:rPr>
                        <a:t>Ansdell, M. et al</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The Astrophysical Journal Letters (IOP / AAS)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2018</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Domain-Informed DL</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Improves accuracy and recall; better detection of low-SNR transits; supports smaller models. </a:t>
                      </a:r>
                    </a:p>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Cons: Needs additional input data; requires centroid information; risk of overfitting.</a:t>
                      </a: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4"/>
                  </a:ext>
                </a:extLst>
              </a:tr>
            </a:tbl>
          </a:graphicData>
        </a:graphic>
      </p:graphicFrame>
      <p:sp>
        <p:nvSpPr>
          <p:cNvPr id="5" name="Text 2"/>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08</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B46737C8-BF9F-5BD8-4686-18D2BAB5796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0BE77CD-31C0-944C-8681-10BACDAC29D5}"/>
              </a:ext>
            </a:extLst>
          </p:cNvPr>
          <p:cNvSpPr/>
          <p:nvPr/>
        </p:nvSpPr>
        <p:spPr>
          <a:xfrm>
            <a:off x="548640" y="78154"/>
            <a:ext cx="10515600" cy="664855"/>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LITERATURE SURVEY</a:t>
            </a:r>
            <a:endParaRPr lang="en-US" sz="3200" dirty="0"/>
          </a:p>
        </p:txBody>
      </p:sp>
      <p:graphicFrame>
        <p:nvGraphicFramePr>
          <p:cNvPr id="8" name="Table 0">
            <a:extLst>
              <a:ext uri="{FF2B5EF4-FFF2-40B4-BE49-F238E27FC236}">
                <a16:creationId xmlns:a16="http://schemas.microsoft.com/office/drawing/2014/main" id="{C37C2FE0-0048-722C-D637-41914AE15B76}"/>
              </a:ext>
            </a:extLst>
          </p:cNvPr>
          <p:cNvGraphicFramePr>
            <a:graphicFrameLocks noGrp="1"/>
          </p:cNvGraphicFramePr>
          <p:nvPr>
            <p:extLst>
              <p:ext uri="{D42A27DB-BD31-4B8C-83A1-F6EECF244321}">
                <p14:modId xmlns:p14="http://schemas.microsoft.com/office/powerpoint/2010/main" val="3925293714"/>
              </p:ext>
            </p:extLst>
          </p:nvPr>
        </p:nvGraphicFramePr>
        <p:xfrm>
          <a:off x="472440" y="928233"/>
          <a:ext cx="11247120" cy="5248656"/>
        </p:xfrm>
        <a:graphic>
          <a:graphicData uri="http://schemas.openxmlformats.org/drawingml/2006/table">
            <a:tbl>
              <a:tblPr/>
              <a:tblGrid>
                <a:gridCol w="640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gridCol w="2286000">
                  <a:extLst>
                    <a:ext uri="{9D8B030D-6E8A-4147-A177-3AD203B41FA5}">
                      <a16:colId xmlns:a16="http://schemas.microsoft.com/office/drawing/2014/main" val="20006"/>
                    </a:ext>
                  </a:extLst>
                </a:gridCol>
              </a:tblGrid>
              <a:tr h="859536">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S.No</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Title</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Journal Name</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Year</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Methodology Used</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Pros and Cons</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859536">
                <a:tc>
                  <a:txBody>
                    <a:bodyPr/>
                    <a:lstStyle/>
                    <a:p>
                      <a:pPr marL="0" indent="0" algn="ctr">
                        <a:buNone/>
                      </a:pPr>
                      <a:r>
                        <a:rPr lang="en-US" sz="1100" dirty="0">
                          <a:solidFill>
                            <a:srgbClr val="FFFFFF"/>
                          </a:solidFill>
                          <a:latin typeface="Times New Roman" pitchFamily="34" charset="0"/>
                          <a:ea typeface="Times New Roman" charset="0"/>
                          <a:cs typeface="Times New Roman" pitchFamily="34" charset="-120"/>
                        </a:rPr>
                        <a:t>5</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A CNN-based ensemble model for exoplanet detection.</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pt-BR" sz="1100" dirty="0">
                          <a:solidFill>
                            <a:srgbClr val="FFFFFF"/>
                          </a:solidFill>
                          <a:latin typeface="Times New Roman" pitchFamily="34" charset="0"/>
                          <a:ea typeface="Times New Roman" pitchFamily="34" charset="-122"/>
                          <a:cs typeface="Times New Roman" pitchFamily="34" charset="-120"/>
                        </a:rPr>
                        <a:t>Priyadarshini I, Puri V</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Earth Science Informatics (Springer)</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2021</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Ensemble-CNN</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High detection accuracy; improves model performance; combines multiple models. </a:t>
                      </a:r>
                    </a:p>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Cons: Higher complexity; increased computational cost; mainly classification-focused.</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1"/>
                  </a:ext>
                </a:extLst>
              </a:tr>
              <a:tr h="859536">
                <a:tc>
                  <a:txBody>
                    <a:bodyPr/>
                    <a:lstStyle/>
                    <a:p>
                      <a:pPr marL="0" indent="0" algn="ctr">
                        <a:buNone/>
                      </a:pPr>
                      <a:r>
                        <a:rPr lang="en-US" sz="1100" dirty="0">
                          <a:solidFill>
                            <a:srgbClr val="FFFFFF"/>
                          </a:solidFill>
                          <a:latin typeface="Times New Roman" pitchFamily="34" charset="0"/>
                          <a:ea typeface="Times New Roman" charset="0"/>
                          <a:cs typeface="Times New Roman" pitchFamily="34" charset="-120"/>
                        </a:rPr>
                        <a:t>6</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Identifying Exoplanets with Deep Learning IV: Removing stellar activity signals from RV data using neural networks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nl-NL" sz="1100" dirty="0">
                          <a:solidFill>
                            <a:srgbClr val="FFFFFF"/>
                          </a:solidFill>
                          <a:latin typeface="Times New Roman" pitchFamily="34" charset="0"/>
                          <a:ea typeface="Times New Roman" pitchFamily="34" charset="-122"/>
                          <a:cs typeface="Times New Roman" pitchFamily="34" charset="-120"/>
                        </a:rPr>
                        <a:t>de Beurs Z.L. et al</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The Astronomical Journal (IOP / AAS)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2022</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Neural Networks + Linear Regression</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Removes stellar activity signals; improves RV quality; validated with real observations. Cons: Requires spectral information; generalization needs further testing; RV-focused.</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2"/>
                  </a:ext>
                </a:extLst>
              </a:tr>
              <a:tr h="859536">
                <a:tc>
                  <a:txBody>
                    <a:bodyPr/>
                    <a:lstStyle/>
                    <a:p>
                      <a:pPr marL="0" indent="0" algn="ctr">
                        <a:buNone/>
                      </a:pPr>
                      <a:r>
                        <a:rPr lang="en-US" sz="1100" dirty="0">
                          <a:solidFill>
                            <a:srgbClr val="FFFFFF"/>
                          </a:solidFill>
                          <a:latin typeface="Times New Roman" pitchFamily="34" charset="0"/>
                          <a:ea typeface="Times New Roman" charset="0"/>
                          <a:cs typeface="Times New Roman" pitchFamily="34" charset="-120"/>
                        </a:rPr>
                        <a:t>7</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Discovering new worlds: signal processing methods for RV exoplanet detection. IEEE Signal Process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Khan, M.S., Jenkins, J., Yoma, N.B</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IEEE Signal Processing Magazine (Vol. 34, pp.104–115)</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2017</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Signal Processing</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Improves signal-to-noise ratio; provides statistical methods; useful for weak signals. </a:t>
                      </a:r>
                    </a:p>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Cons: Mainly RV-focused; relies on signal-processing techniques; not an automated AI pipeline.</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3"/>
                  </a:ext>
                </a:extLst>
              </a:tr>
              <a:tr h="859536">
                <a:tc>
                  <a:txBody>
                    <a:bodyPr/>
                    <a:lstStyle/>
                    <a:p>
                      <a:pPr marL="0" indent="0" algn="ctr">
                        <a:buNone/>
                      </a:pPr>
                      <a:r>
                        <a:rPr lang="en-US" sz="1100" dirty="0">
                          <a:solidFill>
                            <a:srgbClr val="FFFFFF"/>
                          </a:solidFill>
                          <a:latin typeface="Times New Roman" pitchFamily="34" charset="0"/>
                          <a:ea typeface="Times New Roman" charset="0"/>
                          <a:cs typeface="Times New Roman" pitchFamily="34" charset="-120"/>
                        </a:rPr>
                        <a:t>8</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Exoplanet detection methods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Wright, J.T., Gaudi, B.S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Book chapter — Planets, Stars and Stellar Systems, Vol. 3 (Springer Netherlands); also on </a:t>
                      </a:r>
                      <a:r>
                        <a:rPr lang="en-US" sz="1100" dirty="0" err="1">
                          <a:solidFill>
                            <a:srgbClr val="FFFFFF"/>
                          </a:solidFill>
                          <a:latin typeface="Times New Roman" pitchFamily="34" charset="0"/>
                          <a:ea typeface="Times New Roman" pitchFamily="34" charset="-122"/>
                          <a:cs typeface="Times New Roman" pitchFamily="34" charset="-120"/>
                        </a:rPr>
                        <a:t>arXiv</a:t>
                      </a:r>
                      <a:r>
                        <a:rPr lang="en-US" sz="1100" dirty="0">
                          <a:solidFill>
                            <a:srgbClr val="FFFFFF"/>
                          </a:solidFill>
                          <a:latin typeface="Times New Roman" pitchFamily="34" charset="0"/>
                          <a:ea typeface="Times New Roman" pitchFamily="34" charset="-122"/>
                          <a:cs typeface="Times New Roman" pitchFamily="34" charset="-120"/>
                        </a:rPr>
                        <a:t> (2012)</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2012</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Detection Methods Review</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Covers major detection methods; explains detection requirements; compares method sensitivity. Cons: Broad review; less focus on AI/ML; does not provide a new detection model.</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4"/>
                  </a:ext>
                </a:extLst>
              </a:tr>
            </a:tbl>
          </a:graphicData>
        </a:graphic>
      </p:graphicFrame>
      <p:sp>
        <p:nvSpPr>
          <p:cNvPr id="5" name="Text 2">
            <a:extLst>
              <a:ext uri="{FF2B5EF4-FFF2-40B4-BE49-F238E27FC236}">
                <a16:creationId xmlns:a16="http://schemas.microsoft.com/office/drawing/2014/main" id="{0815300E-CFBD-0580-E36D-17C53502FB69}"/>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09</a:t>
            </a:r>
            <a:endParaRPr lang="en-US" sz="1100" dirty="0"/>
          </a:p>
        </p:txBody>
      </p:sp>
      <p:sp>
        <p:nvSpPr>
          <p:cNvPr id="100" name="Footer">
            <a:extLst>
              <a:ext uri="{FF2B5EF4-FFF2-40B4-BE49-F238E27FC236}">
                <a16:creationId xmlns:a16="http://schemas.microsoft.com/office/drawing/2014/main" id="{5BA518B4-D53B-C920-B2C8-36F01878D0AB}"/>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Tree>
    <p:extLst>
      <p:ext uri="{BB962C8B-B14F-4D97-AF65-F5344CB8AC3E}">
        <p14:creationId xmlns:p14="http://schemas.microsoft.com/office/powerpoint/2010/main" val="974574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462671" y="157377"/>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MODULES AND METHODOLOGIES</a:t>
            </a:r>
            <a:endParaRPr lang="en-US" sz="3200" dirty="0"/>
          </a:p>
        </p:txBody>
      </p:sp>
      <p:sp>
        <p:nvSpPr>
          <p:cNvPr id="11" name="Text 9"/>
          <p:cNvSpPr/>
          <p:nvPr/>
        </p:nvSpPr>
        <p:spPr>
          <a:xfrm>
            <a:off x="868680" y="1844984"/>
            <a:ext cx="10424160" cy="4025464"/>
          </a:xfrm>
          <a:prstGeom prst="rect">
            <a:avLst/>
          </a:prstGeom>
          <a:noFill/>
          <a:ln/>
        </p:spPr>
        <p:txBody>
          <a:bodyPr wrap="square" rtlCol="0" anchor="t"/>
          <a:lstStyle/>
          <a:p>
            <a:pPr marL="0" indent="0">
              <a:buNone/>
            </a:pPr>
            <a:endParaRPr lang="en-US" sz="1400" dirty="0"/>
          </a:p>
        </p:txBody>
      </p:sp>
      <p:sp>
        <p:nvSpPr>
          <p:cNvPr id="12" name="Text 10"/>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cs typeface="Times New Roman" pitchFamily="34" charset="-120"/>
              </a:rPr>
              <a:t>10</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4" name="TextBox 3">
            <a:extLst>
              <a:ext uri="{FF2B5EF4-FFF2-40B4-BE49-F238E27FC236}">
                <a16:creationId xmlns:a16="http://schemas.microsoft.com/office/drawing/2014/main" id="{9296288D-EB98-2B8E-D0B3-2AE3351081B1}"/>
              </a:ext>
            </a:extLst>
          </p:cNvPr>
          <p:cNvSpPr txBox="1"/>
          <p:nvPr/>
        </p:nvSpPr>
        <p:spPr>
          <a:xfrm>
            <a:off x="1213729" y="722769"/>
            <a:ext cx="9247633" cy="5632311"/>
          </a:xfrm>
          <a:prstGeom prst="rect">
            <a:avLst/>
          </a:prstGeom>
          <a:noFill/>
        </p:spPr>
        <p:txBody>
          <a:bodyPr wrap="square">
            <a:spAutoFit/>
          </a:bodyPr>
          <a:lstStyle/>
          <a:p>
            <a:pPr>
              <a:lnSpc>
                <a:spcPct val="100000"/>
              </a:lnSpc>
              <a:spcAft>
                <a:spcPts val="400"/>
              </a:spcAft>
              <a:buNone/>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Modules :</a:t>
            </a:r>
          </a:p>
          <a:p>
            <a:pPr marL="285750" lvl="0" indent="-285750">
              <a:spcAft>
                <a:spcPts val="200"/>
              </a:spcAft>
              <a:buFont typeface="+mj-lt"/>
              <a:buAutoNum type="arabicPeriod"/>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Orchestrator Agent</a:t>
            </a:r>
            <a:br>
              <a:rPr lang="en-IN" sz="1400" dirty="0">
                <a:solidFill>
                  <a:schemeClr val="bg1"/>
                </a:solidFill>
                <a:latin typeface="Times New Roman" panose="02020603050405020304" pitchFamily="18" charset="0"/>
                <a:cs typeface="Times New Roman" panose="02020603050405020304" pitchFamily="18" charset="0"/>
              </a:rPr>
            </a:b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Coordinates every stage and logs the full pipeline run.</a:t>
            </a:r>
          </a:p>
          <a:p>
            <a:pPr marL="285750" lvl="0" indent="-285750">
              <a:spcAft>
                <a:spcPts val="200"/>
              </a:spcAft>
              <a:buFont typeface="+mj-lt"/>
              <a:buAutoNum type="arabicPeriod"/>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Data Acquisition Agent</a:t>
            </a:r>
            <a:br>
              <a:rPr lang="en-IN" sz="1400" dirty="0">
                <a:solidFill>
                  <a:schemeClr val="bg1"/>
                </a:solidFill>
                <a:latin typeface="Times New Roman" panose="02020603050405020304" pitchFamily="18" charset="0"/>
                <a:cs typeface="Times New Roman" panose="02020603050405020304" pitchFamily="18" charset="0"/>
              </a:rPr>
            </a:b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Downloads TESS FITS light curves and reference catalogs.</a:t>
            </a:r>
          </a:p>
          <a:p>
            <a:pPr marL="285750" lvl="0" indent="-285750">
              <a:spcAft>
                <a:spcPts val="200"/>
              </a:spcAft>
              <a:buFont typeface="+mj-lt"/>
              <a:buAutoNum type="arabicPeriod"/>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Preprocessing Agent</a:t>
            </a:r>
            <a:br>
              <a:rPr lang="en-IN" sz="1400" dirty="0">
                <a:solidFill>
                  <a:schemeClr val="bg1"/>
                </a:solidFill>
                <a:latin typeface="Times New Roman" panose="02020603050405020304" pitchFamily="18" charset="0"/>
                <a:cs typeface="Times New Roman" panose="02020603050405020304" pitchFamily="18" charset="0"/>
              </a:rPr>
            </a:b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Cleans, normalizes and detrends every light curve.</a:t>
            </a:r>
          </a:p>
          <a:p>
            <a:pPr marL="285750" lvl="0" indent="-285750">
              <a:spcAft>
                <a:spcPts val="200"/>
              </a:spcAft>
              <a:buFont typeface="+mj-lt"/>
              <a:buAutoNum type="arabicPeriod"/>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Transit Detection Agent</a:t>
            </a:r>
            <a:br>
              <a:rPr lang="en-IN" sz="1400" dirty="0">
                <a:solidFill>
                  <a:schemeClr val="bg1"/>
                </a:solidFill>
                <a:latin typeface="Times New Roman" panose="02020603050405020304" pitchFamily="18" charset="0"/>
                <a:cs typeface="Times New Roman" panose="02020603050405020304" pitchFamily="18" charset="0"/>
              </a:rPr>
            </a:b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Runs a BLS / TLS search to find repeating dip signals.</a:t>
            </a:r>
          </a:p>
          <a:p>
            <a:pPr marL="285750" lvl="0" indent="-285750">
              <a:spcAft>
                <a:spcPts val="200"/>
              </a:spcAft>
              <a:buFont typeface="+mj-lt"/>
              <a:buAutoNum type="arabicPeriod"/>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Feature Engineering Agent (GPU)</a:t>
            </a:r>
            <a:br>
              <a:rPr lang="en-IN" sz="1400" dirty="0">
                <a:solidFill>
                  <a:schemeClr val="bg1"/>
                </a:solidFill>
                <a:latin typeface="Times New Roman" panose="02020603050405020304" pitchFamily="18" charset="0"/>
                <a:cs typeface="Times New Roman" panose="02020603050405020304" pitchFamily="18" charset="0"/>
              </a:rPr>
            </a:b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Extracts 35+ features using CuPy / PyTorch acceleration.</a:t>
            </a:r>
          </a:p>
          <a:p>
            <a:pPr marL="285750" lvl="0" indent="-285750">
              <a:spcAft>
                <a:spcPts val="200"/>
              </a:spcAft>
              <a:buFont typeface="+mj-lt"/>
              <a:buAutoNum type="arabicPeriod"/>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Classification Agent</a:t>
            </a:r>
            <a:br>
              <a:rPr lang="en-IN" sz="1400" dirty="0">
                <a:solidFill>
                  <a:schemeClr val="bg1"/>
                </a:solidFill>
                <a:latin typeface="Times New Roman" panose="02020603050405020304" pitchFamily="18" charset="0"/>
                <a:cs typeface="Times New Roman" panose="02020603050405020304" pitchFamily="18" charset="0"/>
              </a:rPr>
            </a:b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Ensemble ML model assigns a calibrated planet probability.</a:t>
            </a:r>
          </a:p>
          <a:p>
            <a:pPr marL="285750" lvl="0" indent="-285750">
              <a:spcAft>
                <a:spcPts val="200"/>
              </a:spcAft>
              <a:buFont typeface="+mj-lt"/>
              <a:buAutoNum type="arabicPeriod"/>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Parameter Fitting Agent</a:t>
            </a:r>
            <a:br>
              <a:rPr lang="en-IN" sz="1400" dirty="0">
                <a:solidFill>
                  <a:schemeClr val="bg1"/>
                </a:solidFill>
                <a:latin typeface="Times New Roman" panose="02020603050405020304" pitchFamily="18" charset="0"/>
                <a:cs typeface="Times New Roman" panose="02020603050405020304" pitchFamily="18" charset="0"/>
              </a:rPr>
            </a:b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Estimates orbital parameters via batman + emcee MCMC.</a:t>
            </a:r>
          </a:p>
          <a:p>
            <a:pPr marL="285750" lvl="0" indent="-285750">
              <a:spcAft>
                <a:spcPts val="200"/>
              </a:spcAft>
              <a:buFont typeface="+mj-lt"/>
              <a:buAutoNum type="arabicPeriod"/>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Active Learning Agent</a:t>
            </a:r>
            <a:br>
              <a:rPr lang="en-IN" sz="1400" dirty="0">
                <a:solidFill>
                  <a:schemeClr val="bg1"/>
                </a:solidFill>
                <a:latin typeface="Times New Roman" panose="02020603050405020304" pitchFamily="18" charset="0"/>
                <a:cs typeface="Times New Roman" panose="02020603050405020304" pitchFamily="18" charset="0"/>
              </a:rPr>
            </a:b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Sends unsure candidates to a human and retrains on new labels.</a:t>
            </a:r>
          </a:p>
          <a:p>
            <a:pPr marL="285750" lvl="0" indent="-285750">
              <a:spcAft>
                <a:spcPts val="200"/>
              </a:spcAft>
              <a:buFont typeface="+mj-lt"/>
              <a:buAutoNum type="arabicPeriod"/>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Reporting Agent</a:t>
            </a:r>
            <a:br>
              <a:rPr lang="en-IN" sz="1400" dirty="0">
                <a:solidFill>
                  <a:schemeClr val="bg1"/>
                </a:solidFill>
                <a:latin typeface="Times New Roman" panose="02020603050405020304" pitchFamily="18" charset="0"/>
                <a:cs typeface="Times New Roman" panose="02020603050405020304" pitchFamily="18" charset="0"/>
              </a:rPr>
            </a:b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Generates plots, the candidate catalog and the final report.</a:t>
            </a:r>
          </a:p>
          <a:p>
            <a:pPr>
              <a:lnSpc>
                <a:spcPct val="100000"/>
              </a:lnSpc>
              <a:spcAft>
                <a:spcPts val="400"/>
              </a:spcAft>
              <a:buNone/>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Methodology :</a:t>
            </a:r>
          </a:p>
          <a:p>
            <a:pPr lvl="0"/>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TESS Data → Acquire → Preprocess &amp; Detrend → BLS/TLS Detect → GPU Feature Extraction → Ensemble Classify → MCMC Parameter Fit → Visualize &amp; Report  (Active Learning feeds unsure cases back into training)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A0971C48-077A-2749-A63A-AF61369376E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24EE925-2767-477E-1FE6-8F420FD405B3}"/>
              </a:ext>
            </a:extLst>
          </p:cNvPr>
          <p:cNvSpPr/>
          <p:nvPr/>
        </p:nvSpPr>
        <p:spPr>
          <a:xfrm>
            <a:off x="548640" y="38813"/>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ARCHITECTURE DIAGRAM</a:t>
            </a:r>
            <a:endParaRPr lang="en-US" sz="3200" dirty="0"/>
          </a:p>
        </p:txBody>
      </p:sp>
      <p:sp>
        <p:nvSpPr>
          <p:cNvPr id="4" name="Text 2">
            <a:extLst>
              <a:ext uri="{FF2B5EF4-FFF2-40B4-BE49-F238E27FC236}">
                <a16:creationId xmlns:a16="http://schemas.microsoft.com/office/drawing/2014/main" id="{9DE21C21-6E4F-840A-98CD-EC39EB44ED14}"/>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F7B50BB3-AB1C-7588-2DE3-3A6F22CBE28D}"/>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cs typeface="Times New Roman" pitchFamily="34" charset="-120"/>
              </a:rPr>
              <a:t>11</a:t>
            </a:r>
            <a:endParaRPr lang="en-US" sz="1100" dirty="0"/>
          </a:p>
        </p:txBody>
      </p:sp>
      <p:sp>
        <p:nvSpPr>
          <p:cNvPr id="100" name="Footer">
            <a:extLst>
              <a:ext uri="{FF2B5EF4-FFF2-40B4-BE49-F238E27FC236}">
                <a16:creationId xmlns:a16="http://schemas.microsoft.com/office/drawing/2014/main" id="{8CBC0363-71E7-AE5F-83AE-4565776C5062}"/>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pic>
        <p:nvPicPr>
          <p:cNvPr id="101" name="Picture 100" descr="architecture_diagram.png"/>
          <p:cNvPicPr>
            <a:picLocks noChangeAspect="1"/>
          </p:cNvPicPr>
          <p:nvPr/>
        </p:nvPicPr>
        <p:blipFill>
          <a:blip r:embed="rId3"/>
          <a:stretch>
            <a:fillRect/>
          </a:stretch>
        </p:blipFill>
        <p:spPr>
          <a:xfrm>
            <a:off x="1680309" y="773338"/>
            <a:ext cx="8370276" cy="5580185"/>
          </a:xfrm>
          <a:prstGeom prst="rect">
            <a:avLst/>
          </a:prstGeom>
        </p:spPr>
      </p:pic>
    </p:spTree>
    <p:extLst>
      <p:ext uri="{BB962C8B-B14F-4D97-AF65-F5344CB8AC3E}">
        <p14:creationId xmlns:p14="http://schemas.microsoft.com/office/powerpoint/2010/main" val="1203434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5780E864-49A1-262F-EAD6-62C81E3FDD56}"/>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E38BE1D-9066-822C-18D6-AB308E11EF8F}"/>
              </a:ext>
            </a:extLst>
          </p:cNvPr>
          <p:cNvSpPr/>
          <p:nvPr/>
        </p:nvSpPr>
        <p:spPr>
          <a:xfrm>
            <a:off x="548640" y="30453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81291B28-6FD6-5979-B516-4B17892100F1}"/>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CE644E71-E5E6-45C7-AADF-DE2A0345676E}"/>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12</a:t>
            </a:r>
            <a:endParaRPr lang="en-US" sz="1100" dirty="0"/>
          </a:p>
        </p:txBody>
      </p:sp>
      <p:sp>
        <p:nvSpPr>
          <p:cNvPr id="100" name="Footer">
            <a:extLst>
              <a:ext uri="{FF2B5EF4-FFF2-40B4-BE49-F238E27FC236}">
                <a16:creationId xmlns:a16="http://schemas.microsoft.com/office/drawing/2014/main" id="{D83E01F9-CE14-FBE2-8A98-217BD0220576}"/>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9" name="TextBox 8">
            <a:extLst>
              <a:ext uri="{FF2B5EF4-FFF2-40B4-BE49-F238E27FC236}">
                <a16:creationId xmlns:a16="http://schemas.microsoft.com/office/drawing/2014/main" id="{5389CB22-719A-2EFF-CF1E-F7853C5B4E46}"/>
              </a:ext>
            </a:extLst>
          </p:cNvPr>
          <p:cNvSpPr txBox="1"/>
          <p:nvPr/>
        </p:nvSpPr>
        <p:spPr>
          <a:xfrm>
            <a:off x="548640" y="1143000"/>
            <a:ext cx="6720840" cy="4165243"/>
          </a:xfrm>
          <a:prstGeom prst="rect">
            <a:avLst/>
          </a:prstGeom>
          <a:noFill/>
        </p:spPr>
        <p:txBody>
          <a:bodyPr wrap="square">
            <a:spAutoFit/>
          </a:bodyPr>
          <a:lstStyle/>
          <a:p>
            <a:pPr>
              <a:lnSpc>
                <a:spcPct val="100000"/>
              </a:lnSpc>
              <a:spcAft>
                <a:spcPts val="400"/>
              </a:spcAft>
              <a:buNone/>
            </a:pPr>
            <a:r>
              <a:rPr lang="en-IN" sz="17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0 — Data Acquisition &amp; Setup</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Automatically fetch raw star-brightness data from NASA's TESS satellite and get it ready for analysis.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MAST Archive Queries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astroquery searches NASA's MAST archive for TESS light curves by sector, camera and CCD.</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Reference Catalog Downloads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Auto-downloads and parses the ExoFOP TOI list, NASA Confirmed Planets table and the SPOC TCE catalog.</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FITS Parsing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astropy reads each FITS file to pull out time, PDCSAP flux and data-quality flags.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Label Unification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Messy disposition codes (PC, KP, CP, EB, BEB, FP, V) are mapped into 4 clean classes.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Synthetic Transit Injection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batman injects artificial planet dips into quiet light curves to boost the rare Transit class.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Parallel, Resumable Downloads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 thread pool downloads many files at once and skips files already saved if a run is interrupted.</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Raw TESS light-curve .npz files</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Unified label catalog &amp; TIC stellar parameters</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Download manifest + initial EDA results</a:t>
            </a:r>
          </a:p>
        </p:txBody>
      </p:sp>
      <p:pic>
        <p:nvPicPr>
          <p:cNvPr id="101" name="Picture 100" descr="phase0.png"/>
          <p:cNvPicPr>
            <a:picLocks noChangeAspect="1"/>
          </p:cNvPicPr>
          <p:nvPr/>
        </p:nvPicPr>
        <p:blipFill>
          <a:blip r:embed="rId3"/>
          <a:stretch>
            <a:fillRect/>
          </a:stretch>
        </p:blipFill>
        <p:spPr>
          <a:xfrm>
            <a:off x="7543800" y="1417320"/>
            <a:ext cx="3977639" cy="4717665"/>
          </a:xfrm>
          <a:prstGeom prst="rect">
            <a:avLst/>
          </a:prstGeom>
        </p:spPr>
      </p:pic>
    </p:spTree>
    <p:extLst>
      <p:ext uri="{BB962C8B-B14F-4D97-AF65-F5344CB8AC3E}">
        <p14:creationId xmlns:p14="http://schemas.microsoft.com/office/powerpoint/2010/main" val="2147222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68A6DC7E-D5E0-A2F7-1246-6CE5CADDEAD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2ECE834-290E-95F1-6109-890CAB28A660}"/>
              </a:ext>
            </a:extLst>
          </p:cNvPr>
          <p:cNvSpPr/>
          <p:nvPr/>
        </p:nvSpPr>
        <p:spPr>
          <a:xfrm>
            <a:off x="548640" y="30453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D60B7594-222B-C0DA-2254-A910B6038AD1}"/>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DB06DCCE-EF88-8C84-BFCC-88CEF63E0B15}"/>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13</a:t>
            </a:r>
            <a:endParaRPr lang="en-US" sz="1100" dirty="0"/>
          </a:p>
        </p:txBody>
      </p:sp>
      <p:sp>
        <p:nvSpPr>
          <p:cNvPr id="100" name="Footer">
            <a:extLst>
              <a:ext uri="{FF2B5EF4-FFF2-40B4-BE49-F238E27FC236}">
                <a16:creationId xmlns:a16="http://schemas.microsoft.com/office/drawing/2014/main" id="{05778B86-7314-8593-A66D-0062EEA64453}"/>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58D7F6FB-6CF0-8CA3-1CCF-D5ECFE5059D3}"/>
              </a:ext>
            </a:extLst>
          </p:cNvPr>
          <p:cNvSpPr txBox="1"/>
          <p:nvPr/>
        </p:nvSpPr>
        <p:spPr>
          <a:xfrm>
            <a:off x="548640" y="1143000"/>
            <a:ext cx="6720840" cy="4188691"/>
          </a:xfrm>
          <a:prstGeom prst="rect">
            <a:avLst/>
          </a:prstGeom>
          <a:noFill/>
        </p:spPr>
        <p:txBody>
          <a:bodyPr wrap="square">
            <a:spAutoFit/>
          </a:bodyPr>
          <a:lstStyle/>
          <a:p>
            <a:pPr>
              <a:lnSpc>
                <a:spcPct val="100000"/>
              </a:lnSpc>
              <a:spcAft>
                <a:spcPts val="400"/>
              </a:spcAft>
              <a:buNone/>
            </a:pPr>
            <a:r>
              <a:rPr lang="en-IN" sz="17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1 — Preprocessing &amp; Transit Search</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Clean up the noisy raw brightness readings and search for repeating dips that could be planets.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Normalization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Every light curve is divided by its median flux so all stars sit on the same brightness scale.</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Outlier Removal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Iterative 3σ sigma-clipping, up to 5 passes, strips cosmic-ray hits and bad cadences.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Gap Handling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Small gaps (≤3 cadences) are filled by interpolation; longer gaps are flagged, not guessed.</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Detrending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 wotan bi-weight filter (0.75-day window) removes slow drift while keeping the transit dip intact.</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Quality Gating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Targets with &lt;13.5 days of data, or noise &gt;5× the expected photon noise, are dropped automatically.</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BLS / TLS Search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 Box/Transit Least Squares scan tests thousands of trial periods to find the strongest repeating dip.</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Cleaned &amp; detrended light curves</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Candidate list (period, depth, duration)</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BLS / TLS parameters (SDE, FAP)</a:t>
            </a:r>
          </a:p>
        </p:txBody>
      </p:sp>
      <p:pic>
        <p:nvPicPr>
          <p:cNvPr id="101" name="Picture 100" descr="phase1.png"/>
          <p:cNvPicPr>
            <a:picLocks noChangeAspect="1"/>
          </p:cNvPicPr>
          <p:nvPr/>
        </p:nvPicPr>
        <p:blipFill>
          <a:blip r:embed="rId3"/>
          <a:stretch>
            <a:fillRect/>
          </a:stretch>
        </p:blipFill>
        <p:spPr>
          <a:xfrm>
            <a:off x="7543800" y="1417320"/>
            <a:ext cx="3977639" cy="4717665"/>
          </a:xfrm>
          <a:prstGeom prst="rect">
            <a:avLst/>
          </a:prstGeom>
        </p:spPr>
      </p:pic>
    </p:spTree>
    <p:extLst>
      <p:ext uri="{BB962C8B-B14F-4D97-AF65-F5344CB8AC3E}">
        <p14:creationId xmlns:p14="http://schemas.microsoft.com/office/powerpoint/2010/main" val="2216994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EC8B7900-27DE-86D9-F18E-D68B03F3418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B820804-8524-59C6-A428-B7759E2B4DC9}"/>
              </a:ext>
            </a:extLst>
          </p:cNvPr>
          <p:cNvSpPr/>
          <p:nvPr/>
        </p:nvSpPr>
        <p:spPr>
          <a:xfrm>
            <a:off x="548640" y="30453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805FCED1-9819-CBEA-98BF-842C9AE8B143}"/>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76FA3CEE-EEAC-ED8A-51BC-83A6E7F895C1}"/>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14</a:t>
            </a:r>
            <a:endParaRPr lang="en-US" sz="1100" dirty="0"/>
          </a:p>
        </p:txBody>
      </p:sp>
      <p:sp>
        <p:nvSpPr>
          <p:cNvPr id="100" name="Footer">
            <a:extLst>
              <a:ext uri="{FF2B5EF4-FFF2-40B4-BE49-F238E27FC236}">
                <a16:creationId xmlns:a16="http://schemas.microsoft.com/office/drawing/2014/main" id="{70D5C79C-6EA3-6D62-76A4-880729A10475}"/>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AD9F7074-811B-A26C-A63D-C1305AA91370}"/>
              </a:ext>
            </a:extLst>
          </p:cNvPr>
          <p:cNvSpPr txBox="1"/>
          <p:nvPr/>
        </p:nvSpPr>
        <p:spPr>
          <a:xfrm>
            <a:off x="548640" y="1143000"/>
            <a:ext cx="6720840" cy="4614181"/>
          </a:xfrm>
          <a:prstGeom prst="rect">
            <a:avLst/>
          </a:prstGeom>
          <a:noFill/>
        </p:spPr>
        <p:txBody>
          <a:bodyPr wrap="square">
            <a:spAutoFit/>
          </a:bodyPr>
          <a:lstStyle/>
          <a:p>
            <a:pPr>
              <a:lnSpc>
                <a:spcPct val="100000"/>
              </a:lnSpc>
              <a:spcAft>
                <a:spcPts val="400"/>
              </a:spcAft>
              <a:buNone/>
            </a:pPr>
            <a:r>
              <a:rPr lang="en-IN" sz="17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2 — Feature Engineering (GPU-Accelerated)</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Turn each candidate signal into a set of numbers a machine-learning model can actually learn from.</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35+ Engineered Features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Transit geometry, signal quality, shape, odd/even depth, secondary eclipse, centroid and stellar stats.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GPU Acceleration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Phase-folding, FFTs and statistics run on an NVIDIA GPU via CuPy and PyTorch, with automatic CPU fallback.</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Anti-Hang Safeguards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Capped worker count, per-task timeouts and RAM monitoring stop one stuck light curve from freezing the run.</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Batch Checkpointing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Progress saves every batch, so a long feature-extraction job can resume instead of restarting.</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Stellar Cross-Match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Pulls Teff, log g, radius, mass and distance from the TIC catalog for astrophysical context.</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feature_matrix.csv — one row per candidate</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35+ columns, ready for machine learning</a:t>
            </a:r>
          </a:p>
        </p:txBody>
      </p:sp>
      <p:pic>
        <p:nvPicPr>
          <p:cNvPr id="101" name="Picture 100" descr="phase2.png"/>
          <p:cNvPicPr>
            <a:picLocks noChangeAspect="1"/>
          </p:cNvPicPr>
          <p:nvPr/>
        </p:nvPicPr>
        <p:blipFill>
          <a:blip r:embed="rId3"/>
          <a:stretch>
            <a:fillRect/>
          </a:stretch>
        </p:blipFill>
        <p:spPr>
          <a:xfrm>
            <a:off x="7543800" y="1417320"/>
            <a:ext cx="3977639" cy="4717665"/>
          </a:xfrm>
          <a:prstGeom prst="rect">
            <a:avLst/>
          </a:prstGeom>
        </p:spPr>
      </p:pic>
    </p:spTree>
    <p:extLst>
      <p:ext uri="{BB962C8B-B14F-4D97-AF65-F5344CB8AC3E}">
        <p14:creationId xmlns:p14="http://schemas.microsoft.com/office/powerpoint/2010/main" val="280685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C5A8D237-FFCC-35CB-CEC3-9AB2D58F427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813062A-5EF2-7AAE-69F2-A3DAE05D5121}"/>
              </a:ext>
            </a:extLst>
          </p:cNvPr>
          <p:cNvSpPr/>
          <p:nvPr/>
        </p:nvSpPr>
        <p:spPr>
          <a:xfrm>
            <a:off x="548640" y="227172"/>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84C76D54-EF1D-53E8-74DE-6A1EC71E6383}"/>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A2A8FD0C-9C8D-3586-CA26-092768495257}"/>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15</a:t>
            </a:r>
            <a:endParaRPr lang="en-US" sz="1100" dirty="0"/>
          </a:p>
        </p:txBody>
      </p:sp>
      <p:sp>
        <p:nvSpPr>
          <p:cNvPr id="100" name="Footer">
            <a:extLst>
              <a:ext uri="{FF2B5EF4-FFF2-40B4-BE49-F238E27FC236}">
                <a16:creationId xmlns:a16="http://schemas.microsoft.com/office/drawing/2014/main" id="{A7AD3903-C8B9-B3AA-7FBB-72BF18254D06}"/>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945B0FEB-AEF7-768F-9954-C53BC96D1640}"/>
              </a:ext>
            </a:extLst>
          </p:cNvPr>
          <p:cNvSpPr txBox="1"/>
          <p:nvPr/>
        </p:nvSpPr>
        <p:spPr>
          <a:xfrm>
            <a:off x="548640" y="1143000"/>
            <a:ext cx="6720840" cy="5570756"/>
          </a:xfrm>
          <a:prstGeom prst="rect">
            <a:avLst/>
          </a:prstGeom>
          <a:noFill/>
        </p:spPr>
        <p:txBody>
          <a:bodyPr wrap="square">
            <a:spAutoFit/>
          </a:bodyPr>
          <a:lstStyle/>
          <a:p>
            <a:pPr>
              <a:lnSpc>
                <a:spcPct val="100000"/>
              </a:lnSpc>
              <a:spcAft>
                <a:spcPts val="400"/>
              </a:spcAft>
              <a:buNone/>
            </a:pPr>
            <a:r>
              <a:rPr lang="en-IN" sz="17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3 — Ensemble Machine-Learning Classifier</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Let the model decide, on its own, whether a candidate signal is really a planet or something else.</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Class Balancing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SMOTE oversampling fixes the natural imbalance — real planets are rare next to false positives.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Ensemble Models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Random Forest, XGBoost and Extra Trees are trained together and combined via a stacked meta-learner.</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Probability Calibration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Platt scaling makes predicted probabilities trustworthy — a "0.9" really means ~90% confident.</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Explainability (SHAP)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SHAP values confirm the model relies on physically meaningful features like depth and SDE, not noise.</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Confidence Routing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Predictions below 65% confidence are flagged for human review instead of being trusted blindly.</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Target: macro F1-score ≥ 90% on held-out test data</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Trained ML ensemble model</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Calibrated planet probability per candidate</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Planet / EB / Blend / Other class label</a:t>
            </a:r>
          </a:p>
        </p:txBody>
      </p:sp>
      <p:pic>
        <p:nvPicPr>
          <p:cNvPr id="101" name="Picture 100" descr="phase3.png"/>
          <p:cNvPicPr>
            <a:picLocks noChangeAspect="1"/>
          </p:cNvPicPr>
          <p:nvPr/>
        </p:nvPicPr>
        <p:blipFill>
          <a:blip r:embed="rId3"/>
          <a:stretch>
            <a:fillRect/>
          </a:stretch>
        </p:blipFill>
        <p:spPr>
          <a:xfrm>
            <a:off x="7543800" y="1417320"/>
            <a:ext cx="3977639" cy="4717665"/>
          </a:xfrm>
          <a:prstGeom prst="rect">
            <a:avLst/>
          </a:prstGeom>
        </p:spPr>
      </p:pic>
    </p:spTree>
    <p:extLst>
      <p:ext uri="{BB962C8B-B14F-4D97-AF65-F5344CB8AC3E}">
        <p14:creationId xmlns:p14="http://schemas.microsoft.com/office/powerpoint/2010/main" val="456834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0835E0C3-6ACB-02B3-B499-C02AD723F15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52277B0-D9D3-0DBD-5330-39982B69EA94}"/>
              </a:ext>
            </a:extLst>
          </p:cNvPr>
          <p:cNvSpPr/>
          <p:nvPr/>
        </p:nvSpPr>
        <p:spPr>
          <a:xfrm>
            <a:off x="548640" y="226383"/>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981CDFC3-1AC6-6C00-3958-748F3F961265}"/>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5A6DAC2E-184F-89E6-80DF-6C3BA4483E01}"/>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16</a:t>
            </a:r>
            <a:endParaRPr lang="en-US" sz="1100" dirty="0"/>
          </a:p>
        </p:txBody>
      </p:sp>
      <p:sp>
        <p:nvSpPr>
          <p:cNvPr id="100" name="Footer">
            <a:extLst>
              <a:ext uri="{FF2B5EF4-FFF2-40B4-BE49-F238E27FC236}">
                <a16:creationId xmlns:a16="http://schemas.microsoft.com/office/drawing/2014/main" id="{F912E150-3E1B-AAF8-1DF8-0660AF945370}"/>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0AC191A8-94DA-CD00-AE30-5F7FA83B8374}"/>
              </a:ext>
            </a:extLst>
          </p:cNvPr>
          <p:cNvSpPr txBox="1"/>
          <p:nvPr/>
        </p:nvSpPr>
        <p:spPr>
          <a:xfrm>
            <a:off x="548640" y="1143000"/>
            <a:ext cx="6720840" cy="5570756"/>
          </a:xfrm>
          <a:prstGeom prst="rect">
            <a:avLst/>
          </a:prstGeom>
          <a:noFill/>
        </p:spPr>
        <p:txBody>
          <a:bodyPr wrap="square">
            <a:spAutoFit/>
          </a:bodyPr>
          <a:lstStyle/>
          <a:p>
            <a:pPr>
              <a:lnSpc>
                <a:spcPct val="100000"/>
              </a:lnSpc>
              <a:spcAft>
                <a:spcPts val="400"/>
              </a:spcAft>
              <a:buNone/>
            </a:pPr>
            <a:r>
              <a:rPr lang="en-IN" sz="17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4 — Orbital Parameter Fitting</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For every strong candidate, work out its size, orbit and timing — with honest uncertainty ranges.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Transit Modeling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 batman package builds a physics-based model of the dip caused by a planet crossing its star.</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Bayesian MCMC Fitting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emcee runs 32 walkers for 1000 steps to explore every plausible combination of parameters.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Parameters Estimated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Radius ratio (Rp/Rs), orbital period, impact parameter, inclination and transit midpoint.</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Credible Intervals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16th/50th/84th percentiles of the posterior give a 95% credible range, not just one number.</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Fallback Handling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If MCMC fails to converge, the system falls back to a least-squares fit so it never gets stuck.</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Best-fit transit model</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Estimated planetary parameters</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95% credible intervals per parameter</a:t>
            </a:r>
          </a:p>
        </p:txBody>
      </p:sp>
      <p:pic>
        <p:nvPicPr>
          <p:cNvPr id="101" name="Picture 100" descr="phase4.png"/>
          <p:cNvPicPr>
            <a:picLocks noChangeAspect="1"/>
          </p:cNvPicPr>
          <p:nvPr/>
        </p:nvPicPr>
        <p:blipFill>
          <a:blip r:embed="rId3"/>
          <a:stretch>
            <a:fillRect/>
          </a:stretch>
        </p:blipFill>
        <p:spPr>
          <a:xfrm>
            <a:off x="7543800" y="1417320"/>
            <a:ext cx="3977639" cy="4717665"/>
          </a:xfrm>
          <a:prstGeom prst="rect">
            <a:avLst/>
          </a:prstGeom>
        </p:spPr>
      </p:pic>
    </p:spTree>
    <p:extLst>
      <p:ext uri="{BB962C8B-B14F-4D97-AF65-F5344CB8AC3E}">
        <p14:creationId xmlns:p14="http://schemas.microsoft.com/office/powerpoint/2010/main" val="1494741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15854E38-7163-8B1D-B42D-1DCC3ADDDD2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A33257F-00A3-8533-DA2B-74015800EA0A}"/>
              </a:ext>
            </a:extLst>
          </p:cNvPr>
          <p:cNvSpPr/>
          <p:nvPr/>
        </p:nvSpPr>
        <p:spPr>
          <a:xfrm>
            <a:off x="548640" y="30453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9F085E15-93BE-53BC-03D3-3F40C582BF06}"/>
              </a:ext>
            </a:extLst>
          </p:cNvPr>
          <p:cNvSpPr/>
          <p:nvPr/>
        </p:nvSpPr>
        <p:spPr>
          <a:xfrm>
            <a:off x="556455"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376F1F8A-41DC-45B3-05D4-0BCEEE90B873}"/>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17</a:t>
            </a:r>
            <a:endParaRPr lang="en-US" sz="1100" dirty="0"/>
          </a:p>
        </p:txBody>
      </p:sp>
      <p:sp>
        <p:nvSpPr>
          <p:cNvPr id="100" name="Footer">
            <a:extLst>
              <a:ext uri="{FF2B5EF4-FFF2-40B4-BE49-F238E27FC236}">
                <a16:creationId xmlns:a16="http://schemas.microsoft.com/office/drawing/2014/main" id="{EA66E98E-3EA5-CB47-82F5-2571070FCC08}"/>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CE4DA6E4-C360-08C0-2664-CCC8244CC2B3}"/>
              </a:ext>
            </a:extLst>
          </p:cNvPr>
          <p:cNvSpPr txBox="1"/>
          <p:nvPr/>
        </p:nvSpPr>
        <p:spPr>
          <a:xfrm>
            <a:off x="548640" y="1143000"/>
            <a:ext cx="6720840" cy="4544834"/>
          </a:xfrm>
          <a:prstGeom prst="rect">
            <a:avLst/>
          </a:prstGeom>
          <a:noFill/>
        </p:spPr>
        <p:txBody>
          <a:bodyPr wrap="square">
            <a:spAutoFit/>
          </a:bodyPr>
          <a:lstStyle/>
          <a:p>
            <a:pPr>
              <a:lnSpc>
                <a:spcPct val="100000"/>
              </a:lnSpc>
              <a:spcAft>
                <a:spcPts val="400"/>
              </a:spcAft>
              <a:buNone/>
            </a:pPr>
            <a:r>
              <a:rPr lang="en-IN" sz="17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5 — Visualization &amp; Scientific Reporting</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Turn all the numbers into clear pictures and a short report a scientist can read in minutes.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7 Diagnostic Plots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Raw &amp; detrended light curves, BLS/TLS periodogram, phase-fold + model, corner plot, odd/even, centroid.</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Model Performance Views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Confusion matrix, precision-recall curves and calibration plots show how well the classifier performs.</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Ranked Candidate Catalog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All candidates are sorted by signal-to-noise ratio into one master CSV / FITS table.</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Automated PDF Report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 Jinja2 template auto-fills a 3-page report per candidate with plots, parameters and a verdict.</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PNG / PDF visualizations</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Candidate catalog (CSV / FITS)</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3-page automated scientific report</a:t>
            </a:r>
          </a:p>
        </p:txBody>
      </p:sp>
      <p:pic>
        <p:nvPicPr>
          <p:cNvPr id="101" name="Picture 100" descr="phase5.png"/>
          <p:cNvPicPr>
            <a:picLocks noChangeAspect="1"/>
          </p:cNvPicPr>
          <p:nvPr/>
        </p:nvPicPr>
        <p:blipFill>
          <a:blip r:embed="rId3"/>
          <a:stretch>
            <a:fillRect/>
          </a:stretch>
        </p:blipFill>
        <p:spPr>
          <a:xfrm>
            <a:off x="7543800" y="1417320"/>
            <a:ext cx="3977639" cy="4717665"/>
          </a:xfrm>
          <a:prstGeom prst="rect">
            <a:avLst/>
          </a:prstGeom>
        </p:spPr>
      </p:pic>
    </p:spTree>
    <p:extLst>
      <p:ext uri="{BB962C8B-B14F-4D97-AF65-F5344CB8AC3E}">
        <p14:creationId xmlns:p14="http://schemas.microsoft.com/office/powerpoint/2010/main" val="1397850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D8745A0D-2C10-B5AA-CC4B-FABC796F89B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34FEAF7-E062-F116-0D03-9D9A1B5F11BF}"/>
              </a:ext>
            </a:extLst>
          </p:cNvPr>
          <p:cNvSpPr/>
          <p:nvPr/>
        </p:nvSpPr>
        <p:spPr>
          <a:xfrm>
            <a:off x="548640" y="312361"/>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8F07B342-713F-F57D-7DDF-34E7B7FDDC59}"/>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6FE1710F-D9FD-ED20-868F-1371D8BCBFFA}"/>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18</a:t>
            </a:r>
            <a:endParaRPr lang="en-US" sz="1100" dirty="0"/>
          </a:p>
        </p:txBody>
      </p:sp>
      <p:sp>
        <p:nvSpPr>
          <p:cNvPr id="100" name="Footer">
            <a:extLst>
              <a:ext uri="{FF2B5EF4-FFF2-40B4-BE49-F238E27FC236}">
                <a16:creationId xmlns:a16="http://schemas.microsoft.com/office/drawing/2014/main" id="{DDE35E92-0785-C800-4B71-76C6697B4302}"/>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CDA95D5E-7D47-EA33-6C95-89CD3F930228}"/>
              </a:ext>
            </a:extLst>
          </p:cNvPr>
          <p:cNvSpPr txBox="1"/>
          <p:nvPr/>
        </p:nvSpPr>
        <p:spPr>
          <a:xfrm>
            <a:off x="548640" y="1572846"/>
            <a:ext cx="6720840" cy="5714385"/>
          </a:xfrm>
          <a:prstGeom prst="rect">
            <a:avLst/>
          </a:prstGeom>
          <a:noFill/>
        </p:spPr>
        <p:txBody>
          <a:bodyPr wrap="square">
            <a:spAutoFit/>
          </a:bodyPr>
          <a:lstStyle/>
          <a:p>
            <a:pPr>
              <a:lnSpc>
                <a:spcPct val="100000"/>
              </a:lnSpc>
              <a:spcAft>
                <a:spcPts val="400"/>
              </a:spcAft>
              <a:buNone/>
            </a:pPr>
            <a:r>
              <a:rPr lang="en-IN" sz="17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6 — Enhanced Analysis &amp; Reliability (Bonus)</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Stress-test the pipeline itself so its results can actually be trusted.</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Centroid Analysis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Checks the dip truly comes from the target star's own pixels and not a nearby contaminating star.</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Injection–Recovery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Plants thousands of fake, exactly-known transits and reruns the pipeline to measure detection sensitivity.</a:t>
            </a:r>
          </a:p>
          <a:p>
            <a:pPr marL="285750" lvl="0" indent="-285750">
              <a:lnSpc>
                <a:spcPct val="100000"/>
              </a:lnSpc>
              <a:spcAft>
                <a:spcPts val="400"/>
              </a:spcAft>
              <a:buSzPts val="1000"/>
              <a:buFont typeface="Symbol" panose="05050102010706020507" pitchFamily="18" charset="2"/>
              <a:buChar char="•"/>
              <a:tabLst>
                <a:tab pos="342900" algn="l"/>
              </a:tabLst>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Active Learning — </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Sends only the most uncertain (&lt;65% confidence) candidates to a human, then retrains on the new labels.</a:t>
            </a:r>
          </a:p>
          <a:p>
            <a:pPr>
              <a:lnSpc>
                <a:spcPct val="100000"/>
              </a:lnSpc>
              <a:spcAft>
                <a:spcPts val="4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Robustness &amp; sensitivity metrics</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Contamination-checked, higher-confidence candidates</a:t>
            </a:r>
          </a:p>
          <a:p>
            <a:pPr marL="285750" lvl="0" indent="-285750">
              <a:lnSpc>
                <a:spcPct val="100000"/>
              </a:lnSpc>
              <a:spcAft>
                <a:spcPts val="400"/>
              </a:spcAft>
              <a:buSzPts val="1000"/>
              <a:buFont typeface="Symbol" panose="05050102010706020507" pitchFamily="18" charset="2"/>
              <a:buChar char="•"/>
              <a:tabLst>
                <a:tab pos="3429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 model that keeps improving with human feedback</a:t>
            </a:r>
          </a:p>
        </p:txBody>
      </p:sp>
      <p:pic>
        <p:nvPicPr>
          <p:cNvPr id="101" name="Picture 100" descr="phase6.png"/>
          <p:cNvPicPr>
            <a:picLocks noChangeAspect="1"/>
          </p:cNvPicPr>
          <p:nvPr/>
        </p:nvPicPr>
        <p:blipFill>
          <a:blip r:embed="rId3"/>
          <a:stretch>
            <a:fillRect/>
          </a:stretch>
        </p:blipFill>
        <p:spPr>
          <a:xfrm>
            <a:off x="7543800" y="1417320"/>
            <a:ext cx="3977639" cy="4717665"/>
          </a:xfrm>
          <a:prstGeom prst="rect">
            <a:avLst/>
          </a:prstGeom>
        </p:spPr>
      </p:pic>
    </p:spTree>
    <p:extLst>
      <p:ext uri="{BB962C8B-B14F-4D97-AF65-F5344CB8AC3E}">
        <p14:creationId xmlns:p14="http://schemas.microsoft.com/office/powerpoint/2010/main" val="3729973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TotalTime>
  <Words>2758</Words>
  <Application>Microsoft Office PowerPoint</Application>
  <PresentationFormat>Widescreen</PresentationFormat>
  <Paragraphs>310</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Prasanna B R</cp:lastModifiedBy>
  <cp:revision>7</cp:revision>
  <dcterms:created xsi:type="dcterms:W3CDTF">2026-08-10T08:35:58Z</dcterms:created>
  <dcterms:modified xsi:type="dcterms:W3CDTF">2026-09-14T17:13:25Z</dcterms:modified>
</cp:coreProperties>
</file>