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97DBD2-2057-4593-B84B-C65242C3A18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1A3E7E0-5412-4A52-A01E-6740807173D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4F5421D-2D07-435C-B5D7-1625F2954AA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167E57B-5EDA-47D7-BB8F-FD40894A6F4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86C10C8-12A1-4C98-A79A-0D918A6DB76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691C04F-0550-41E9-B1CA-5817E5FC21E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8C22A23-E2C7-4505-89DE-BF16AB135F0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86C4FC6-F951-448D-90DB-9AE59BD08EB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9607BF8-E6ED-4DBE-8D94-CA3E84E533C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D64F71B-C05E-40B6-B30B-7D20868B0FE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9CE4276-1F91-4A1F-85E2-671B777A217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C7C9038-222A-418E-B928-E92258418B5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8C46EF4-7444-4165-82B8-678F12F23E7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4926198-F2E8-424E-A0C6-09969DEA593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E133DB8-DCAD-44F4-BA7E-9F2BEAF9CD0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74EB20A-BB54-4628-AF0B-E389B3321B0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2992AD5-B6DC-4721-BC41-2F96E40B8C4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69A7796-BD59-459D-87F8-C850F928F4C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3E7E587-FEB5-49A1-A60E-05C546EB30B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slide" Target="slide11.xml"/><Relationship Id="rId18" Type="http://schemas.openxmlformats.org/officeDocument/2006/relationships/image" Target="../media/image10.png"/><Relationship Id="rId3" Type="http://schemas.openxmlformats.org/officeDocument/2006/relationships/slide" Target="slide3.xml"/><Relationship Id="rId21" Type="http://schemas.openxmlformats.org/officeDocument/2006/relationships/image" Target="../media/image12.png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17" Type="http://schemas.openxmlformats.org/officeDocument/2006/relationships/slide" Target="slide13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.png"/><Relationship Id="rId20" Type="http://schemas.openxmlformats.org/officeDocument/2006/relationships/slide" Target="slide1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slide" Target="slide8.xml"/><Relationship Id="rId24" Type="http://schemas.openxmlformats.org/officeDocument/2006/relationships/image" Target="../media/image14.png"/><Relationship Id="rId5" Type="http://schemas.openxmlformats.org/officeDocument/2006/relationships/image" Target="../media/image3.png"/><Relationship Id="rId15" Type="http://schemas.openxmlformats.org/officeDocument/2006/relationships/slide" Target="slide12.xml"/><Relationship Id="rId23" Type="http://schemas.openxmlformats.org/officeDocument/2006/relationships/image" Target="../media/image13.png"/><Relationship Id="rId10" Type="http://schemas.openxmlformats.org/officeDocument/2006/relationships/image" Target="../media/image6.png"/><Relationship Id="rId19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slide" Target="slide6.xml"/><Relationship Id="rId14" Type="http://schemas.openxmlformats.org/officeDocument/2006/relationships/image" Target="../media/image8.png"/><Relationship Id="rId22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" Target="slide2.xm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" Target="slide2.xm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" Target="slide2.xm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4.png"/><Relationship Id="rId7" Type="http://schemas.openxmlformats.org/officeDocument/2006/relationships/image" Target="../media/image2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2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" Target="slide2.xm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" Target="slide2.xm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32.png"/><Relationship Id="rId4" Type="http://schemas.openxmlformats.org/officeDocument/2006/relationships/image" Target="../media/image14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" Target="slide2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" Target="slide2.xm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10" Type="http://schemas.openxmlformats.org/officeDocument/2006/relationships/image" Target="../media/image37.png"/><Relationship Id="rId4" Type="http://schemas.openxmlformats.org/officeDocument/2006/relationships/image" Target="../media/image14.png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2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4.png"/><Relationship Id="rId7" Type="http://schemas.openxmlformats.org/officeDocument/2006/relationships/image" Target="../media/image3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png"/><Relationship Id="rId7" Type="http://schemas.openxmlformats.org/officeDocument/2006/relationships/image" Target="../media/image3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15.png"/><Relationship Id="rId9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png"/><Relationship Id="rId7" Type="http://schemas.openxmlformats.org/officeDocument/2006/relationships/image" Target="../media/image3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9.png"/><Relationship Id="rId4" Type="http://schemas.openxmlformats.org/officeDocument/2006/relationships/image" Target="../media/image11.png"/><Relationship Id="rId9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1.png"/><Relationship Id="rId5" Type="http://schemas.openxmlformats.org/officeDocument/2006/relationships/image" Target="../media/image15.png"/><Relationship Id="rId10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942880" cy="5942880"/>
          </a:xfrm>
          <a:prstGeom prst="ellipse">
            <a:avLst/>
          </a:prstGeom>
          <a:solidFill>
            <a:srgbClr val="3A5FA6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377440" y="4754880"/>
            <a:ext cx="4754160" cy="4754160"/>
          </a:xfrm>
          <a:prstGeom prst="ellipse">
            <a:avLst/>
          </a:prstGeom>
          <a:solidFill>
            <a:srgbClr val="3A5FA6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64008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201" dirty="0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PROJECT PHASE 1  /  AI &amp; D</a:t>
            </a:r>
            <a:r>
              <a:rPr lang="en-US" sz="1300" b="1" spc="201" dirty="0">
                <a:solidFill>
                  <a:srgbClr val="00E5D4"/>
                </a:solidFill>
                <a:latin typeface="Times New Roman"/>
                <a:ea typeface="Times New Roman"/>
              </a:rPr>
              <a:t>S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22960" y="1234440"/>
            <a:ext cx="776520" cy="776520"/>
          </a:xfrm>
          <a:prstGeom prst="ellipse">
            <a:avLst/>
          </a:prstGeom>
          <a:solidFill>
            <a:srgbClr val="3A5FA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Image 0" descr="/home/claude/icons/shield_cyan.png"/>
          <p:cNvPicPr/>
          <p:nvPr/>
        </p:nvPicPr>
        <p:blipFill>
          <a:blip r:embed="rId3"/>
          <a:stretch/>
        </p:blipFill>
        <p:spPr>
          <a:xfrm>
            <a:off x="924120" y="1335600"/>
            <a:ext cx="57456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4"/>
          <p:cNvSpPr/>
          <p:nvPr/>
        </p:nvSpPr>
        <p:spPr>
          <a:xfrm>
            <a:off x="777240" y="2148840"/>
            <a:ext cx="960048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Sentinel AI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822960" y="3154680"/>
            <a:ext cx="96919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rgbClr val="D7E1F5"/>
                </a:solidFill>
                <a:effectLst/>
                <a:uFillTx/>
                <a:latin typeface="Times New Roman"/>
                <a:ea typeface="Times New Roman"/>
              </a:rPr>
              <a:t>An Explainable AI Framework for Intelligent Phishing Detection and Cyber Risk Assessment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822960" y="4160520"/>
            <a:ext cx="5028480" cy="17366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051560" y="431604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F5296"/>
                </a:solidFill>
                <a:effectLst/>
                <a:uFillTx/>
                <a:latin typeface="Times New Roman"/>
                <a:ea typeface="Times New Roman"/>
              </a:rPr>
              <a:t>PROJECT GUIDE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1051560" y="459036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Dr. M. Raghini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1051560" y="5029200"/>
            <a:ext cx="4572000" cy="360"/>
          </a:xfrm>
          <a:prstGeom prst="line">
            <a:avLst/>
          </a:prstGeom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1051560" y="512064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99">
                <a:solidFill>
                  <a:srgbClr val="2F5296"/>
                </a:solidFill>
                <a:effectLst/>
                <a:uFillTx/>
                <a:latin typeface="Times New Roman"/>
                <a:ea typeface="Times New Roman"/>
              </a:rPr>
              <a:t>TEAM MEMBERS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1051560" y="5394960"/>
            <a:ext cx="46627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Giritharan K   •   Krishna Kumar B   •   Santhosh Kumar TR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9464040" y="512064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2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INTERACTIVE NAVIGATION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Agenda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">
            <a:hlinkClick r:id="rId3" action="ppaction://hlinksldjump"/>
          </p:cNvPr>
          <p:cNvSpPr/>
          <p:nvPr/>
        </p:nvSpPr>
        <p:spPr>
          <a:xfrm>
            <a:off x="548640" y="1691640"/>
            <a:ext cx="5257080" cy="7765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694800" y="19065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2" name="Image 0" descr="/home/claude/icons/target_cyan.png"/>
          <p:cNvPicPr/>
          <p:nvPr/>
        </p:nvPicPr>
        <p:blipFill>
          <a:blip r:embed="rId4"/>
          <a:stretch/>
        </p:blipFill>
        <p:spPr>
          <a:xfrm>
            <a:off x="740160" y="19515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5"/>
          <p:cNvSpPr/>
          <p:nvPr/>
        </p:nvSpPr>
        <p:spPr>
          <a:xfrm>
            <a:off x="1152000" y="1746360"/>
            <a:ext cx="42512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3" action="ppaction://hlinksldjump"/>
              </a:rPr>
              <a:t>Abstract &amp; Objectives
</a:t>
            </a:r>
            <a:r>
              <a:rPr lang="en-US" sz="1000" b="0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3" action="ppaction://hlinksldjump"/>
              </a:rPr>
              <a:t>Problem statement and project goals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1" descr="/home/claude/icons/arrowright_cyan.png">
            <a:hlinkClick r:id="rId3" action="ppaction://hlinksldjump"/>
          </p:cNvPr>
          <p:cNvPicPr/>
          <p:nvPr/>
        </p:nvPicPr>
        <p:blipFill>
          <a:blip r:embed="rId5"/>
          <a:stretch/>
        </p:blipFill>
        <p:spPr>
          <a:xfrm>
            <a:off x="5440680" y="196128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Shape 6">
            <a:hlinkClick r:id="rId6" action="ppaction://hlinksldjump"/>
          </p:cNvPr>
          <p:cNvSpPr/>
          <p:nvPr/>
        </p:nvSpPr>
        <p:spPr>
          <a:xfrm>
            <a:off x="6126480" y="1691640"/>
            <a:ext cx="5257080" cy="7765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6272640" y="19065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Image 2" descr="/home/claude/icons/users_cyan.png"/>
          <p:cNvPicPr/>
          <p:nvPr/>
        </p:nvPicPr>
        <p:blipFill>
          <a:blip r:embed="rId7"/>
          <a:stretch/>
        </p:blipFill>
        <p:spPr>
          <a:xfrm>
            <a:off x="6318000" y="19515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8"/>
          <p:cNvSpPr/>
          <p:nvPr/>
        </p:nvSpPr>
        <p:spPr>
          <a:xfrm>
            <a:off x="6729840" y="1746360"/>
            <a:ext cx="42512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6" action="ppaction://hlinksldjump"/>
              </a:rPr>
              <a:t>Scope of the Project
</a:t>
            </a:r>
            <a:r>
              <a:rPr lang="en-US" sz="1000" b="0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6" action="ppaction://hlinksldjump"/>
              </a:rPr>
              <a:t>Who benefits from SentinelAI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3" descr="/home/claude/icons/arrowright_cyan.png">
            <a:hlinkClick r:id="rId6" action="ppaction://hlinksldjump"/>
          </p:cNvPr>
          <p:cNvPicPr/>
          <p:nvPr/>
        </p:nvPicPr>
        <p:blipFill>
          <a:blip r:embed="rId5"/>
          <a:stretch/>
        </p:blipFill>
        <p:spPr>
          <a:xfrm>
            <a:off x="11018520" y="196128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Shape 9">
            <a:hlinkClick r:id="rId6" action="ppaction://hlinksldjump"/>
          </p:cNvPr>
          <p:cNvSpPr/>
          <p:nvPr/>
        </p:nvSpPr>
        <p:spPr>
          <a:xfrm>
            <a:off x="548640" y="2578680"/>
            <a:ext cx="5257080" cy="7765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Shape 10"/>
          <p:cNvSpPr/>
          <p:nvPr/>
        </p:nvSpPr>
        <p:spPr>
          <a:xfrm>
            <a:off x="694800" y="27936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2" name="Image 4" descr="/home/claude/icons/alert_cyan.png"/>
          <p:cNvPicPr/>
          <p:nvPr/>
        </p:nvPicPr>
        <p:blipFill>
          <a:blip r:embed="rId8"/>
          <a:stretch/>
        </p:blipFill>
        <p:spPr>
          <a:xfrm>
            <a:off x="740160" y="28386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11"/>
          <p:cNvSpPr/>
          <p:nvPr/>
        </p:nvSpPr>
        <p:spPr>
          <a:xfrm>
            <a:off x="1152000" y="2633400"/>
            <a:ext cx="42512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6" action="ppaction://hlinksldjump"/>
              </a:rPr>
              <a:t>Existing vs Proposed System
</a:t>
            </a:r>
            <a:r>
              <a:rPr lang="en-US" sz="1000" b="0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6" action="ppaction://hlinksldjump"/>
              </a:rPr>
              <a:t>Gaps today and our solution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5" descr="/home/claude/icons/arrowright_cyan.png">
            <a:hlinkClick r:id="rId6" action="ppaction://hlinksldjump"/>
          </p:cNvPr>
          <p:cNvPicPr/>
          <p:nvPr/>
        </p:nvPicPr>
        <p:blipFill>
          <a:blip r:embed="rId5"/>
          <a:stretch/>
        </p:blipFill>
        <p:spPr>
          <a:xfrm>
            <a:off x="5440680" y="284832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Shape 12">
            <a:hlinkClick r:id="rId9" action="ppaction://hlinksldjump"/>
          </p:cNvPr>
          <p:cNvSpPr/>
          <p:nvPr/>
        </p:nvSpPr>
        <p:spPr>
          <a:xfrm>
            <a:off x="6126480" y="2578680"/>
            <a:ext cx="5257080" cy="7765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Shape 13"/>
          <p:cNvSpPr/>
          <p:nvPr/>
        </p:nvSpPr>
        <p:spPr>
          <a:xfrm>
            <a:off x="6272640" y="27936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7" name="Image 6" descr="/home/claude/icons/book_cyan.png"/>
          <p:cNvPicPr/>
          <p:nvPr/>
        </p:nvPicPr>
        <p:blipFill>
          <a:blip r:embed="rId10"/>
          <a:stretch/>
        </p:blipFill>
        <p:spPr>
          <a:xfrm>
            <a:off x="6318000" y="28386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14"/>
          <p:cNvSpPr/>
          <p:nvPr/>
        </p:nvSpPr>
        <p:spPr>
          <a:xfrm>
            <a:off x="6729840" y="2633400"/>
            <a:ext cx="42512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9" action="ppaction://hlinksldjump"/>
              </a:rPr>
              <a:t>Literature Survey
</a:t>
            </a:r>
            <a:r>
              <a:rPr lang="en-US" sz="1000" b="0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9" action="ppaction://hlinksldjump"/>
              </a:rPr>
              <a:t>9 reviewed research works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7" descr="/home/claude/icons/arrowright_cyan.png">
            <a:hlinkClick r:id="rId9" action="ppaction://hlinksldjump"/>
          </p:cNvPr>
          <p:cNvPicPr/>
          <p:nvPr/>
        </p:nvPicPr>
        <p:blipFill>
          <a:blip r:embed="rId5"/>
          <a:stretch/>
        </p:blipFill>
        <p:spPr>
          <a:xfrm>
            <a:off x="11018520" y="284832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Shape 15">
            <a:hlinkClick r:id="rId11" action="ppaction://hlinksldjump"/>
          </p:cNvPr>
          <p:cNvSpPr/>
          <p:nvPr/>
        </p:nvSpPr>
        <p:spPr>
          <a:xfrm>
            <a:off x="548640" y="3465720"/>
            <a:ext cx="5257080" cy="7765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Shape 16"/>
          <p:cNvSpPr/>
          <p:nvPr/>
        </p:nvSpPr>
        <p:spPr>
          <a:xfrm>
            <a:off x="694800" y="368064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2" name="Image 8" descr="/home/claude/icons/layers_cyan.png"/>
          <p:cNvPicPr/>
          <p:nvPr/>
        </p:nvPicPr>
        <p:blipFill>
          <a:blip r:embed="rId12"/>
          <a:stretch/>
        </p:blipFill>
        <p:spPr>
          <a:xfrm>
            <a:off x="740160" y="372564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17"/>
          <p:cNvSpPr/>
          <p:nvPr/>
        </p:nvSpPr>
        <p:spPr>
          <a:xfrm>
            <a:off x="1152000" y="3520440"/>
            <a:ext cx="42512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11" action="ppaction://hlinksldjump"/>
              </a:rPr>
              <a:t>Modules &amp; Methodology
</a:t>
            </a:r>
            <a:r>
              <a:rPr lang="en-US" sz="1000" b="0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11" action="ppaction://hlinksldjump"/>
              </a:rPr>
              <a:t>8 core system modules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9" descr="/home/claude/icons/arrowright_cyan.png">
            <a:hlinkClick r:id="rId11" action="ppaction://hlinksldjump"/>
          </p:cNvPr>
          <p:cNvPicPr/>
          <p:nvPr/>
        </p:nvPicPr>
        <p:blipFill>
          <a:blip r:embed="rId5"/>
          <a:stretch/>
        </p:blipFill>
        <p:spPr>
          <a:xfrm>
            <a:off x="5440680" y="373536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Shape 18">
            <a:hlinkClick r:id="rId13" action="ppaction://hlinksldjump"/>
          </p:cNvPr>
          <p:cNvSpPr/>
          <p:nvPr/>
        </p:nvSpPr>
        <p:spPr>
          <a:xfrm>
            <a:off x="6126480" y="3465720"/>
            <a:ext cx="5257080" cy="7765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Shape 19"/>
          <p:cNvSpPr/>
          <p:nvPr/>
        </p:nvSpPr>
        <p:spPr>
          <a:xfrm>
            <a:off x="6272640" y="368064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7" name="Image 10" descr="/home/claude/icons/award_cyan.png"/>
          <p:cNvPicPr/>
          <p:nvPr/>
        </p:nvPicPr>
        <p:blipFill>
          <a:blip r:embed="rId14"/>
          <a:stretch/>
        </p:blipFill>
        <p:spPr>
          <a:xfrm>
            <a:off x="6318000" y="372564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20"/>
          <p:cNvSpPr/>
          <p:nvPr/>
        </p:nvSpPr>
        <p:spPr>
          <a:xfrm>
            <a:off x="6729840" y="3520440"/>
            <a:ext cx="42512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13" action="ppaction://hlinksldjump"/>
              </a:rPr>
              <a:t>Proposed Results
</a:t>
            </a:r>
            <a:r>
              <a:rPr lang="en-US" sz="1000" b="0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13" action="ppaction://hlinksldjump"/>
              </a:rPr>
              <a:t>What the system delivers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11" descr="/home/claude/icons/arrowright_cyan.png">
            <a:hlinkClick r:id="rId13" action="ppaction://hlinksldjump"/>
          </p:cNvPr>
          <p:cNvPicPr/>
          <p:nvPr/>
        </p:nvPicPr>
        <p:blipFill>
          <a:blip r:embed="rId5"/>
          <a:stretch/>
        </p:blipFill>
        <p:spPr>
          <a:xfrm>
            <a:off x="11018520" y="373536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Shape 21">
            <a:hlinkClick r:id="rId15" action="ppaction://hlinksldjump"/>
          </p:cNvPr>
          <p:cNvSpPr/>
          <p:nvPr/>
        </p:nvSpPr>
        <p:spPr>
          <a:xfrm>
            <a:off x="548640" y="4352400"/>
            <a:ext cx="5257080" cy="7765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Shape 22"/>
          <p:cNvSpPr/>
          <p:nvPr/>
        </p:nvSpPr>
        <p:spPr>
          <a:xfrm>
            <a:off x="694800" y="456732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2" name="Image 12" descr="/home/claude/icons/cpu_cyan.png"/>
          <p:cNvPicPr/>
          <p:nvPr/>
        </p:nvPicPr>
        <p:blipFill>
          <a:blip r:embed="rId16"/>
          <a:stretch/>
        </p:blipFill>
        <p:spPr>
          <a:xfrm>
            <a:off x="740160" y="46126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23"/>
          <p:cNvSpPr/>
          <p:nvPr/>
        </p:nvSpPr>
        <p:spPr>
          <a:xfrm>
            <a:off x="1152000" y="4407480"/>
            <a:ext cx="42512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15" action="ppaction://hlinksldjump"/>
              </a:rPr>
              <a:t>Architecture Diagram
</a:t>
            </a:r>
            <a:r>
              <a:rPr lang="en-US" sz="1000" b="0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15" action="ppaction://hlinksldjump"/>
              </a:rPr>
              <a:t>End-to-end system design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13" descr="/home/claude/icons/arrowright_cyan.png">
            <a:hlinkClick r:id="rId15" action="ppaction://hlinksldjump"/>
          </p:cNvPr>
          <p:cNvPicPr/>
          <p:nvPr/>
        </p:nvPicPr>
        <p:blipFill>
          <a:blip r:embed="rId5"/>
          <a:stretch/>
        </p:blipFill>
        <p:spPr>
          <a:xfrm>
            <a:off x="5440680" y="462240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Shape 24">
            <a:hlinkClick r:id="rId17" action="ppaction://hlinksldjump"/>
          </p:cNvPr>
          <p:cNvSpPr/>
          <p:nvPr/>
        </p:nvSpPr>
        <p:spPr>
          <a:xfrm>
            <a:off x="6126480" y="4352400"/>
            <a:ext cx="5257080" cy="7765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Shape 25"/>
          <p:cNvSpPr/>
          <p:nvPr/>
        </p:nvSpPr>
        <p:spPr>
          <a:xfrm>
            <a:off x="6272640" y="456732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7" name="Image 14" descr="/home/claude/icons/search_cyan.png"/>
          <p:cNvPicPr/>
          <p:nvPr/>
        </p:nvPicPr>
        <p:blipFill>
          <a:blip r:embed="rId18"/>
          <a:stretch/>
        </p:blipFill>
        <p:spPr>
          <a:xfrm>
            <a:off x="6318000" y="46126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26"/>
          <p:cNvSpPr/>
          <p:nvPr/>
        </p:nvSpPr>
        <p:spPr>
          <a:xfrm>
            <a:off x="6729840" y="4407480"/>
            <a:ext cx="42512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17" action="ppaction://hlinksldjump"/>
              </a:rPr>
              <a:t>Module 1 – Input &amp; Feature Analysis
</a:t>
            </a:r>
            <a:r>
              <a:rPr lang="en-US" sz="1000" b="0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17" action="ppaction://hlinksldjump"/>
              </a:rPr>
              <a:t>URL, QR, Email &amp; SMS pipeline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15" descr="/home/claude/icons/arrowright_cyan.png">
            <a:hlinkClick r:id="rId17" action="ppaction://hlinksldjump"/>
          </p:cNvPr>
          <p:cNvPicPr/>
          <p:nvPr/>
        </p:nvPicPr>
        <p:blipFill>
          <a:blip r:embed="rId5"/>
          <a:stretch/>
        </p:blipFill>
        <p:spPr>
          <a:xfrm>
            <a:off x="11018520" y="462240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Shape 27">
            <a:hlinkClick r:id="rId17" action="ppaction://hlinksldjump"/>
          </p:cNvPr>
          <p:cNvSpPr/>
          <p:nvPr/>
        </p:nvSpPr>
        <p:spPr>
          <a:xfrm>
            <a:off x="548640" y="5239440"/>
            <a:ext cx="5257080" cy="7765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Shape 28"/>
          <p:cNvSpPr/>
          <p:nvPr/>
        </p:nvSpPr>
        <p:spPr>
          <a:xfrm>
            <a:off x="694800" y="54543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82" name="Image 16" descr="/home/claude/icons/trending_cyan.png"/>
          <p:cNvPicPr/>
          <p:nvPr/>
        </p:nvPicPr>
        <p:blipFill>
          <a:blip r:embed="rId19"/>
          <a:stretch/>
        </p:blipFill>
        <p:spPr>
          <a:xfrm>
            <a:off x="740160" y="549972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29"/>
          <p:cNvSpPr/>
          <p:nvPr/>
        </p:nvSpPr>
        <p:spPr>
          <a:xfrm>
            <a:off x="1152000" y="5294520"/>
            <a:ext cx="42512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17" action="ppaction://hlinksldjump"/>
              </a:rPr>
              <a:t>Module 2 – ML Classifier
</a:t>
            </a:r>
            <a:r>
              <a:rPr lang="en-US" sz="1000" b="0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17" action="ppaction://hlinksldjump"/>
              </a:rPr>
              <a:t>XGBoost vs Random Forest results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17" descr="/home/claude/icons/arrowright_cyan.png">
            <a:hlinkClick r:id="rId17" action="ppaction://hlinksldjump"/>
          </p:cNvPr>
          <p:cNvPicPr/>
          <p:nvPr/>
        </p:nvPicPr>
        <p:blipFill>
          <a:blip r:embed="rId5"/>
          <a:stretch/>
        </p:blipFill>
        <p:spPr>
          <a:xfrm>
            <a:off x="5440680" y="550944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Shape 30">
            <a:hlinkClick r:id="rId20" action="ppaction://hlinksldjump"/>
          </p:cNvPr>
          <p:cNvSpPr/>
          <p:nvPr/>
        </p:nvSpPr>
        <p:spPr>
          <a:xfrm>
            <a:off x="6126480" y="5239440"/>
            <a:ext cx="5257080" cy="7765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Shape 31"/>
          <p:cNvSpPr/>
          <p:nvPr/>
        </p:nvSpPr>
        <p:spPr>
          <a:xfrm>
            <a:off x="6272640" y="54543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87" name="Image 18" descr="/home/claude/icons/globe_cyan.png"/>
          <p:cNvPicPr/>
          <p:nvPr/>
        </p:nvPicPr>
        <p:blipFill>
          <a:blip r:embed="rId21"/>
          <a:stretch/>
        </p:blipFill>
        <p:spPr>
          <a:xfrm>
            <a:off x="6318000" y="549972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32"/>
          <p:cNvSpPr/>
          <p:nvPr/>
        </p:nvSpPr>
        <p:spPr>
          <a:xfrm>
            <a:off x="6729840" y="5294520"/>
            <a:ext cx="42512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20" action="ppaction://hlinksldjump"/>
              </a:rPr>
              <a:t>Module 3 – Cyber Intelligence
</a:t>
            </a:r>
            <a:r>
              <a:rPr lang="en-US" sz="1000" b="0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20" action="ppaction://hlinksldjump"/>
              </a:rPr>
              <a:t>Real-time risk assessment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19" descr="/home/claude/icons/arrowright_cyan.png">
            <a:hlinkClick r:id="rId20" action="ppaction://hlinksldjump"/>
          </p:cNvPr>
          <p:cNvPicPr/>
          <p:nvPr/>
        </p:nvPicPr>
        <p:blipFill>
          <a:blip r:embed="rId5"/>
          <a:stretch/>
        </p:blipFill>
        <p:spPr>
          <a:xfrm>
            <a:off x="11018520" y="550944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Shape 33">
            <a:hlinkClick r:id="rId22" action="ppaction://hlinksldjump"/>
          </p:cNvPr>
          <p:cNvSpPr/>
          <p:nvPr/>
        </p:nvSpPr>
        <p:spPr>
          <a:xfrm>
            <a:off x="548640" y="6126480"/>
            <a:ext cx="5257080" cy="7765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Shape 34"/>
          <p:cNvSpPr/>
          <p:nvPr/>
        </p:nvSpPr>
        <p:spPr>
          <a:xfrm>
            <a:off x="694800" y="63414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92" name="Image 20" descr="/home/claude/icons/brain_cyan.png"/>
          <p:cNvPicPr/>
          <p:nvPr/>
        </p:nvPicPr>
        <p:blipFill>
          <a:blip r:embed="rId23"/>
          <a:stretch/>
        </p:blipFill>
        <p:spPr>
          <a:xfrm>
            <a:off x="740160" y="63864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35"/>
          <p:cNvSpPr/>
          <p:nvPr/>
        </p:nvSpPr>
        <p:spPr>
          <a:xfrm>
            <a:off x="1152000" y="6181200"/>
            <a:ext cx="42512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22" action="ppaction://hlinksldjump"/>
              </a:rPr>
              <a:t>Module 4 – Explainability &amp; AI Guidance
</a:t>
            </a:r>
            <a:r>
              <a:rPr lang="en-US" sz="1000" b="0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22" action="ppaction://hlinksldjump"/>
              </a:rPr>
              <a:t>SHAP + LLM in action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21" descr="/home/claude/icons/arrowright_cyan.png">
            <a:hlinkClick r:id="rId22" action="ppaction://hlinksldjump"/>
          </p:cNvPr>
          <p:cNvPicPr/>
          <p:nvPr/>
        </p:nvPicPr>
        <p:blipFill>
          <a:blip r:embed="rId5"/>
          <a:stretch/>
        </p:blipFill>
        <p:spPr>
          <a:xfrm>
            <a:off x="5440680" y="639612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Shape 36"/>
          <p:cNvSpPr/>
          <p:nvPr/>
        </p:nvSpPr>
        <p:spPr>
          <a:xfrm>
            <a:off x="6126480" y="6126480"/>
            <a:ext cx="5257080" cy="7765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Shape 37"/>
          <p:cNvSpPr/>
          <p:nvPr/>
        </p:nvSpPr>
        <p:spPr>
          <a:xfrm>
            <a:off x="6272640" y="63414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97" name="Image 22" descr="/home/claude/icons/dashboard_cyan.png"/>
          <p:cNvPicPr/>
          <p:nvPr/>
        </p:nvPicPr>
        <p:blipFill>
          <a:blip r:embed="rId24"/>
          <a:stretch/>
        </p:blipFill>
        <p:spPr>
          <a:xfrm>
            <a:off x="6318000" y="63864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38"/>
          <p:cNvSpPr/>
          <p:nvPr/>
        </p:nvSpPr>
        <p:spPr>
          <a:xfrm>
            <a:off x="6729840" y="6181200"/>
            <a:ext cx="42512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250" b="1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Module 5 – Risk Report &amp; Dashboard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Unified security dashboard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23" descr="/home/claude/icons/arrowright_cyan.png"/>
          <p:cNvPicPr/>
          <p:nvPr/>
        </p:nvPicPr>
        <p:blipFill>
          <a:blip r:embed="rId5"/>
          <a:stretch/>
        </p:blipFill>
        <p:spPr>
          <a:xfrm>
            <a:off x="11018520" y="639612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39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0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ABSTRACT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One Framework. Every Threat Vector.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548640" y="1188720"/>
            <a:ext cx="1106352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D7E1F5"/>
                </a:solidFill>
                <a:effectLst/>
                <a:uFillTx/>
                <a:latin typeface="Times New Roman"/>
                <a:ea typeface="Times New Roman"/>
              </a:rPr>
              <a:t>Phishing attacks are getting smarter — and most detectors are black boxes that block first and explain nothing. SentinelAI is a lightweight, Explainable-AI (XAI) framework that classifies URLs &amp; QR codes, scores real-world cyber risk, and tells users exactly why — in plain language.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548640" y="214884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749880" y="235008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09" name="Image 1" descr="/home/claude/icons/layers_cyan.png"/>
          <p:cNvPicPr/>
          <p:nvPr/>
        </p:nvPicPr>
        <p:blipFill>
          <a:blip r:embed="rId5"/>
          <a:stretch/>
        </p:blipFill>
        <p:spPr>
          <a:xfrm>
            <a:off x="809280" y="240948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6"/>
          <p:cNvSpPr/>
          <p:nvPr/>
        </p:nvSpPr>
        <p:spPr>
          <a:xfrm>
            <a:off x="1371600" y="229500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Hybrid Feature Engineering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768240" y="286200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Lexical URL, domain, SSL/TLS, DNS, structural &amp; JS-behavior signals fused together.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8"/>
          <p:cNvSpPr/>
          <p:nvPr/>
        </p:nvSpPr>
        <p:spPr>
          <a:xfrm>
            <a:off x="4297680" y="214884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Shape 9"/>
          <p:cNvSpPr/>
          <p:nvPr/>
        </p:nvSpPr>
        <p:spPr>
          <a:xfrm>
            <a:off x="4498920" y="235008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14" name="Image 2" descr="/home/claude/icons/brain_cyan.png"/>
          <p:cNvPicPr/>
          <p:nvPr/>
        </p:nvPicPr>
        <p:blipFill>
          <a:blip r:embed="rId6"/>
          <a:stretch/>
        </p:blipFill>
        <p:spPr>
          <a:xfrm>
            <a:off x="4558320" y="240948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10"/>
          <p:cNvSpPr/>
          <p:nvPr/>
        </p:nvSpPr>
        <p:spPr>
          <a:xfrm>
            <a:off x="5120640" y="229500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Explainable by Design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4517280" y="286200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SHAP gives feature-level reasoning behind every single prediction — no black box.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2"/>
          <p:cNvSpPr/>
          <p:nvPr/>
        </p:nvSpPr>
        <p:spPr>
          <a:xfrm>
            <a:off x="8046720" y="214884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Shape 13"/>
          <p:cNvSpPr/>
          <p:nvPr/>
        </p:nvSpPr>
        <p:spPr>
          <a:xfrm>
            <a:off x="8247960" y="235008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19" name="Image 3" descr="/home/claude/icons/barchart_cyan.png"/>
          <p:cNvPicPr/>
          <p:nvPr/>
        </p:nvPicPr>
        <p:blipFill>
          <a:blip r:embed="rId7"/>
          <a:stretch/>
        </p:blipFill>
        <p:spPr>
          <a:xfrm>
            <a:off x="8307360" y="240948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14"/>
          <p:cNvSpPr/>
          <p:nvPr/>
        </p:nvSpPr>
        <p:spPr>
          <a:xfrm>
            <a:off x="8869680" y="229500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Dynamic Risk Score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5"/>
          <p:cNvSpPr/>
          <p:nvPr/>
        </p:nvSpPr>
        <p:spPr>
          <a:xfrm>
            <a:off x="8266320" y="286200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Not just Yes/No — a nuanced, quantified trust score for every website.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6"/>
          <p:cNvSpPr/>
          <p:nvPr/>
        </p:nvSpPr>
        <p:spPr>
          <a:xfrm>
            <a:off x="548640" y="393192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Shape 17"/>
          <p:cNvSpPr/>
          <p:nvPr/>
        </p:nvSpPr>
        <p:spPr>
          <a:xfrm>
            <a:off x="749880" y="413316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24" name="Image 4" descr="/home/claude/icons/message_cyan.png"/>
          <p:cNvPicPr/>
          <p:nvPr/>
        </p:nvPicPr>
        <p:blipFill>
          <a:blip r:embed="rId8"/>
          <a:stretch/>
        </p:blipFill>
        <p:spPr>
          <a:xfrm>
            <a:off x="809280" y="41925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18"/>
          <p:cNvSpPr/>
          <p:nvPr/>
        </p:nvSpPr>
        <p:spPr>
          <a:xfrm>
            <a:off x="1371600" y="407808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LLM-Powered Guidance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768240" y="464508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Converts technical output into human-readable explanations &amp; next steps.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0"/>
          <p:cNvSpPr/>
          <p:nvPr/>
        </p:nvSpPr>
        <p:spPr>
          <a:xfrm>
            <a:off x="4297680" y="393192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Shape 21"/>
          <p:cNvSpPr/>
          <p:nvPr/>
        </p:nvSpPr>
        <p:spPr>
          <a:xfrm>
            <a:off x="4498920" y="413316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29" name="Image 5" descr="/home/claude/icons/qrcode_cyan.png"/>
          <p:cNvPicPr/>
          <p:nvPr/>
        </p:nvPicPr>
        <p:blipFill>
          <a:blip r:embed="rId9"/>
          <a:stretch/>
        </p:blipFill>
        <p:spPr>
          <a:xfrm>
            <a:off x="4558320" y="41925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22"/>
          <p:cNvSpPr/>
          <p:nvPr/>
        </p:nvSpPr>
        <p:spPr>
          <a:xfrm>
            <a:off x="5120640" y="407808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URL + QR Code Coverage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3"/>
          <p:cNvSpPr/>
          <p:nvPr/>
        </p:nvSpPr>
        <p:spPr>
          <a:xfrm>
            <a:off x="4517280" y="464508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Decodes QR payloads and analyzes embedded links for hidden threats.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4"/>
          <p:cNvSpPr/>
          <p:nvPr/>
        </p:nvSpPr>
        <p:spPr>
          <a:xfrm>
            <a:off x="8046720" y="393192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Shape 25"/>
          <p:cNvSpPr/>
          <p:nvPr/>
        </p:nvSpPr>
        <p:spPr>
          <a:xfrm>
            <a:off x="8247960" y="413316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34" name="Image 6" descr="/home/claude/icons/dashboard_cyan.png"/>
          <p:cNvPicPr/>
          <p:nvPr/>
        </p:nvPicPr>
        <p:blipFill>
          <a:blip r:embed="rId4"/>
          <a:stretch/>
        </p:blipFill>
        <p:spPr>
          <a:xfrm>
            <a:off x="8307360" y="41925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26"/>
          <p:cNvSpPr/>
          <p:nvPr/>
        </p:nvSpPr>
        <p:spPr>
          <a:xfrm>
            <a:off x="8869680" y="407808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Interactive Dashboard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7"/>
          <p:cNvSpPr/>
          <p:nvPr/>
        </p:nvSpPr>
        <p:spPr>
          <a:xfrm>
            <a:off x="8266320" y="464508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One unified view for predictions, risk, SHAP charts &amp; mitigation actions.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8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9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40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OBJECTIVES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What SentinelAI Sets Out To Do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548640" y="141732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Shape 4"/>
          <p:cNvSpPr/>
          <p:nvPr/>
        </p:nvSpPr>
        <p:spPr>
          <a:xfrm>
            <a:off x="749880" y="161856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" name="Image 1" descr="/home/claude/icons/target_cyan.png"/>
          <p:cNvPicPr/>
          <p:nvPr/>
        </p:nvPicPr>
        <p:blipFill>
          <a:blip r:embed="rId5"/>
          <a:stretch/>
        </p:blipFill>
        <p:spPr>
          <a:xfrm>
            <a:off x="809280" y="16779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5"/>
          <p:cNvSpPr/>
          <p:nvPr/>
        </p:nvSpPr>
        <p:spPr>
          <a:xfrm>
            <a:off x="1371600" y="156348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Detect Intelligently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768240" y="213048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Identify phishing URLs &amp; QR codes with a lightweight detection framework.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7"/>
          <p:cNvSpPr/>
          <p:nvPr/>
        </p:nvSpPr>
        <p:spPr>
          <a:xfrm>
            <a:off x="4297680" y="141732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4498920" y="161856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" name="Image 2" descr="/home/claude/icons/brain_cyan.png"/>
          <p:cNvPicPr/>
          <p:nvPr/>
        </p:nvPicPr>
        <p:blipFill>
          <a:blip r:embed="rId6"/>
          <a:stretch/>
        </p:blipFill>
        <p:spPr>
          <a:xfrm>
            <a:off x="4558320" y="16779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9"/>
          <p:cNvSpPr/>
          <p:nvPr/>
        </p:nvSpPr>
        <p:spPr>
          <a:xfrm>
            <a:off x="5120640" y="156348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Explain Every Decision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4517280" y="213048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Achieve high interpretability with SHAP (SHapley Additive Explanations).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8046720" y="141732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8247960" y="161856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" name="Image 3" descr="/home/claude/icons/barchart_cyan.png"/>
          <p:cNvPicPr/>
          <p:nvPr/>
        </p:nvPicPr>
        <p:blipFill>
          <a:blip r:embed="rId7"/>
          <a:stretch/>
        </p:blipFill>
        <p:spPr>
          <a:xfrm>
            <a:off x="8307360" y="16779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13"/>
          <p:cNvSpPr/>
          <p:nvPr/>
        </p:nvSpPr>
        <p:spPr>
          <a:xfrm>
            <a:off x="8869680" y="156348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Score, Don't Just Flag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8266320" y="213048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Replace binary Yes/No with a dynamic, quantified cyber risk score.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5"/>
          <p:cNvSpPr/>
          <p:nvPr/>
        </p:nvSpPr>
        <p:spPr>
          <a:xfrm>
            <a:off x="548640" y="320040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Shape 16"/>
          <p:cNvSpPr/>
          <p:nvPr/>
        </p:nvSpPr>
        <p:spPr>
          <a:xfrm>
            <a:off x="749880" y="340164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60" name="Image 4" descr="/home/claude/icons/message_cyan.png"/>
          <p:cNvPicPr/>
          <p:nvPr/>
        </p:nvPicPr>
        <p:blipFill>
          <a:blip r:embed="rId8"/>
          <a:stretch/>
        </p:blipFill>
        <p:spPr>
          <a:xfrm>
            <a:off x="809280" y="346104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17"/>
          <p:cNvSpPr/>
          <p:nvPr/>
        </p:nvSpPr>
        <p:spPr>
          <a:xfrm>
            <a:off x="1371600" y="334656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Guide the User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768240" y="391356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Deliver personalized, human-readable security advice via an LLM.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9"/>
          <p:cNvSpPr/>
          <p:nvPr/>
        </p:nvSpPr>
        <p:spPr>
          <a:xfrm>
            <a:off x="4297680" y="320040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Shape 20"/>
          <p:cNvSpPr/>
          <p:nvPr/>
        </p:nvSpPr>
        <p:spPr>
          <a:xfrm>
            <a:off x="4498920" y="340164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65" name="Image 5" descr="/home/claude/icons/dashboard_cyan.png"/>
          <p:cNvPicPr/>
          <p:nvPr/>
        </p:nvPicPr>
        <p:blipFill>
          <a:blip r:embed="rId4"/>
          <a:stretch/>
        </p:blipFill>
        <p:spPr>
          <a:xfrm>
            <a:off x="4558320" y="346104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21"/>
          <p:cNvSpPr/>
          <p:nvPr/>
        </p:nvSpPr>
        <p:spPr>
          <a:xfrm>
            <a:off x="5120640" y="334656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Visualize the Threat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2"/>
          <p:cNvSpPr/>
          <p:nvPr/>
        </p:nvSpPr>
        <p:spPr>
          <a:xfrm>
            <a:off x="4517280" y="391356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Build an interactive dashboard for threat analysis &amp; mitigation actions.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3"/>
          <p:cNvSpPr/>
          <p:nvPr/>
        </p:nvSpPr>
        <p:spPr>
          <a:xfrm>
            <a:off x="8046720" y="320040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Shape 24"/>
          <p:cNvSpPr/>
          <p:nvPr/>
        </p:nvSpPr>
        <p:spPr>
          <a:xfrm>
            <a:off x="8247960" y="340164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70" name="Image 6" descr="/home/claude/icons/mail_cyan.png"/>
          <p:cNvPicPr/>
          <p:nvPr/>
        </p:nvPicPr>
        <p:blipFill>
          <a:blip r:embed="rId9"/>
          <a:stretch/>
        </p:blipFill>
        <p:spPr>
          <a:xfrm>
            <a:off x="8307360" y="346104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 25"/>
          <p:cNvSpPr/>
          <p:nvPr/>
        </p:nvSpPr>
        <p:spPr>
          <a:xfrm>
            <a:off x="8869680" y="334656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Recover What's Legitimate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6"/>
          <p:cNvSpPr/>
          <p:nvPr/>
        </p:nvSpPr>
        <p:spPr>
          <a:xfrm>
            <a:off x="8266320" y="391356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Refilter legitimate mail from spam and recover it safely.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7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8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>
            <a:hlinkClick r:id="rId3" action="ppaction://hlinksldjump"/>
          </p:cNvPr>
          <p:cNvSpPr/>
          <p:nvPr/>
        </p:nvSpPr>
        <p:spPr>
          <a:xfrm>
            <a:off x="11539800" y="26532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76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5676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1"/>
          <p:cNvSpPr/>
          <p:nvPr/>
        </p:nvSpPr>
        <p:spPr>
          <a:xfrm>
            <a:off x="548640" y="35676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SCOPE OF THE PROJECT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548640" y="63108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Who SentinelAI Protects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548640" y="142668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749880" y="162792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81" name="Image 1" descr="/home/claude/icons/users_cyan.png"/>
          <p:cNvPicPr/>
          <p:nvPr/>
        </p:nvPicPr>
        <p:blipFill>
          <a:blip r:embed="rId5"/>
          <a:stretch/>
        </p:blipFill>
        <p:spPr>
          <a:xfrm>
            <a:off x="809280" y="168732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5"/>
          <p:cNvSpPr/>
          <p:nvPr/>
        </p:nvSpPr>
        <p:spPr>
          <a:xfrm>
            <a:off x="1371600" y="157284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Individual Users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768240" y="213984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Personal protection against phishing, scams, malicious URLs &amp; QR codes.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4297680" y="142668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Shape 8"/>
          <p:cNvSpPr/>
          <p:nvPr/>
        </p:nvSpPr>
        <p:spPr>
          <a:xfrm>
            <a:off x="4498920" y="162792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86" name="Image 2" descr="/home/claude/icons/book_cyan.png"/>
          <p:cNvPicPr/>
          <p:nvPr/>
        </p:nvPicPr>
        <p:blipFill>
          <a:blip r:embed="rId6"/>
          <a:stretch/>
        </p:blipFill>
        <p:spPr>
          <a:xfrm>
            <a:off x="4558320" y="168732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9"/>
          <p:cNvSpPr/>
          <p:nvPr/>
        </p:nvSpPr>
        <p:spPr>
          <a:xfrm>
            <a:off x="5120640" y="157284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Educational Institutions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0"/>
          <p:cNvSpPr/>
          <p:nvPr/>
        </p:nvSpPr>
        <p:spPr>
          <a:xfrm>
            <a:off x="4517280" y="213984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Protect students &amp; staff while improving campus-wide cyber awareness.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8046720" y="142668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Shape 12"/>
          <p:cNvSpPr/>
          <p:nvPr/>
        </p:nvSpPr>
        <p:spPr>
          <a:xfrm>
            <a:off x="8247960" y="162792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91" name="Image 3" descr="/home/claude/icons/briefcase_cyan.png"/>
          <p:cNvPicPr/>
          <p:nvPr/>
        </p:nvPicPr>
        <p:blipFill>
          <a:blip r:embed="rId7"/>
          <a:stretch/>
        </p:blipFill>
        <p:spPr>
          <a:xfrm>
            <a:off x="8307360" y="168732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13"/>
          <p:cNvSpPr/>
          <p:nvPr/>
        </p:nvSpPr>
        <p:spPr>
          <a:xfrm>
            <a:off x="8869680" y="157284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Small &amp; Medium Businesses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8266320" y="213984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Help employees spot suspicious emails, links &amp; messages.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5"/>
          <p:cNvSpPr/>
          <p:nvPr/>
        </p:nvSpPr>
        <p:spPr>
          <a:xfrm>
            <a:off x="548640" y="320976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Shape 16"/>
          <p:cNvSpPr/>
          <p:nvPr/>
        </p:nvSpPr>
        <p:spPr>
          <a:xfrm>
            <a:off x="749880" y="341100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96" name="Image 4" descr="/home/claude/icons/globe_cyan.png"/>
          <p:cNvPicPr/>
          <p:nvPr/>
        </p:nvPicPr>
        <p:blipFill>
          <a:blip r:embed="rId8"/>
          <a:stretch/>
        </p:blipFill>
        <p:spPr>
          <a:xfrm>
            <a:off x="809280" y="347040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17"/>
          <p:cNvSpPr/>
          <p:nvPr/>
        </p:nvSpPr>
        <p:spPr>
          <a:xfrm>
            <a:off x="1371600" y="335592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Organizations &amp; Enterprises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8"/>
          <p:cNvSpPr/>
          <p:nvPr/>
        </p:nvSpPr>
        <p:spPr>
          <a:xfrm>
            <a:off x="768240" y="392292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Centralized cyber-risk monitoring and threat assessment.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9"/>
          <p:cNvSpPr/>
          <p:nvPr/>
        </p:nvSpPr>
        <p:spPr>
          <a:xfrm>
            <a:off x="4297680" y="320976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Shape 20"/>
          <p:cNvSpPr/>
          <p:nvPr/>
        </p:nvSpPr>
        <p:spPr>
          <a:xfrm>
            <a:off x="4498920" y="341100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01" name="Image 5" descr="/home/claude/icons/barchart_cyan.png"/>
          <p:cNvPicPr/>
          <p:nvPr/>
        </p:nvPicPr>
        <p:blipFill>
          <a:blip r:embed="rId9"/>
          <a:stretch/>
        </p:blipFill>
        <p:spPr>
          <a:xfrm>
            <a:off x="4558320" y="347040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21"/>
          <p:cNvSpPr/>
          <p:nvPr/>
        </p:nvSpPr>
        <p:spPr>
          <a:xfrm>
            <a:off x="5120640" y="335592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Financial &amp; E-Commerce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2"/>
          <p:cNvSpPr/>
          <p:nvPr/>
        </p:nvSpPr>
        <p:spPr>
          <a:xfrm>
            <a:off x="4517280" y="392292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Detect phishing &amp; fraudulent links targeting customers.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3"/>
          <p:cNvSpPr/>
          <p:nvPr/>
        </p:nvSpPr>
        <p:spPr>
          <a:xfrm>
            <a:off x="8046720" y="320976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Shape 24"/>
          <p:cNvSpPr/>
          <p:nvPr/>
        </p:nvSpPr>
        <p:spPr>
          <a:xfrm>
            <a:off x="8247960" y="341100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06" name="Image 6" descr="/home/claude/icons/cloud_cyan.png"/>
          <p:cNvPicPr/>
          <p:nvPr/>
        </p:nvPicPr>
        <p:blipFill>
          <a:blip r:embed="rId10"/>
          <a:stretch/>
        </p:blipFill>
        <p:spPr>
          <a:xfrm>
            <a:off x="8307360" y="347040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25"/>
          <p:cNvSpPr/>
          <p:nvPr/>
        </p:nvSpPr>
        <p:spPr>
          <a:xfrm>
            <a:off x="8869680" y="335592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Future SaaS Product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6"/>
          <p:cNvSpPr/>
          <p:nvPr/>
        </p:nvSpPr>
        <p:spPr>
          <a:xfrm>
            <a:off x="8266320" y="392292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SentinelAI as a web platform, browser extension, or API service.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7"/>
          <p:cNvSpPr/>
          <p:nvPr/>
        </p:nvSpPr>
        <p:spPr>
          <a:xfrm>
            <a:off x="457200" y="65563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8"/>
          <p:cNvSpPr/>
          <p:nvPr/>
        </p:nvSpPr>
        <p:spPr>
          <a:xfrm>
            <a:off x="11338560" y="65563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12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LITERATURE SURVEY — PART 1 OF 2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Grounding SentinelAI in Prior Work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5" name="Table 0"/>
          <p:cNvGraphicFramePr/>
          <p:nvPr/>
        </p:nvGraphicFramePr>
        <p:xfrm>
          <a:off x="502920" y="1371600"/>
          <a:ext cx="11292120" cy="4984560"/>
        </p:xfrm>
        <a:graphic>
          <a:graphicData uri="http://schemas.openxmlformats.org/drawingml/2006/table">
            <a:tbl>
              <a:tblPr/>
              <a:tblGrid>
                <a:gridCol w="60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7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472C4"/>
                          </a:solidFill>
                          <a:effectLst/>
                          <a:uFillTx/>
                          <a:latin typeface="Times New Roman"/>
                        </a:rPr>
                        <a:t>S.No.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472C4"/>
                          </a:solidFill>
                          <a:effectLst/>
                          <a:uFillTx/>
                          <a:latin typeface="Times New Roman"/>
                        </a:rPr>
                        <a:t>Title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472C4"/>
                          </a:solidFill>
                          <a:effectLst/>
                          <a:uFillTx/>
                          <a:latin typeface="Times New Roman"/>
                        </a:rPr>
                        <a:t>Authors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472C4"/>
                          </a:solidFill>
                          <a:effectLst/>
                          <a:uFillTx/>
                          <a:latin typeface="Times New Roman"/>
                        </a:rPr>
                        <a:t>Journal / Year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472C4"/>
                          </a:solidFill>
                          <a:effectLst/>
                          <a:uFillTx/>
                          <a:latin typeface="Times New Roman"/>
                        </a:rPr>
                        <a:t>Methodology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4472C4"/>
                          </a:solidFill>
                          <a:effectLst/>
                          <a:uFillTx/>
                          <a:latin typeface="Times New Roman"/>
                        </a:rPr>
                        <a:t>Pros &amp; Cons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6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1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Phishing URL Detection and Interpretability with ML: A Cross-Dataset Approach (Base)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Liyan Yi, Adebayo Omotosho, Hamed Balogun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Wiley • 2026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RF, XGBoost, LightGBM + SHAP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Pros: Strong generalization across datasets.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Cons: Only focuses on URL text.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2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APOLLO: A GPT-based tool to detect phishing emails (Research)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Giuseppe Desolda, Francesco Greco, Luca Vigano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ACM HCI • 2025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GPT-4o with VirusTotal API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Pros: 99% accuracy; high-quality user warnings.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Cons: High API costs.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6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3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Explainable machine learning for phishing feature detection (Research)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Maria Carla Calzarossa, Paolo Giudici, Rasha Zieni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Wiley • 2024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Random Forest with Lorenz Zonoids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Pros: Identifies key features effectively.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Cons: Limited to 74 URL features.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6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4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Evaluating the Efficiency of AI/ML Techniques on Cyber Security Solutions (Survey)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Ozkan-Okay, Akin, Aslan, Kosunalp, Iliev, Stoyanov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IEEE Access • 2024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Comprehensive survey of ML, DL, RL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Pros: Broad overview of cyber threats.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Cons: General review, no new tool.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6" name="Text 3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19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LITERATURE SURVEY — PART 2 OF 2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Grounding SentinelAI in Prior Work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2" name="Table 0"/>
          <p:cNvGraphicFramePr/>
          <p:nvPr/>
        </p:nvGraphicFramePr>
        <p:xfrm>
          <a:off x="457200" y="1371600"/>
          <a:ext cx="11373480" cy="50554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8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4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4472C4"/>
                          </a:solidFill>
                          <a:effectLst/>
                          <a:uFillTx/>
                          <a:latin typeface="Times New Roman"/>
                        </a:rPr>
                        <a:t>S. No.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4472C4"/>
                          </a:solidFill>
                          <a:effectLst/>
                          <a:uFillTx/>
                          <a:latin typeface="Times New Roman"/>
                        </a:rPr>
                        <a:t>Title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4472C4"/>
                          </a:solidFill>
                          <a:effectLst/>
                          <a:uFillTx/>
                          <a:latin typeface="Times New Roman"/>
                        </a:rPr>
                        <a:t>Authors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4472C4"/>
                          </a:solidFill>
                          <a:effectLst/>
                          <a:uFillTx/>
                          <a:latin typeface="Times New Roman"/>
                        </a:rPr>
                        <a:t>Journal / Year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4472C4"/>
                          </a:solidFill>
                          <a:effectLst/>
                          <a:uFillTx/>
                          <a:latin typeface="Times New Roman"/>
                        </a:rPr>
                        <a:t>Methodology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4472C4"/>
                          </a:solidFill>
                          <a:effectLst/>
                          <a:uFillTx/>
                          <a:latin typeface="Times New Roman"/>
                        </a:rPr>
                        <a:t>Pros &amp; Cons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8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 comprehensive survey of AI-enabled phishing attack detection (Survey)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Basit, Zafar, Liu, Javed, Jalil, Kifayat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Telecom. Systems (Springer) • 2021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Categorized into 4 AI-based groups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Pros: Clear map of detection landscape.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Cons: Surveys existing work only.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8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 Perspective on Explainable AI Methods: SHAP and LIME (Lit)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Salih, Raisi-Estabragh, Boscolo Galazzo, et al.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Adv. Intelligent Systems (Wiley) • 2024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Tested SHAP &amp; LIME on medical data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Pros: Shows XAI tools can be unreliable.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Cons: Hard to map to cybersecurity.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8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Systematic Review on Phishing Email Detection Using NLP (Survey)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Salloum, Gaber, Vadera, Shaalan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IEEE Access • 2022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Analyzed 100 papers on NLP for phishing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Pros: Pinpoints top NLP techniques.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Cons: English-language papers only.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8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8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Artificial Intelligence for Cybersecurity: A State of the Art (Lit)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Al Siam, Hassan, Bhuiyan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IEEE ICAIC • 2024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Mapped AI types to defense roles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Pros: Clear multi-AI strategy.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Cons: Theoretical, no code testing.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81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9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Synergistic Phishing Intrusion Detection: Hybrid Ensembles + XAI (Research)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Isaac Kofi Nti, Murat Ozer, Chengcheng Li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Electronics (MDPI) • 2026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Behavioral + structural hybrid ensembles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Pros: 97% accuracy via multi-signal fusion.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Cons: Behavior tracking raises privacy concerns.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3360" marR="63360" marT="50760" marB="50760"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3A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3" name="Text 3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09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>
            <a:hlinkClick r:id="rId2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26" name="Image 0" descr="/home/claude/icons/dashboard_cyan.png">
            <a:hlinkClick r:id="rId2" action="ppaction://hlinksldjump"/>
          </p:cNvPr>
          <p:cNvPicPr/>
          <p:nvPr/>
        </p:nvPicPr>
        <p:blipFill>
          <a:blip r:embed="rId3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EXISTING SYSTEM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Today's Tools Fall Short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3"/>
          <p:cNvSpPr/>
          <p:nvPr/>
        </p:nvSpPr>
        <p:spPr>
          <a:xfrm>
            <a:off x="548640" y="1371600"/>
            <a:ext cx="3291120" cy="4708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7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Shape 4"/>
          <p:cNvSpPr/>
          <p:nvPr/>
        </p:nvSpPr>
        <p:spPr>
          <a:xfrm>
            <a:off x="822960" y="1645920"/>
            <a:ext cx="547920" cy="54792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31" name="Image 1" descr="/home/claude/icons/alert_orange.png"/>
          <p:cNvPicPr/>
          <p:nvPr/>
        </p:nvPicPr>
        <p:blipFill>
          <a:blip r:embed="rId4"/>
          <a:stretch/>
        </p:blipFill>
        <p:spPr>
          <a:xfrm>
            <a:off x="894240" y="1717200"/>
            <a:ext cx="405360" cy="40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5"/>
          <p:cNvSpPr/>
          <p:nvPr/>
        </p:nvSpPr>
        <p:spPr>
          <a:xfrm>
            <a:off x="777240" y="2331720"/>
            <a:ext cx="28339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F5296"/>
                </a:solidFill>
                <a:effectLst/>
                <a:uFillTx/>
                <a:latin typeface="Times New Roman"/>
                <a:ea typeface="Times New Roman"/>
              </a:rPr>
              <a:t>Currently Used Tools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6"/>
          <p:cNvSpPr/>
          <p:nvPr/>
        </p:nvSpPr>
        <p:spPr>
          <a:xfrm>
            <a:off x="777240" y="2697480"/>
            <a:ext cx="283392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VirusTotal &amp; Google Safe Browsing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7"/>
          <p:cNvSpPr/>
          <p:nvPr/>
        </p:nvSpPr>
        <p:spPr>
          <a:xfrm>
            <a:off x="777240" y="3520440"/>
            <a:ext cx="2833920" cy="237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Widely used reputation-lookup services — but they only tell you if a site is blocklisted, not why it's risky.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8"/>
          <p:cNvSpPr/>
          <p:nvPr/>
        </p:nvSpPr>
        <p:spPr>
          <a:xfrm>
            <a:off x="4069080" y="1371600"/>
            <a:ext cx="7543080" cy="10234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Shape 9"/>
          <p:cNvSpPr/>
          <p:nvPr/>
        </p:nvSpPr>
        <p:spPr>
          <a:xfrm>
            <a:off x="4215240" y="17100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37" name="Image 2" descr="/home/claude/icons/lock_orange.png"/>
          <p:cNvPicPr/>
          <p:nvPr/>
        </p:nvPicPr>
        <p:blipFill>
          <a:blip r:embed="rId5"/>
          <a:stretch/>
        </p:blipFill>
        <p:spPr>
          <a:xfrm>
            <a:off x="4260600" y="17550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10"/>
          <p:cNvSpPr/>
          <p:nvPr/>
        </p:nvSpPr>
        <p:spPr>
          <a:xfrm>
            <a:off x="4709160" y="1417320"/>
            <a:ext cx="6738480" cy="93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Black Box Models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Many current systems use complex Deep Learning (like CNNs or RNNs) that are highly accurate but impossible for humans to understand.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1"/>
          <p:cNvSpPr/>
          <p:nvPr/>
        </p:nvSpPr>
        <p:spPr>
          <a:xfrm>
            <a:off x="4069080" y="2523600"/>
            <a:ext cx="7543080" cy="10234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Shape 12"/>
          <p:cNvSpPr/>
          <p:nvPr/>
        </p:nvSpPr>
        <p:spPr>
          <a:xfrm>
            <a:off x="4215240" y="28620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41" name="Image 3" descr="/home/claude/icons/cpu_orange.png"/>
          <p:cNvPicPr/>
          <p:nvPr/>
        </p:nvPicPr>
        <p:blipFill>
          <a:blip r:embed="rId6"/>
          <a:stretch/>
        </p:blipFill>
        <p:spPr>
          <a:xfrm>
            <a:off x="4260600" y="29073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 13"/>
          <p:cNvSpPr/>
          <p:nvPr/>
        </p:nvSpPr>
        <p:spPr>
          <a:xfrm>
            <a:off x="4709160" y="2569320"/>
            <a:ext cx="6738480" cy="93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Computational Intensity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Existing frameworks often require significant hardware, making them slow for real-time mobile or browser use.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4"/>
          <p:cNvSpPr/>
          <p:nvPr/>
        </p:nvSpPr>
        <p:spPr>
          <a:xfrm>
            <a:off x="4069080" y="3675960"/>
            <a:ext cx="7543080" cy="10234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Shape 15"/>
          <p:cNvSpPr/>
          <p:nvPr/>
        </p:nvSpPr>
        <p:spPr>
          <a:xfrm>
            <a:off x="4215240" y="40143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45" name="Image 4" descr="/home/claude/icons/database_orange.png"/>
          <p:cNvPicPr/>
          <p:nvPr/>
        </p:nvPicPr>
        <p:blipFill>
          <a:blip r:embed="rId7"/>
          <a:stretch/>
        </p:blipFill>
        <p:spPr>
          <a:xfrm>
            <a:off x="4260600" y="40593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16"/>
          <p:cNvSpPr/>
          <p:nvPr/>
        </p:nvSpPr>
        <p:spPr>
          <a:xfrm>
            <a:off x="4709160" y="3721680"/>
            <a:ext cx="6738480" cy="93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Static Signatures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Traditional antivirus software often fails against “zero-hour” (brand new) phishing attacks that don’t match known signatures.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7"/>
          <p:cNvSpPr/>
          <p:nvPr/>
        </p:nvSpPr>
        <p:spPr>
          <a:xfrm>
            <a:off x="4069080" y="4827960"/>
            <a:ext cx="7543080" cy="10234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Shape 18"/>
          <p:cNvSpPr/>
          <p:nvPr/>
        </p:nvSpPr>
        <p:spPr>
          <a:xfrm>
            <a:off x="4215240" y="51663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49" name="Image 5" descr="/home/claude/icons/message_orange.png"/>
          <p:cNvPicPr/>
          <p:nvPr/>
        </p:nvPicPr>
        <p:blipFill>
          <a:blip r:embed="rId8"/>
          <a:stretch/>
        </p:blipFill>
        <p:spPr>
          <a:xfrm>
            <a:off x="4260600" y="52113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19"/>
          <p:cNvSpPr/>
          <p:nvPr/>
        </p:nvSpPr>
        <p:spPr>
          <a:xfrm>
            <a:off x="4709160" y="4873680"/>
            <a:ext cx="6738480" cy="93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Lack of Guidance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Most tools simply block a site without telling the user how to protect themselves next time.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0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1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>
            <a:hlinkClick r:id="rId2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54" name="Image 0" descr="/home/claude/icons/dashboard_cyan.png">
            <a:hlinkClick r:id="rId2" action="ppaction://hlinksldjump"/>
          </p:cNvPr>
          <p:cNvPicPr/>
          <p:nvPr/>
        </p:nvPicPr>
        <p:blipFill>
          <a:blip r:embed="rId3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PROPOSED SYSTEM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The SentinelAI Answer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"/>
          <p:cNvSpPr/>
          <p:nvPr/>
        </p:nvSpPr>
        <p:spPr>
          <a:xfrm>
            <a:off x="548640" y="141732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Shape 4"/>
          <p:cNvSpPr/>
          <p:nvPr/>
        </p:nvSpPr>
        <p:spPr>
          <a:xfrm>
            <a:off x="749880" y="161856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59" name="Image 1" descr="/home/claude/icons/layers_cyan.png"/>
          <p:cNvPicPr/>
          <p:nvPr/>
        </p:nvPicPr>
        <p:blipFill>
          <a:blip r:embed="rId4"/>
          <a:stretch/>
        </p:blipFill>
        <p:spPr>
          <a:xfrm>
            <a:off x="809280" y="16779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Text 5"/>
          <p:cNvSpPr/>
          <p:nvPr/>
        </p:nvSpPr>
        <p:spPr>
          <a:xfrm>
            <a:off x="1371600" y="156348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Tiered SentinelAI Framework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768240" y="213048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 tiered approach combining feature extraction, lightweight ML classification, and an interpretability layer.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7"/>
          <p:cNvSpPr/>
          <p:nvPr/>
        </p:nvSpPr>
        <p:spPr>
          <a:xfrm>
            <a:off x="4297680" y="141732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Shape 8"/>
          <p:cNvSpPr/>
          <p:nvPr/>
        </p:nvSpPr>
        <p:spPr>
          <a:xfrm>
            <a:off x="4498920" y="161856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64" name="Image 2" descr="/home/claude/icons/search_cyan.png"/>
          <p:cNvPicPr/>
          <p:nvPr/>
        </p:nvPicPr>
        <p:blipFill>
          <a:blip r:embed="rId5"/>
          <a:stretch/>
        </p:blipFill>
        <p:spPr>
          <a:xfrm>
            <a:off x="4558320" y="16779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Text 9"/>
          <p:cNvSpPr/>
          <p:nvPr/>
        </p:nvSpPr>
        <p:spPr>
          <a:xfrm>
            <a:off x="5120640" y="156348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Hybrid Feature Engineering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0"/>
          <p:cNvSpPr/>
          <p:nvPr/>
        </p:nvSpPr>
        <p:spPr>
          <a:xfrm>
            <a:off x="4517280" y="213048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Analyzes lexical URL data, domain age, SSL status, and webpage JavaScript behavior.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1"/>
          <p:cNvSpPr/>
          <p:nvPr/>
        </p:nvSpPr>
        <p:spPr>
          <a:xfrm>
            <a:off x="8046720" y="141732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Shape 12"/>
          <p:cNvSpPr/>
          <p:nvPr/>
        </p:nvSpPr>
        <p:spPr>
          <a:xfrm>
            <a:off x="8247960" y="161856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69" name="Image 3" descr="/home/claude/icons/brain_cyan.png"/>
          <p:cNvPicPr/>
          <p:nvPr/>
        </p:nvPicPr>
        <p:blipFill>
          <a:blip r:embed="rId6"/>
          <a:stretch/>
        </p:blipFill>
        <p:spPr>
          <a:xfrm>
            <a:off x="8307360" y="16779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 13"/>
          <p:cNvSpPr/>
          <p:nvPr/>
        </p:nvSpPr>
        <p:spPr>
          <a:xfrm>
            <a:off x="8869680" y="156348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Explainable AI (XAI)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4"/>
          <p:cNvSpPr/>
          <p:nvPr/>
        </p:nvSpPr>
        <p:spPr>
          <a:xfrm>
            <a:off x="8266320" y="213048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Uses the SHAP framework to show exactly which features (e.g., a suspicious URL length or missing SSL) led to the classification — or Feature Importance techniques in the RF model.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5"/>
          <p:cNvSpPr/>
          <p:nvPr/>
        </p:nvSpPr>
        <p:spPr>
          <a:xfrm>
            <a:off x="548640" y="320040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Shape 16"/>
          <p:cNvSpPr/>
          <p:nvPr/>
        </p:nvSpPr>
        <p:spPr>
          <a:xfrm>
            <a:off x="749880" y="340164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74" name="Image 4" descr="/home/claude/icons/message_cyan.png"/>
          <p:cNvPicPr/>
          <p:nvPr/>
        </p:nvPicPr>
        <p:blipFill>
          <a:blip r:embed="rId7"/>
          <a:stretch/>
        </p:blipFill>
        <p:spPr>
          <a:xfrm>
            <a:off x="809280" y="346104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 17"/>
          <p:cNvSpPr/>
          <p:nvPr/>
        </p:nvSpPr>
        <p:spPr>
          <a:xfrm>
            <a:off x="1371600" y="334656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LLM Integration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8"/>
          <p:cNvSpPr/>
          <p:nvPr/>
        </p:nvSpPr>
        <p:spPr>
          <a:xfrm>
            <a:off x="768240" y="391356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Automatically generates easy-to-understand explanations and security “next steps” for the user.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9"/>
          <p:cNvSpPr/>
          <p:nvPr/>
        </p:nvSpPr>
        <p:spPr>
          <a:xfrm>
            <a:off x="4297680" y="320040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Shape 20"/>
          <p:cNvSpPr/>
          <p:nvPr/>
        </p:nvSpPr>
        <p:spPr>
          <a:xfrm>
            <a:off x="4498920" y="340164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79" name="Image 5" descr="/home/claude/icons/barchart_cyan.png"/>
          <p:cNvPicPr/>
          <p:nvPr/>
        </p:nvPicPr>
        <p:blipFill>
          <a:blip r:embed="rId8"/>
          <a:stretch/>
        </p:blipFill>
        <p:spPr>
          <a:xfrm>
            <a:off x="4558320" y="346104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21"/>
          <p:cNvSpPr/>
          <p:nvPr/>
        </p:nvSpPr>
        <p:spPr>
          <a:xfrm>
            <a:off x="5120640" y="334656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Dynamic Risk Score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2"/>
          <p:cNvSpPr/>
          <p:nvPr/>
        </p:nvSpPr>
        <p:spPr>
          <a:xfrm>
            <a:off x="4517280" y="391356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Provides a nuanced trustworthiness rating rather than a binary result.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3"/>
          <p:cNvSpPr/>
          <p:nvPr/>
        </p:nvSpPr>
        <p:spPr>
          <a:xfrm>
            <a:off x="8046720" y="320040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Shape 24"/>
          <p:cNvSpPr/>
          <p:nvPr/>
        </p:nvSpPr>
        <p:spPr>
          <a:xfrm>
            <a:off x="8247960" y="340164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84" name="Image 6" descr="/home/claude/icons/mail_cyan.png"/>
          <p:cNvPicPr/>
          <p:nvPr/>
        </p:nvPicPr>
        <p:blipFill>
          <a:blip r:embed="rId9"/>
          <a:stretch/>
        </p:blipFill>
        <p:spPr>
          <a:xfrm>
            <a:off x="8307360" y="346104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 25"/>
          <p:cNvSpPr/>
          <p:nvPr/>
        </p:nvSpPr>
        <p:spPr>
          <a:xfrm>
            <a:off x="8869680" y="334656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Smart Spam Recovery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6"/>
          <p:cNvSpPr/>
          <p:nvPr/>
        </p:nvSpPr>
        <p:spPr>
          <a:xfrm>
            <a:off x="8266320" y="391356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Detects the legitimate emails in the spam and then helps to recover them safely.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7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8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11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90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MODULES &amp; METHODOLOGIES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How SentinelAI Is Built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3"/>
          <p:cNvSpPr/>
          <p:nvPr/>
        </p:nvSpPr>
        <p:spPr>
          <a:xfrm>
            <a:off x="548640" y="1554480"/>
            <a:ext cx="5439960" cy="2102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768240" y="1774080"/>
            <a:ext cx="502200" cy="5022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95" name="Image 1" descr="/home/claude/icons/search_cyan.png"/>
          <p:cNvPicPr/>
          <p:nvPr/>
        </p:nvPicPr>
        <p:blipFill>
          <a:blip r:embed="rId5"/>
          <a:stretch/>
        </p:blipFill>
        <p:spPr>
          <a:xfrm>
            <a:off x="833400" y="183924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Text 5"/>
          <p:cNvSpPr/>
          <p:nvPr/>
        </p:nvSpPr>
        <p:spPr>
          <a:xfrm>
            <a:off x="1408320" y="1755720"/>
            <a:ext cx="4434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2F5296"/>
                </a:solidFill>
                <a:effectLst/>
                <a:uFillTx/>
                <a:latin typeface="Times New Roman"/>
                <a:ea typeface="Times New Roman"/>
              </a:rPr>
              <a:t>MODULE 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1408320" y="2011680"/>
            <a:ext cx="4434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Hybrid Feature Engineering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786240" y="2606040"/>
            <a:ext cx="49827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Extract lexical URL, domain, SSL, DNS, HTTP &amp; webpage structural features.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8"/>
          <p:cNvSpPr/>
          <p:nvPr/>
        </p:nvSpPr>
        <p:spPr>
          <a:xfrm>
            <a:off x="6309360" y="1554480"/>
            <a:ext cx="5439960" cy="2102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Shape 9"/>
          <p:cNvSpPr/>
          <p:nvPr/>
        </p:nvSpPr>
        <p:spPr>
          <a:xfrm>
            <a:off x="6528960" y="1774080"/>
            <a:ext cx="502200" cy="5022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01" name="Image 2" descr="/home/claude/icons/globe_cyan.png"/>
          <p:cNvPicPr/>
          <p:nvPr/>
        </p:nvPicPr>
        <p:blipFill>
          <a:blip r:embed="rId6"/>
          <a:stretch/>
        </p:blipFill>
        <p:spPr>
          <a:xfrm>
            <a:off x="6594120" y="183924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 10"/>
          <p:cNvSpPr/>
          <p:nvPr/>
        </p:nvSpPr>
        <p:spPr>
          <a:xfrm>
            <a:off x="7169040" y="1755720"/>
            <a:ext cx="4434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2F5296"/>
                </a:solidFill>
                <a:effectLst/>
                <a:uFillTx/>
                <a:latin typeface="Times New Roman"/>
                <a:ea typeface="Times New Roman"/>
              </a:rPr>
              <a:t>MODULE 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1"/>
          <p:cNvSpPr/>
          <p:nvPr/>
        </p:nvSpPr>
        <p:spPr>
          <a:xfrm>
            <a:off x="7169040" y="2011680"/>
            <a:ext cx="4434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Real-Time Cyber Intelligence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2"/>
          <p:cNvSpPr/>
          <p:nvPr/>
        </p:nvSpPr>
        <p:spPr>
          <a:xfrm>
            <a:off x="6546960" y="2606040"/>
            <a:ext cx="49827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Enrich features using live DNS, RDAP/WHOIS, SSL, reputation &amp; threat-intel data.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3"/>
          <p:cNvSpPr/>
          <p:nvPr/>
        </p:nvSpPr>
        <p:spPr>
          <a:xfrm>
            <a:off x="548640" y="3931920"/>
            <a:ext cx="5439960" cy="2102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Shape 14"/>
          <p:cNvSpPr/>
          <p:nvPr/>
        </p:nvSpPr>
        <p:spPr>
          <a:xfrm>
            <a:off x="768240" y="4151520"/>
            <a:ext cx="502200" cy="5022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07" name="Image 3" descr="/home/claude/icons/cpu_cyan.png"/>
          <p:cNvPicPr/>
          <p:nvPr/>
        </p:nvPicPr>
        <p:blipFill>
          <a:blip r:embed="rId7"/>
          <a:stretch/>
        </p:blipFill>
        <p:spPr>
          <a:xfrm>
            <a:off x="833400" y="421668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 15"/>
          <p:cNvSpPr/>
          <p:nvPr/>
        </p:nvSpPr>
        <p:spPr>
          <a:xfrm>
            <a:off x="1408320" y="4133160"/>
            <a:ext cx="4434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2F5296"/>
                </a:solidFill>
                <a:effectLst/>
                <a:uFillTx/>
                <a:latin typeface="Times New Roman"/>
                <a:ea typeface="Times New Roman"/>
              </a:rPr>
              <a:t>MODULE 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6"/>
          <p:cNvSpPr/>
          <p:nvPr/>
        </p:nvSpPr>
        <p:spPr>
          <a:xfrm>
            <a:off x="1408320" y="4389120"/>
            <a:ext cx="4434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Lightweight ML Classifier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7"/>
          <p:cNvSpPr/>
          <p:nvPr/>
        </p:nvSpPr>
        <p:spPr>
          <a:xfrm>
            <a:off x="786240" y="4983480"/>
            <a:ext cx="49827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Random Forest/XGBoost classify inputs as legitimate, suspicious, or malicious + risk score.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8"/>
          <p:cNvSpPr/>
          <p:nvPr/>
        </p:nvSpPr>
        <p:spPr>
          <a:xfrm>
            <a:off x="6309360" y="3931920"/>
            <a:ext cx="5439960" cy="2102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Shape 19"/>
          <p:cNvSpPr/>
          <p:nvPr/>
        </p:nvSpPr>
        <p:spPr>
          <a:xfrm>
            <a:off x="6528960" y="4151520"/>
            <a:ext cx="502200" cy="5022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13" name="Image 4" descr="/home/claude/icons/brain_cyan.png"/>
          <p:cNvPicPr/>
          <p:nvPr/>
        </p:nvPicPr>
        <p:blipFill>
          <a:blip r:embed="rId8"/>
          <a:stretch/>
        </p:blipFill>
        <p:spPr>
          <a:xfrm>
            <a:off x="6594120" y="421668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20"/>
          <p:cNvSpPr/>
          <p:nvPr/>
        </p:nvSpPr>
        <p:spPr>
          <a:xfrm>
            <a:off x="7169040" y="4133160"/>
            <a:ext cx="4434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2F5296"/>
                </a:solidFill>
                <a:effectLst/>
                <a:uFillTx/>
                <a:latin typeface="Times New Roman"/>
                <a:ea typeface="Times New Roman"/>
              </a:rPr>
              <a:t>MODULE 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1"/>
          <p:cNvSpPr/>
          <p:nvPr/>
        </p:nvSpPr>
        <p:spPr>
          <a:xfrm>
            <a:off x="7169040" y="4389120"/>
            <a:ext cx="4434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Explainability Layer (SHAP)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2"/>
          <p:cNvSpPr/>
          <p:nvPr/>
        </p:nvSpPr>
        <p:spPr>
          <a:xfrm>
            <a:off x="6546960" y="4983480"/>
            <a:ext cx="49827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SHAP identifies the features driving each prediction and provides transparent reasoning.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3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4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20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MODULES &amp; METHODOLOGIES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How SentinelAI Is Built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3"/>
          <p:cNvSpPr/>
          <p:nvPr/>
        </p:nvSpPr>
        <p:spPr>
          <a:xfrm>
            <a:off x="548640" y="1554480"/>
            <a:ext cx="5439960" cy="2102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Shape 4"/>
          <p:cNvSpPr/>
          <p:nvPr/>
        </p:nvSpPr>
        <p:spPr>
          <a:xfrm>
            <a:off x="768240" y="1774080"/>
            <a:ext cx="502200" cy="5022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25" name="Image 1" descr="/home/claude/icons/qrcode_cyan.png"/>
          <p:cNvPicPr/>
          <p:nvPr/>
        </p:nvPicPr>
        <p:blipFill>
          <a:blip r:embed="rId5"/>
          <a:stretch/>
        </p:blipFill>
        <p:spPr>
          <a:xfrm>
            <a:off x="833400" y="183924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 5"/>
          <p:cNvSpPr/>
          <p:nvPr/>
        </p:nvSpPr>
        <p:spPr>
          <a:xfrm>
            <a:off x="1408320" y="1755720"/>
            <a:ext cx="4434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2F5296"/>
                </a:solidFill>
                <a:effectLst/>
                <a:uFillTx/>
                <a:latin typeface="Times New Roman"/>
                <a:ea typeface="Times New Roman"/>
              </a:rPr>
              <a:t>MODULE 5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6"/>
          <p:cNvSpPr/>
          <p:nvPr/>
        </p:nvSpPr>
        <p:spPr>
          <a:xfrm>
            <a:off x="1408320" y="2011680"/>
            <a:ext cx="4434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Multimodal Threat Analyzer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7"/>
          <p:cNvSpPr/>
          <p:nvPr/>
        </p:nvSpPr>
        <p:spPr>
          <a:xfrm>
            <a:off x="786240" y="2606040"/>
            <a:ext cx="49827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Extends analysis to QR codes, emails &amp; scam/spam messages via decoding &amp; extraction.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8"/>
          <p:cNvSpPr/>
          <p:nvPr/>
        </p:nvSpPr>
        <p:spPr>
          <a:xfrm>
            <a:off x="6309360" y="1554480"/>
            <a:ext cx="5439960" cy="2102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Shape 9"/>
          <p:cNvSpPr/>
          <p:nvPr/>
        </p:nvSpPr>
        <p:spPr>
          <a:xfrm>
            <a:off x="6528960" y="1774080"/>
            <a:ext cx="502200" cy="5022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31" name="Image 2" descr="/home/claude/icons/message_cyan.png"/>
          <p:cNvPicPr/>
          <p:nvPr/>
        </p:nvPicPr>
        <p:blipFill>
          <a:blip r:embed="rId6"/>
          <a:stretch/>
        </p:blipFill>
        <p:spPr>
          <a:xfrm>
            <a:off x="6594120" y="183924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Text 10"/>
          <p:cNvSpPr/>
          <p:nvPr/>
        </p:nvSpPr>
        <p:spPr>
          <a:xfrm>
            <a:off x="7169040" y="1755720"/>
            <a:ext cx="4434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2F5296"/>
                </a:solidFill>
                <a:effectLst/>
                <a:uFillTx/>
                <a:latin typeface="Times New Roman"/>
                <a:ea typeface="Times New Roman"/>
              </a:rPr>
              <a:t>MODULE 6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1"/>
          <p:cNvSpPr/>
          <p:nvPr/>
        </p:nvSpPr>
        <p:spPr>
          <a:xfrm>
            <a:off x="7169040" y="2011680"/>
            <a:ext cx="4434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LLM Guidance Engine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2"/>
          <p:cNvSpPr/>
          <p:nvPr/>
        </p:nvSpPr>
        <p:spPr>
          <a:xfrm>
            <a:off x="6546960" y="2606040"/>
            <a:ext cx="49827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Converts technical ML/XAI outputs into human-readable explanations &amp; prevention tips.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3"/>
          <p:cNvSpPr/>
          <p:nvPr/>
        </p:nvSpPr>
        <p:spPr>
          <a:xfrm>
            <a:off x="548640" y="3931920"/>
            <a:ext cx="5439960" cy="2102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Shape 14"/>
          <p:cNvSpPr/>
          <p:nvPr/>
        </p:nvSpPr>
        <p:spPr>
          <a:xfrm>
            <a:off x="768240" y="4151520"/>
            <a:ext cx="502200" cy="5022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37" name="Image 3" descr="/home/claude/icons/file_cyan.png"/>
          <p:cNvPicPr/>
          <p:nvPr/>
        </p:nvPicPr>
        <p:blipFill>
          <a:blip r:embed="rId7"/>
          <a:stretch/>
        </p:blipFill>
        <p:spPr>
          <a:xfrm>
            <a:off x="833400" y="421668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 15"/>
          <p:cNvSpPr/>
          <p:nvPr/>
        </p:nvSpPr>
        <p:spPr>
          <a:xfrm>
            <a:off x="1408320" y="4133160"/>
            <a:ext cx="4434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2F5296"/>
                </a:solidFill>
                <a:effectLst/>
                <a:uFillTx/>
                <a:latin typeface="Times New Roman"/>
                <a:ea typeface="Times New Roman"/>
              </a:rPr>
              <a:t>MODULE 7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6"/>
          <p:cNvSpPr/>
          <p:nvPr/>
        </p:nvSpPr>
        <p:spPr>
          <a:xfrm>
            <a:off x="1408320" y="4389120"/>
            <a:ext cx="4434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Cyber Risk &amp; Report Generation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7"/>
          <p:cNvSpPr/>
          <p:nvPr/>
        </p:nvSpPr>
        <p:spPr>
          <a:xfrm>
            <a:off x="786240" y="4983480"/>
            <a:ext cx="49827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Combines prediction, live intel &amp; explanations into a risk score and downloadable report.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8"/>
          <p:cNvSpPr/>
          <p:nvPr/>
        </p:nvSpPr>
        <p:spPr>
          <a:xfrm>
            <a:off x="6309360" y="3931920"/>
            <a:ext cx="5439960" cy="21024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Shape 19"/>
          <p:cNvSpPr/>
          <p:nvPr/>
        </p:nvSpPr>
        <p:spPr>
          <a:xfrm>
            <a:off x="6528960" y="4151520"/>
            <a:ext cx="502200" cy="5022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43" name="Image 4" descr="/home/claude/icons/dashboard_cyan.png"/>
          <p:cNvPicPr/>
          <p:nvPr/>
        </p:nvPicPr>
        <p:blipFill>
          <a:blip r:embed="rId4"/>
          <a:stretch/>
        </p:blipFill>
        <p:spPr>
          <a:xfrm>
            <a:off x="6594120" y="4216680"/>
            <a:ext cx="371520" cy="37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20"/>
          <p:cNvSpPr/>
          <p:nvPr/>
        </p:nvSpPr>
        <p:spPr>
          <a:xfrm>
            <a:off x="7169040" y="4133160"/>
            <a:ext cx="4434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99">
                <a:solidFill>
                  <a:srgbClr val="2F5296"/>
                </a:solidFill>
                <a:effectLst/>
                <a:uFillTx/>
                <a:latin typeface="Times New Roman"/>
                <a:ea typeface="Times New Roman"/>
              </a:rPr>
              <a:t>MODULE 8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1"/>
          <p:cNvSpPr/>
          <p:nvPr/>
        </p:nvSpPr>
        <p:spPr>
          <a:xfrm>
            <a:off x="7169040" y="4389120"/>
            <a:ext cx="4434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Interactive Security Dashboard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2"/>
          <p:cNvSpPr/>
          <p:nvPr/>
        </p:nvSpPr>
        <p:spPr>
          <a:xfrm>
            <a:off x="6546960" y="4983480"/>
            <a:ext cx="49827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Flask/Django web interface visualizing risk scores, SHAP explanations &amp; recommendations.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3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4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13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>
            <a:hlinkClick r:id="rId2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50" name="Image 0" descr="/home/claude/icons/dashboard_cyan.png">
            <a:hlinkClick r:id="rId2" action="ppaction://hlinksldjump"/>
          </p:cNvPr>
          <p:cNvPicPr/>
          <p:nvPr/>
        </p:nvPicPr>
        <p:blipFill>
          <a:blip r:embed="rId3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MODULES &amp; METHODOLOGIES  —  PART 3 OF 3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Badge"/>
          <p:cNvSpPr/>
          <p:nvPr/>
        </p:nvSpPr>
        <p:spPr>
          <a:xfrm>
            <a:off x="9820080" y="330120"/>
            <a:ext cx="2259360" cy="344160"/>
          </a:xfrm>
          <a:prstGeom prst="roundRect">
            <a:avLst>
              <a:gd name="adj" fmla="val 50000"/>
            </a:avLst>
          </a:prstGeom>
          <a:solidFill>
            <a:srgbClr val="FF7A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FFFFFF"/>
                </a:solidFill>
                <a:effectLst/>
                <a:uFillTx/>
                <a:latin typeface="Times New Roman"/>
              </a:rPr>
              <a:t>5 PROPOSED MODULES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Research Extension Layer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Row0"/>
          <p:cNvSpPr/>
          <p:nvPr/>
        </p:nvSpPr>
        <p:spPr>
          <a:xfrm>
            <a:off x="548640" y="1416960"/>
            <a:ext cx="11063520" cy="85896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Circ0"/>
          <p:cNvSpPr/>
          <p:nvPr/>
        </p:nvSpPr>
        <p:spPr>
          <a:xfrm>
            <a:off x="694800" y="167292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56" name="Icon0" descr="/home/claude/icons/layers_cyan.png"/>
          <p:cNvPicPr/>
          <p:nvPr/>
        </p:nvPicPr>
        <p:blipFill>
          <a:blip r:embed="rId4"/>
          <a:stretch/>
        </p:blipFill>
        <p:spPr>
          <a:xfrm>
            <a:off x="740160" y="17182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RowText0"/>
          <p:cNvSpPr/>
          <p:nvPr/>
        </p:nvSpPr>
        <p:spPr>
          <a:xfrm>
            <a:off x="1188720" y="1462680"/>
            <a:ext cx="1025892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Threat Evidence Fusion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Combines ML output with DNS, SSL, RDAP &amp; reputation evidence into one unified signal.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Row1"/>
          <p:cNvSpPr/>
          <p:nvPr/>
        </p:nvSpPr>
        <p:spPr>
          <a:xfrm>
            <a:off x="548640" y="2397600"/>
            <a:ext cx="11063520" cy="85896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Circ1"/>
          <p:cNvSpPr/>
          <p:nvPr/>
        </p:nvSpPr>
        <p:spPr>
          <a:xfrm>
            <a:off x="694800" y="265392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60" name="Icon1" descr="/home/claude/icons/cpu_cyan.png"/>
          <p:cNvPicPr/>
          <p:nvPr/>
        </p:nvPicPr>
        <p:blipFill>
          <a:blip r:embed="rId5"/>
          <a:stretch/>
        </p:blipFill>
        <p:spPr>
          <a:xfrm>
            <a:off x="740160" y="269892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RowText1"/>
          <p:cNvSpPr/>
          <p:nvPr/>
        </p:nvSpPr>
        <p:spPr>
          <a:xfrm>
            <a:off x="1188720" y="2443320"/>
            <a:ext cx="1025892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Agentic Tool-Calling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An investigation agent dynamically selects which security tools to run per case.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Row2"/>
          <p:cNvSpPr/>
          <p:nvPr/>
        </p:nvSpPr>
        <p:spPr>
          <a:xfrm>
            <a:off x="548640" y="3378600"/>
            <a:ext cx="11063520" cy="85896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Circ2"/>
          <p:cNvSpPr/>
          <p:nvPr/>
        </p:nvSpPr>
        <p:spPr>
          <a:xfrm>
            <a:off x="694800" y="36345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64" name="Icon2" descr="/home/claude/icons/alert_cyan.png"/>
          <p:cNvPicPr/>
          <p:nvPr/>
        </p:nvPicPr>
        <p:blipFill>
          <a:blip r:embed="rId6"/>
          <a:stretch/>
        </p:blipFill>
        <p:spPr>
          <a:xfrm>
            <a:off x="740160" y="367992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RowText2"/>
          <p:cNvSpPr/>
          <p:nvPr/>
        </p:nvSpPr>
        <p:spPr>
          <a:xfrm>
            <a:off x="1188720" y="3424320"/>
            <a:ext cx="1025892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Adversarial Robustness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Tests detection against typosquatting, obfuscation and other evasive URL variants.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Row3"/>
          <p:cNvSpPr/>
          <p:nvPr/>
        </p:nvSpPr>
        <p:spPr>
          <a:xfrm>
            <a:off x="548640" y="4359240"/>
            <a:ext cx="11063520" cy="85896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Circ3"/>
          <p:cNvSpPr/>
          <p:nvPr/>
        </p:nvSpPr>
        <p:spPr>
          <a:xfrm>
            <a:off x="694800" y="46152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68" name="Icon3" descr="/home/claude/icons/barchart_cyan.png"/>
          <p:cNvPicPr/>
          <p:nvPr/>
        </p:nvPicPr>
        <p:blipFill>
          <a:blip r:embed="rId7"/>
          <a:stretch/>
        </p:blipFill>
        <p:spPr>
          <a:xfrm>
            <a:off x="740160" y="46605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RowText3"/>
          <p:cNvSpPr/>
          <p:nvPr/>
        </p:nvSpPr>
        <p:spPr>
          <a:xfrm>
            <a:off x="1188720" y="4404960"/>
            <a:ext cx="1025892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Uncertainty &amp; Calibration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Checks whether ML confidence scores are statistically reliable, not just accurate.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Row4"/>
          <p:cNvSpPr/>
          <p:nvPr/>
        </p:nvSpPr>
        <p:spPr>
          <a:xfrm>
            <a:off x="548640" y="5340240"/>
            <a:ext cx="11063520" cy="85896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Circ4"/>
          <p:cNvSpPr/>
          <p:nvPr/>
        </p:nvSpPr>
        <p:spPr>
          <a:xfrm>
            <a:off x="694800" y="55962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72" name="Icon4" descr="/home/claude/icons/trending_cyan.png"/>
          <p:cNvPicPr/>
          <p:nvPr/>
        </p:nvPicPr>
        <p:blipFill>
          <a:blip r:embed="rId8"/>
          <a:stretch/>
        </p:blipFill>
        <p:spPr>
          <a:xfrm>
            <a:off x="740160" y="56412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RowText4"/>
          <p:cNvSpPr/>
          <p:nvPr/>
        </p:nvSpPr>
        <p:spPr>
          <a:xfrm>
            <a:off x="1188720" y="5385960"/>
            <a:ext cx="1025892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Concept Drift &amp; Continual Learning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Detects evolving phishing patterns and evaluates controlled model retraining.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F1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F2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14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0">
            <a:hlinkClick r:id="rId3" action="ppaction://hlinksldjump"/>
          </p:cNvPr>
          <p:cNvSpPr/>
          <p:nvPr/>
        </p:nvSpPr>
        <p:spPr>
          <a:xfrm>
            <a:off x="11539800" y="26532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77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5676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Text 1"/>
          <p:cNvSpPr/>
          <p:nvPr/>
        </p:nvSpPr>
        <p:spPr>
          <a:xfrm>
            <a:off x="548640" y="35676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PROPOSED RESULT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"/>
          <p:cNvSpPr/>
          <p:nvPr/>
        </p:nvSpPr>
        <p:spPr>
          <a:xfrm>
            <a:off x="548640" y="63108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What SentinelAI Delivers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3"/>
          <p:cNvSpPr/>
          <p:nvPr/>
        </p:nvSpPr>
        <p:spPr>
          <a:xfrm>
            <a:off x="548640" y="1472400"/>
            <a:ext cx="3565440" cy="173664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Shape 4"/>
          <p:cNvSpPr/>
          <p:nvPr/>
        </p:nvSpPr>
        <p:spPr>
          <a:xfrm>
            <a:off x="749880" y="167364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82" name="Image 1" descr="/home/claude/icons/shield_cyan.png"/>
          <p:cNvPicPr/>
          <p:nvPr/>
        </p:nvPicPr>
        <p:blipFill>
          <a:blip r:embed="rId5"/>
          <a:stretch/>
        </p:blipFill>
        <p:spPr>
          <a:xfrm>
            <a:off x="809280" y="173304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Text 5"/>
          <p:cNvSpPr/>
          <p:nvPr/>
        </p:nvSpPr>
        <p:spPr>
          <a:xfrm>
            <a:off x="1371600" y="161856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Phishing Classification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6"/>
          <p:cNvSpPr/>
          <p:nvPr/>
        </p:nvSpPr>
        <p:spPr>
          <a:xfrm>
            <a:off x="768240" y="2185560"/>
            <a:ext cx="3126600" cy="87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Identify URLs and QR-code-based links as Legitimate, Suspicious, or Malicious.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7"/>
          <p:cNvSpPr/>
          <p:nvPr/>
        </p:nvSpPr>
        <p:spPr>
          <a:xfrm>
            <a:off x="4297680" y="1472400"/>
            <a:ext cx="3565440" cy="173664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Shape 8"/>
          <p:cNvSpPr/>
          <p:nvPr/>
        </p:nvSpPr>
        <p:spPr>
          <a:xfrm>
            <a:off x="4498920" y="167364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87" name="Image 2" descr="/home/claude/icons/barchart_cyan.png"/>
          <p:cNvPicPr/>
          <p:nvPr/>
        </p:nvPicPr>
        <p:blipFill>
          <a:blip r:embed="rId6"/>
          <a:stretch/>
        </p:blipFill>
        <p:spPr>
          <a:xfrm>
            <a:off x="4558320" y="173304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9"/>
          <p:cNvSpPr/>
          <p:nvPr/>
        </p:nvSpPr>
        <p:spPr>
          <a:xfrm>
            <a:off x="5120640" y="161856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Cyber Risk Assessment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0"/>
          <p:cNvSpPr/>
          <p:nvPr/>
        </p:nvSpPr>
        <p:spPr>
          <a:xfrm>
            <a:off x="4517280" y="2185560"/>
            <a:ext cx="3126600" cy="87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Generate a dynamic risk score and threat level based on multiple security indicators.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1"/>
          <p:cNvSpPr/>
          <p:nvPr/>
        </p:nvSpPr>
        <p:spPr>
          <a:xfrm>
            <a:off x="8046720" y="1472400"/>
            <a:ext cx="3565440" cy="173664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Shape 12"/>
          <p:cNvSpPr/>
          <p:nvPr/>
        </p:nvSpPr>
        <p:spPr>
          <a:xfrm>
            <a:off x="8247960" y="167364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92" name="Image 3" descr="/home/claude/icons/brain_cyan.png"/>
          <p:cNvPicPr/>
          <p:nvPr/>
        </p:nvPicPr>
        <p:blipFill>
          <a:blip r:embed="rId7"/>
          <a:stretch/>
        </p:blipFill>
        <p:spPr>
          <a:xfrm>
            <a:off x="8307360" y="173304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Text 13"/>
          <p:cNvSpPr/>
          <p:nvPr/>
        </p:nvSpPr>
        <p:spPr>
          <a:xfrm>
            <a:off x="8869680" y="161856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Explainable Predictions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4"/>
          <p:cNvSpPr/>
          <p:nvPr/>
        </p:nvSpPr>
        <p:spPr>
          <a:xfrm>
            <a:off x="8266320" y="2185560"/>
            <a:ext cx="3126600" cy="87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Use SHAP to identify and visualize the key features influencing each prediction.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5"/>
          <p:cNvSpPr/>
          <p:nvPr/>
        </p:nvSpPr>
        <p:spPr>
          <a:xfrm>
            <a:off x="548640" y="3392640"/>
            <a:ext cx="3565440" cy="173664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Shape 16"/>
          <p:cNvSpPr/>
          <p:nvPr/>
        </p:nvSpPr>
        <p:spPr>
          <a:xfrm>
            <a:off x="749880" y="359388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97" name="Image 4" descr="/home/claude/icons/activity_cyan.png"/>
          <p:cNvPicPr/>
          <p:nvPr/>
        </p:nvPicPr>
        <p:blipFill>
          <a:blip r:embed="rId8"/>
          <a:stretch/>
        </p:blipFill>
        <p:spPr>
          <a:xfrm>
            <a:off x="809280" y="365328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Text 17"/>
          <p:cNvSpPr/>
          <p:nvPr/>
        </p:nvSpPr>
        <p:spPr>
          <a:xfrm>
            <a:off x="1371600" y="353880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Real Time Threat Analysis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8"/>
          <p:cNvSpPr/>
          <p:nvPr/>
        </p:nvSpPr>
        <p:spPr>
          <a:xfrm>
            <a:off x="768240" y="4105800"/>
            <a:ext cx="3126600" cy="87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Incorporate domain, SSL, DNS, reputation, and other security intelligence to improve threat assessment.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9"/>
          <p:cNvSpPr/>
          <p:nvPr/>
        </p:nvSpPr>
        <p:spPr>
          <a:xfrm>
            <a:off x="4297680" y="3392640"/>
            <a:ext cx="3565440" cy="173664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Shape 20"/>
          <p:cNvSpPr/>
          <p:nvPr/>
        </p:nvSpPr>
        <p:spPr>
          <a:xfrm>
            <a:off x="4498920" y="359388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02" name="Image 5" descr="/home/claude/icons/message_cyan.png"/>
          <p:cNvPicPr/>
          <p:nvPr/>
        </p:nvPicPr>
        <p:blipFill>
          <a:blip r:embed="rId9"/>
          <a:stretch/>
        </p:blipFill>
        <p:spPr>
          <a:xfrm>
            <a:off x="4558320" y="365328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Text 21"/>
          <p:cNvSpPr/>
          <p:nvPr/>
        </p:nvSpPr>
        <p:spPr>
          <a:xfrm>
            <a:off x="5120640" y="353880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Intelligent Security Guidance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2"/>
          <p:cNvSpPr/>
          <p:nvPr/>
        </p:nvSpPr>
        <p:spPr>
          <a:xfrm>
            <a:off x="4517280" y="4105800"/>
            <a:ext cx="3126600" cy="87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Provide human readable explanations, prevention tips, and recommended actions using an LLM.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23"/>
          <p:cNvSpPr/>
          <p:nvPr/>
        </p:nvSpPr>
        <p:spPr>
          <a:xfrm>
            <a:off x="8046720" y="3392640"/>
            <a:ext cx="3565440" cy="173664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Shape 24"/>
          <p:cNvSpPr/>
          <p:nvPr/>
        </p:nvSpPr>
        <p:spPr>
          <a:xfrm>
            <a:off x="8247960" y="359388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07" name="Image 6" descr="/home/claude/icons/dashboard_cyan.png"/>
          <p:cNvPicPr/>
          <p:nvPr/>
        </p:nvPicPr>
        <p:blipFill>
          <a:blip r:embed="rId4"/>
          <a:stretch/>
        </p:blipFill>
        <p:spPr>
          <a:xfrm>
            <a:off x="8307360" y="365328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Text 25"/>
          <p:cNvSpPr/>
          <p:nvPr/>
        </p:nvSpPr>
        <p:spPr>
          <a:xfrm>
            <a:off x="8869680" y="353880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Unified Security Dashboard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6"/>
          <p:cNvSpPr/>
          <p:nvPr/>
        </p:nvSpPr>
        <p:spPr>
          <a:xfrm>
            <a:off x="8266320" y="4105800"/>
            <a:ext cx="3126600" cy="87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Display the prediction, risk score, feature importance, threat intelligence, and security recommendations in an interactive interface.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7"/>
          <p:cNvSpPr/>
          <p:nvPr/>
        </p:nvSpPr>
        <p:spPr>
          <a:xfrm>
            <a:off x="457200" y="65563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8"/>
          <p:cNvSpPr/>
          <p:nvPr/>
        </p:nvSpPr>
        <p:spPr>
          <a:xfrm>
            <a:off x="11338560" y="65563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13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SYSTEM DESIGN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Architecture Diagram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4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5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8" name="Picture 10"/>
          <p:cNvPicPr/>
          <p:nvPr/>
        </p:nvPicPr>
        <p:blipFill>
          <a:blip r:embed="rId5"/>
          <a:stretch/>
        </p:blipFill>
        <p:spPr>
          <a:xfrm>
            <a:off x="457200" y="1261800"/>
            <a:ext cx="11569320" cy="4891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20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 1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Lightweight ML Classifier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3"/>
          <p:cNvSpPr/>
          <p:nvPr/>
        </p:nvSpPr>
        <p:spPr>
          <a:xfrm>
            <a:off x="548640" y="141732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Shape 4"/>
          <p:cNvSpPr/>
          <p:nvPr/>
        </p:nvSpPr>
        <p:spPr>
          <a:xfrm>
            <a:off x="749880" y="161856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25" name="Image 1" descr="/home/claude/icons/cpu_cyan.png"/>
          <p:cNvPicPr/>
          <p:nvPr/>
        </p:nvPicPr>
        <p:blipFill>
          <a:blip r:embed="rId5"/>
          <a:stretch/>
        </p:blipFill>
        <p:spPr>
          <a:xfrm>
            <a:off x="809280" y="16779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Text 5"/>
          <p:cNvSpPr/>
          <p:nvPr/>
        </p:nvSpPr>
        <p:spPr>
          <a:xfrm>
            <a:off x="1371600" y="156348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Primary Classifier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6"/>
          <p:cNvSpPr/>
          <p:nvPr/>
        </p:nvSpPr>
        <p:spPr>
          <a:xfrm>
            <a:off x="768240" y="213048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Employs XGBoost as the main high-performance classification engine.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7"/>
          <p:cNvSpPr/>
          <p:nvPr/>
        </p:nvSpPr>
        <p:spPr>
          <a:xfrm>
            <a:off x="4297680" y="141732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Shape 8"/>
          <p:cNvSpPr/>
          <p:nvPr/>
        </p:nvSpPr>
        <p:spPr>
          <a:xfrm>
            <a:off x="4498920" y="161856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30" name="Image 2" descr="/home/claude/icons/barchart_cyan.png"/>
          <p:cNvPicPr/>
          <p:nvPr/>
        </p:nvPicPr>
        <p:blipFill>
          <a:blip r:embed="rId6"/>
          <a:stretch/>
        </p:blipFill>
        <p:spPr>
          <a:xfrm>
            <a:off x="4558320" y="16779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Text 9"/>
          <p:cNvSpPr/>
          <p:nvPr/>
        </p:nvSpPr>
        <p:spPr>
          <a:xfrm>
            <a:off x="5120640" y="156348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Comparison Model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0"/>
          <p:cNvSpPr/>
          <p:nvPr/>
        </p:nvSpPr>
        <p:spPr>
          <a:xfrm>
            <a:off x="4517280" y="213048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Integrates Random Forest as a benchmark to evaluate and compare performance.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1"/>
          <p:cNvSpPr/>
          <p:nvPr/>
        </p:nvSpPr>
        <p:spPr>
          <a:xfrm>
            <a:off x="8046720" y="141732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Shape 12"/>
          <p:cNvSpPr/>
          <p:nvPr/>
        </p:nvSpPr>
        <p:spPr>
          <a:xfrm>
            <a:off x="8247960" y="161856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35" name="Image 3" descr="/home/claude/icons/database_cyan.png"/>
          <p:cNvPicPr/>
          <p:nvPr/>
        </p:nvPicPr>
        <p:blipFill>
          <a:blip r:embed="rId7"/>
          <a:stretch/>
        </p:blipFill>
        <p:spPr>
          <a:xfrm>
            <a:off x="8307360" y="167796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Text 13"/>
          <p:cNvSpPr/>
          <p:nvPr/>
        </p:nvSpPr>
        <p:spPr>
          <a:xfrm>
            <a:off x="8869680" y="156348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Primary Dataset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4"/>
          <p:cNvSpPr/>
          <p:nvPr/>
        </p:nvSpPr>
        <p:spPr>
          <a:xfrm>
            <a:off x="8266320" y="213048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Utilizes the PhiUSIIL dataset as the foundation for URL training &amp; classification.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5"/>
          <p:cNvSpPr/>
          <p:nvPr/>
        </p:nvSpPr>
        <p:spPr>
          <a:xfrm>
            <a:off x="548640" y="320976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Shape 16"/>
          <p:cNvSpPr/>
          <p:nvPr/>
        </p:nvSpPr>
        <p:spPr>
          <a:xfrm>
            <a:off x="749880" y="340164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40" name="Image 4" descr="/home/claude/icons/check_cyan.png"/>
          <p:cNvPicPr/>
          <p:nvPr/>
        </p:nvPicPr>
        <p:blipFill>
          <a:blip r:embed="rId8"/>
          <a:stretch/>
        </p:blipFill>
        <p:spPr>
          <a:xfrm>
            <a:off x="809280" y="346104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Text 17"/>
          <p:cNvSpPr/>
          <p:nvPr/>
        </p:nvSpPr>
        <p:spPr>
          <a:xfrm>
            <a:off x="1371600" y="334656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Validation Dataset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8"/>
          <p:cNvSpPr/>
          <p:nvPr/>
        </p:nvSpPr>
        <p:spPr>
          <a:xfrm>
            <a:off x="768240" y="391356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Uses the UCI Phishing Websites dataset for independent validation.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9"/>
          <p:cNvSpPr/>
          <p:nvPr/>
        </p:nvSpPr>
        <p:spPr>
          <a:xfrm>
            <a:off x="4297680" y="320040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Shape 20"/>
          <p:cNvSpPr/>
          <p:nvPr/>
        </p:nvSpPr>
        <p:spPr>
          <a:xfrm>
            <a:off x="4498920" y="340164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45" name="Image 5" descr="/home/claude/icons/link_cyan.png"/>
          <p:cNvPicPr/>
          <p:nvPr/>
        </p:nvPicPr>
        <p:blipFill>
          <a:blip r:embed="rId9"/>
          <a:stretch/>
        </p:blipFill>
        <p:spPr>
          <a:xfrm>
            <a:off x="4558320" y="346104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Text 21"/>
          <p:cNvSpPr/>
          <p:nvPr/>
        </p:nvSpPr>
        <p:spPr>
          <a:xfrm>
            <a:off x="5120640" y="334656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Feature Compatibility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22"/>
          <p:cNvSpPr/>
          <p:nvPr/>
        </p:nvSpPr>
        <p:spPr>
          <a:xfrm>
            <a:off x="4517280" y="391356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Handles feature matching across datasets where structural compatibility permits.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23"/>
          <p:cNvSpPr/>
          <p:nvPr/>
        </p:nvSpPr>
        <p:spPr>
          <a:xfrm>
            <a:off x="8046720" y="3200400"/>
            <a:ext cx="3565440" cy="15994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Shape 24"/>
          <p:cNvSpPr/>
          <p:nvPr/>
        </p:nvSpPr>
        <p:spPr>
          <a:xfrm>
            <a:off x="8247960" y="3401640"/>
            <a:ext cx="456480" cy="4564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50" name="Image 6" descr="/home/claude/icons/zap_cyan.png"/>
          <p:cNvPicPr/>
          <p:nvPr/>
        </p:nvPicPr>
        <p:blipFill>
          <a:blip r:embed="rId10"/>
          <a:stretch/>
        </p:blipFill>
        <p:spPr>
          <a:xfrm>
            <a:off x="8307360" y="3461040"/>
            <a:ext cx="337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Text 25"/>
          <p:cNvSpPr/>
          <p:nvPr/>
        </p:nvSpPr>
        <p:spPr>
          <a:xfrm>
            <a:off x="8869680" y="3346560"/>
            <a:ext cx="25412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Lightweight Architecture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6"/>
          <p:cNvSpPr/>
          <p:nvPr/>
        </p:nvSpPr>
        <p:spPr>
          <a:xfrm>
            <a:off x="8266320" y="3913560"/>
            <a:ext cx="312660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Structures the classifiers for fast, efficient real-time execution.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7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8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17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56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 1 — RESULTS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Model Performance Results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3"/>
          <p:cNvSpPr/>
          <p:nvPr/>
        </p:nvSpPr>
        <p:spPr>
          <a:xfrm>
            <a:off x="457200" y="1417320"/>
            <a:ext cx="5394240" cy="2331000"/>
          </a:xfrm>
          <a:prstGeom prst="roundRect">
            <a:avLst>
              <a:gd name="adj" fmla="val 2353"/>
            </a:avLst>
          </a:prstGeom>
          <a:solidFill>
            <a:srgbClr val="0A0F1C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60" name="Image 1" descr="/home/claude/imgs/ml_compare1.png"/>
          <p:cNvPicPr/>
          <p:nvPr/>
        </p:nvPicPr>
        <p:blipFill>
          <a:blip r:embed="rId5"/>
          <a:stretch/>
        </p:blipFill>
        <p:spPr>
          <a:xfrm>
            <a:off x="567000" y="1527120"/>
            <a:ext cx="5174640" cy="211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Shape 4"/>
          <p:cNvSpPr/>
          <p:nvPr/>
        </p:nvSpPr>
        <p:spPr>
          <a:xfrm>
            <a:off x="457200" y="3913560"/>
            <a:ext cx="5394240" cy="2331000"/>
          </a:xfrm>
          <a:prstGeom prst="roundRect">
            <a:avLst>
              <a:gd name="adj" fmla="val 2353"/>
            </a:avLst>
          </a:prstGeom>
          <a:solidFill>
            <a:srgbClr val="0A0F1C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62" name="Image 2" descr="/home/claude/imgs/ml_compare2.png"/>
          <p:cNvPicPr/>
          <p:nvPr/>
        </p:nvPicPr>
        <p:blipFill>
          <a:blip r:embed="rId6"/>
          <a:stretch/>
        </p:blipFill>
        <p:spPr>
          <a:xfrm>
            <a:off x="567000" y="4023360"/>
            <a:ext cx="5174640" cy="211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Shape 5"/>
          <p:cNvSpPr/>
          <p:nvPr/>
        </p:nvSpPr>
        <p:spPr>
          <a:xfrm>
            <a:off x="6035040" y="1417320"/>
            <a:ext cx="5695920" cy="4827240"/>
          </a:xfrm>
          <a:prstGeom prst="roundRect">
            <a:avLst>
              <a:gd name="adj" fmla="val 1136"/>
            </a:avLst>
          </a:prstGeom>
          <a:solidFill>
            <a:srgbClr val="0A0F1C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64" name="Image 3" descr="/home/claude/imgs/ml_compare3.png"/>
          <p:cNvPicPr/>
          <p:nvPr/>
        </p:nvPicPr>
        <p:blipFill>
          <a:blip r:embed="rId7"/>
          <a:stretch/>
        </p:blipFill>
        <p:spPr>
          <a:xfrm>
            <a:off x="6144840" y="1527120"/>
            <a:ext cx="5476680" cy="460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5" name="Text 6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7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68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 2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Cyber Intelligence &amp; Risk Assessment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3"/>
          <p:cNvSpPr/>
          <p:nvPr/>
        </p:nvSpPr>
        <p:spPr>
          <a:xfrm>
            <a:off x="548640" y="141732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Shape 4"/>
          <p:cNvSpPr/>
          <p:nvPr/>
        </p:nvSpPr>
        <p:spPr>
          <a:xfrm>
            <a:off x="694800" y="16002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73" name="Image 1" descr="/home/claude/icons/globe_cyan.png"/>
          <p:cNvPicPr/>
          <p:nvPr/>
        </p:nvPicPr>
        <p:blipFill>
          <a:blip r:embed="rId5"/>
          <a:stretch/>
        </p:blipFill>
        <p:spPr>
          <a:xfrm>
            <a:off x="740160" y="16452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Text 5"/>
          <p:cNvSpPr/>
          <p:nvPr/>
        </p:nvSpPr>
        <p:spPr>
          <a:xfrm>
            <a:off x="1188720" y="146304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Cyber Intelligence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Collects DNS, domain registration, SSL/TLS, HTTP, and redirect information.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6"/>
          <p:cNvSpPr/>
          <p:nvPr/>
        </p:nvSpPr>
        <p:spPr>
          <a:xfrm>
            <a:off x="548640" y="223128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Shape 7"/>
          <p:cNvSpPr/>
          <p:nvPr/>
        </p:nvSpPr>
        <p:spPr>
          <a:xfrm>
            <a:off x="694800" y="24141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77" name="Image 2" descr="/home/claude/icons/shield_cyan.png"/>
          <p:cNvPicPr/>
          <p:nvPr/>
        </p:nvPicPr>
        <p:blipFill>
          <a:blip r:embed="rId6"/>
          <a:stretch/>
        </p:blipFill>
        <p:spPr>
          <a:xfrm>
            <a:off x="740160" y="24591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Text 8"/>
          <p:cNvSpPr/>
          <p:nvPr/>
        </p:nvSpPr>
        <p:spPr>
          <a:xfrm>
            <a:off x="1188720" y="227700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Threat Intelligence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Uses reputation sources such as VirusTotal, PhishTank, OpenPhish, and AbuseIPDB.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9"/>
          <p:cNvSpPr/>
          <p:nvPr/>
        </p:nvSpPr>
        <p:spPr>
          <a:xfrm>
            <a:off x="548640" y="304488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Shape 10"/>
          <p:cNvSpPr/>
          <p:nvPr/>
        </p:nvSpPr>
        <p:spPr>
          <a:xfrm>
            <a:off x="694800" y="32277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81" name="Image 3" descr="/home/claude/icons/layers_cyan.png"/>
          <p:cNvPicPr/>
          <p:nvPr/>
        </p:nvPicPr>
        <p:blipFill>
          <a:blip r:embed="rId7"/>
          <a:stretch/>
        </p:blipFill>
        <p:spPr>
          <a:xfrm>
            <a:off x="740160" y="327312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2" name="Text 11"/>
          <p:cNvSpPr/>
          <p:nvPr/>
        </p:nvSpPr>
        <p:spPr>
          <a:xfrm>
            <a:off x="1188720" y="309060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Probability Fusion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Combines ML prediction probabilities with real-time security evidence.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2"/>
          <p:cNvSpPr/>
          <p:nvPr/>
        </p:nvSpPr>
        <p:spPr>
          <a:xfrm>
            <a:off x="548640" y="385884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Shape 13"/>
          <p:cNvSpPr/>
          <p:nvPr/>
        </p:nvSpPr>
        <p:spPr>
          <a:xfrm>
            <a:off x="694800" y="404172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85" name="Image 4" descr="/home/claude/icons/barchart_cyan.png"/>
          <p:cNvPicPr/>
          <p:nvPr/>
        </p:nvPicPr>
        <p:blipFill>
          <a:blip r:embed="rId8"/>
          <a:stretch/>
        </p:blipFill>
        <p:spPr>
          <a:xfrm>
            <a:off x="740160" y="408672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6" name="Text 14"/>
          <p:cNvSpPr/>
          <p:nvPr/>
        </p:nvSpPr>
        <p:spPr>
          <a:xfrm>
            <a:off x="1188720" y="390456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Risk Scoring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Generates a unified 0–100 risk score with five levels: Safe, Low, Moderate, High, Critical.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5"/>
          <p:cNvSpPr/>
          <p:nvPr/>
        </p:nvSpPr>
        <p:spPr>
          <a:xfrm>
            <a:off x="548640" y="467244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Shape 16"/>
          <p:cNvSpPr/>
          <p:nvPr/>
        </p:nvSpPr>
        <p:spPr>
          <a:xfrm>
            <a:off x="694800" y="485532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89" name="Image 5" descr="/home/claude/icons/check_cyan.png"/>
          <p:cNvPicPr/>
          <p:nvPr/>
        </p:nvPicPr>
        <p:blipFill>
          <a:blip r:embed="rId9"/>
          <a:stretch/>
        </p:blipFill>
        <p:spPr>
          <a:xfrm>
            <a:off x="740160" y="49006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Text 17"/>
          <p:cNvSpPr/>
          <p:nvPr/>
        </p:nvSpPr>
        <p:spPr>
          <a:xfrm>
            <a:off x="1188720" y="471816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Evidence Integration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Uses threat indicators and security findings to support the final risk score.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8"/>
          <p:cNvSpPr/>
          <p:nvPr/>
        </p:nvSpPr>
        <p:spPr>
          <a:xfrm>
            <a:off x="548640" y="548640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Shape 19"/>
          <p:cNvSpPr/>
          <p:nvPr/>
        </p:nvSpPr>
        <p:spPr>
          <a:xfrm>
            <a:off x="694800" y="566928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93" name="Image 6" descr="/home/claude/icons/dashboard_cyan.png"/>
          <p:cNvPicPr/>
          <p:nvPr/>
        </p:nvPicPr>
        <p:blipFill>
          <a:blip r:embed="rId4"/>
          <a:stretch/>
        </p:blipFill>
        <p:spPr>
          <a:xfrm>
            <a:off x="740160" y="57142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Text 20"/>
          <p:cNvSpPr/>
          <p:nvPr/>
        </p:nvSpPr>
        <p:spPr>
          <a:xfrm>
            <a:off x="1188720" y="553212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Dashboard Integration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Sends risk ratings and intelligence results to the centralized dashboard.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21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22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19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498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 3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Explainability Layer &amp; AI Guidance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3"/>
          <p:cNvSpPr/>
          <p:nvPr/>
        </p:nvSpPr>
        <p:spPr>
          <a:xfrm>
            <a:off x="548640" y="1371600"/>
            <a:ext cx="11063520" cy="60264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Shape 4"/>
          <p:cNvSpPr/>
          <p:nvPr/>
        </p:nvSpPr>
        <p:spPr>
          <a:xfrm>
            <a:off x="694800" y="14997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03" name="Image 1" descr="/home/claude/icons/brain_cyan.png"/>
          <p:cNvPicPr/>
          <p:nvPr/>
        </p:nvPicPr>
        <p:blipFill>
          <a:blip r:embed="rId5"/>
          <a:stretch/>
        </p:blipFill>
        <p:spPr>
          <a:xfrm>
            <a:off x="740160" y="15447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Text 5"/>
          <p:cNvSpPr/>
          <p:nvPr/>
        </p:nvSpPr>
        <p:spPr>
          <a:xfrm>
            <a:off x="1188720" y="1417320"/>
            <a:ext cx="1025892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SHAP Explanation 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Identifies the key features influencing each ML prediction.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6"/>
          <p:cNvSpPr/>
          <p:nvPr/>
        </p:nvSpPr>
        <p:spPr>
          <a:xfrm>
            <a:off x="548640" y="2052720"/>
            <a:ext cx="11063520" cy="60264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Shape 7"/>
          <p:cNvSpPr/>
          <p:nvPr/>
        </p:nvSpPr>
        <p:spPr>
          <a:xfrm>
            <a:off x="694800" y="218088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07" name="Image 2" descr="/home/claude/icons/barchart_cyan.png"/>
          <p:cNvPicPr/>
          <p:nvPr/>
        </p:nvPicPr>
        <p:blipFill>
          <a:blip r:embed="rId6"/>
          <a:stretch/>
        </p:blipFill>
        <p:spPr>
          <a:xfrm>
            <a:off x="740160" y="22258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Text 8"/>
          <p:cNvSpPr/>
          <p:nvPr/>
        </p:nvSpPr>
        <p:spPr>
          <a:xfrm>
            <a:off x="1188720" y="2098440"/>
            <a:ext cx="1025892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Feature Contribution 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Highlights risk-increasing and safety-ensuring indicators for every scan.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9"/>
          <p:cNvSpPr/>
          <p:nvPr/>
        </p:nvSpPr>
        <p:spPr>
          <a:xfrm>
            <a:off x="548640" y="2734200"/>
            <a:ext cx="11063520" cy="60264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Shape 10"/>
          <p:cNvSpPr/>
          <p:nvPr/>
        </p:nvSpPr>
        <p:spPr>
          <a:xfrm>
            <a:off x="694800" y="28620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11" name="Image 3" descr="/home/claude/icons/eye_cyan.png"/>
          <p:cNvPicPr/>
          <p:nvPr/>
        </p:nvPicPr>
        <p:blipFill>
          <a:blip r:embed="rId7"/>
          <a:stretch/>
        </p:blipFill>
        <p:spPr>
          <a:xfrm>
            <a:off x="740160" y="29073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Text 11"/>
          <p:cNvSpPr/>
          <p:nvPr/>
        </p:nvSpPr>
        <p:spPr>
          <a:xfrm>
            <a:off x="1188720" y="2779920"/>
            <a:ext cx="1025892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Transparent Insights 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Explains the mathematical factors behind threat classification.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2"/>
          <p:cNvSpPr/>
          <p:nvPr/>
        </p:nvSpPr>
        <p:spPr>
          <a:xfrm>
            <a:off x="548640" y="3415320"/>
            <a:ext cx="11063520" cy="60264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Shape 13"/>
          <p:cNvSpPr/>
          <p:nvPr/>
        </p:nvSpPr>
        <p:spPr>
          <a:xfrm>
            <a:off x="694800" y="354348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15" name="Image 4" descr="/home/claude/icons/message_cyan.png"/>
          <p:cNvPicPr/>
          <p:nvPr/>
        </p:nvPicPr>
        <p:blipFill>
          <a:blip r:embed="rId8"/>
          <a:stretch/>
        </p:blipFill>
        <p:spPr>
          <a:xfrm>
            <a:off x="740160" y="35884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6" name="Text 14"/>
          <p:cNvSpPr/>
          <p:nvPr/>
        </p:nvSpPr>
        <p:spPr>
          <a:xfrm>
            <a:off x="1188720" y="3461040"/>
            <a:ext cx="1025892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LLM Guidance 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Converts ML, SHAP, and cyber-intelligence results into plain-language explanations.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15"/>
          <p:cNvSpPr/>
          <p:nvPr/>
        </p:nvSpPr>
        <p:spPr>
          <a:xfrm>
            <a:off x="548640" y="4096440"/>
            <a:ext cx="11063520" cy="60264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Shape 16"/>
          <p:cNvSpPr/>
          <p:nvPr/>
        </p:nvSpPr>
        <p:spPr>
          <a:xfrm>
            <a:off x="694800" y="42246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19" name="Image 5" descr="/home/claude/icons/check_cyan.png"/>
          <p:cNvPicPr/>
          <p:nvPr/>
        </p:nvPicPr>
        <p:blipFill>
          <a:blip r:embed="rId9"/>
          <a:stretch/>
        </p:blipFill>
        <p:spPr>
          <a:xfrm>
            <a:off x="740160" y="42696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0" name="Text 17"/>
          <p:cNvSpPr/>
          <p:nvPr/>
        </p:nvSpPr>
        <p:spPr>
          <a:xfrm>
            <a:off x="1188720" y="4142160"/>
            <a:ext cx="1025892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Actionable Recommendations 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Provides security actions, prevention tips, and threat summaries.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18"/>
          <p:cNvSpPr/>
          <p:nvPr/>
        </p:nvSpPr>
        <p:spPr>
          <a:xfrm>
            <a:off x="548640" y="4777920"/>
            <a:ext cx="11063520" cy="60264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Shape 19"/>
          <p:cNvSpPr/>
          <p:nvPr/>
        </p:nvSpPr>
        <p:spPr>
          <a:xfrm>
            <a:off x="694800" y="490572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23" name="Image 6" descr="/home/claude/icons/dashboard_cyan.png"/>
          <p:cNvPicPr/>
          <p:nvPr/>
        </p:nvPicPr>
        <p:blipFill>
          <a:blip r:embed="rId4"/>
          <a:stretch/>
        </p:blipFill>
        <p:spPr>
          <a:xfrm>
            <a:off x="740160" y="49510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Text 20"/>
          <p:cNvSpPr/>
          <p:nvPr/>
        </p:nvSpPr>
        <p:spPr>
          <a:xfrm>
            <a:off x="1188720" y="4823640"/>
            <a:ext cx="1025892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Dashboard Integration 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Displays feature-contribution charts and human-readable insights.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21"/>
          <p:cNvSpPr/>
          <p:nvPr/>
        </p:nvSpPr>
        <p:spPr>
          <a:xfrm>
            <a:off x="548640" y="5459040"/>
            <a:ext cx="11063520" cy="60264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Shape 22"/>
          <p:cNvSpPr/>
          <p:nvPr/>
        </p:nvSpPr>
        <p:spPr>
          <a:xfrm>
            <a:off x="694800" y="558684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27" name="Image 7" descr="/home/claude/icons/lock_cyan.png"/>
          <p:cNvPicPr/>
          <p:nvPr/>
        </p:nvPicPr>
        <p:blipFill>
          <a:blip r:embed="rId10"/>
          <a:stretch/>
        </p:blipFill>
        <p:spPr>
          <a:xfrm>
            <a:off x="740160" y="56322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8" name="Text 23"/>
          <p:cNvSpPr/>
          <p:nvPr/>
        </p:nvSpPr>
        <p:spPr>
          <a:xfrm>
            <a:off x="1188720" y="5504760"/>
            <a:ext cx="1025892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Secure &amp; Reliable 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Uses Groq only as a guidance layer, with fallback mechanisms and privacy controls.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24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25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20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32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 3 — IN ACTION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2"/>
          <p:cNvSpPr/>
          <p:nvPr/>
        </p:nvSpPr>
        <p:spPr>
          <a:xfrm>
            <a:off x="548640" y="621720"/>
            <a:ext cx="1097208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Explainability &amp; Guidance in the Dashboard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3"/>
          <p:cNvSpPr/>
          <p:nvPr/>
        </p:nvSpPr>
        <p:spPr>
          <a:xfrm>
            <a:off x="457200" y="1417320"/>
            <a:ext cx="4891320" cy="2148120"/>
          </a:xfrm>
          <a:prstGeom prst="roundRect">
            <a:avLst>
              <a:gd name="adj" fmla="val 2553"/>
            </a:avLst>
          </a:prstGeom>
          <a:solidFill>
            <a:srgbClr val="0A0F1C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36" name="Image 1" descr="/home/claude/imgs/xai1.png"/>
          <p:cNvPicPr/>
          <p:nvPr/>
        </p:nvPicPr>
        <p:blipFill>
          <a:blip r:embed="rId5"/>
          <a:stretch/>
        </p:blipFill>
        <p:spPr>
          <a:xfrm>
            <a:off x="594360" y="1536120"/>
            <a:ext cx="4617000" cy="191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7" name="Shape 4"/>
          <p:cNvSpPr/>
          <p:nvPr/>
        </p:nvSpPr>
        <p:spPr>
          <a:xfrm>
            <a:off x="457200" y="3749040"/>
            <a:ext cx="4891320" cy="2513880"/>
          </a:xfrm>
          <a:prstGeom prst="roundRect">
            <a:avLst>
              <a:gd name="adj" fmla="val 2182"/>
            </a:avLst>
          </a:prstGeom>
          <a:solidFill>
            <a:srgbClr val="0A0F1C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38" name="Image 2" descr="/home/claude/imgs/xai2.png"/>
          <p:cNvPicPr/>
          <p:nvPr/>
        </p:nvPicPr>
        <p:blipFill>
          <a:blip r:embed="rId6"/>
          <a:stretch/>
        </p:blipFill>
        <p:spPr>
          <a:xfrm>
            <a:off x="594360" y="3867840"/>
            <a:ext cx="4617000" cy="227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Shape 5"/>
          <p:cNvSpPr/>
          <p:nvPr/>
        </p:nvSpPr>
        <p:spPr>
          <a:xfrm>
            <a:off x="5577840" y="1417320"/>
            <a:ext cx="6153120" cy="4845600"/>
          </a:xfrm>
          <a:prstGeom prst="roundRect">
            <a:avLst>
              <a:gd name="adj" fmla="val 1132"/>
            </a:avLst>
          </a:prstGeom>
          <a:solidFill>
            <a:srgbClr val="0A0F1C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40" name="Image 3" descr="/home/claude/imgs/xai3.png"/>
          <p:cNvPicPr/>
          <p:nvPr/>
        </p:nvPicPr>
        <p:blipFill>
          <a:blip r:embed="rId7"/>
          <a:stretch/>
        </p:blipFill>
        <p:spPr>
          <a:xfrm>
            <a:off x="5715000" y="1536120"/>
            <a:ext cx="5878800" cy="460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Text 6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7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21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0">
            <a:hlinkClick r:id="rId3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44" name="Image 0" descr="/home/claude/icons/dashboard_cyan.png">
            <a:hlinkClick r:id="rId3" action="ppaction://hlinksldjump"/>
          </p:cNvPr>
          <p:cNvPicPr/>
          <p:nvPr/>
        </p:nvPicPr>
        <p:blipFill>
          <a:blip r:embed="rId4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 3 — IN ACTION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The Unified Security Dashboard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3"/>
          <p:cNvSpPr/>
          <p:nvPr/>
        </p:nvSpPr>
        <p:spPr>
          <a:xfrm>
            <a:off x="457200" y="1463040"/>
            <a:ext cx="5439960" cy="4799880"/>
          </a:xfrm>
          <a:prstGeom prst="roundRect">
            <a:avLst>
              <a:gd name="adj" fmla="val 1143"/>
            </a:avLst>
          </a:prstGeom>
          <a:solidFill>
            <a:srgbClr val="0A0F1C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48" name="Image 1" descr="/home/claude/imgs/dash1.png"/>
          <p:cNvPicPr/>
          <p:nvPr/>
        </p:nvPicPr>
        <p:blipFill>
          <a:blip r:embed="rId5"/>
          <a:stretch/>
        </p:blipFill>
        <p:spPr>
          <a:xfrm>
            <a:off x="585360" y="1591200"/>
            <a:ext cx="5184000" cy="454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Shape 4"/>
          <p:cNvSpPr/>
          <p:nvPr/>
        </p:nvSpPr>
        <p:spPr>
          <a:xfrm>
            <a:off x="6263640" y="1463040"/>
            <a:ext cx="5467320" cy="4799880"/>
          </a:xfrm>
          <a:prstGeom prst="roundRect">
            <a:avLst>
              <a:gd name="adj" fmla="val 1143"/>
            </a:avLst>
          </a:prstGeom>
          <a:solidFill>
            <a:srgbClr val="0A0F1C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50" name="Image 2" descr="/home/claude/imgs/dash2.png"/>
          <p:cNvPicPr/>
          <p:nvPr/>
        </p:nvPicPr>
        <p:blipFill>
          <a:blip r:embed="rId6"/>
          <a:stretch/>
        </p:blipFill>
        <p:spPr>
          <a:xfrm>
            <a:off x="6391800" y="1591200"/>
            <a:ext cx="5211360" cy="454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Text 5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6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22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hape 0">
            <a:hlinkClick r:id="rId2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54" name="Image 0" descr="/home/claude/icons/dashboard_cyan.png">
            <a:hlinkClick r:id="rId2" action="ppaction://hlinksldjump"/>
          </p:cNvPr>
          <p:cNvPicPr/>
          <p:nvPr/>
        </p:nvPicPr>
        <p:blipFill>
          <a:blip r:embed="rId3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5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 4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Badge"/>
          <p:cNvSpPr/>
          <p:nvPr/>
        </p:nvSpPr>
        <p:spPr>
          <a:xfrm>
            <a:off x="9820080" y="330120"/>
            <a:ext cx="2259360" cy="344160"/>
          </a:xfrm>
          <a:prstGeom prst="roundRect">
            <a:avLst>
              <a:gd name="adj" fmla="val 50000"/>
            </a:avLst>
          </a:prstGeom>
          <a:solidFill>
            <a:srgbClr val="FF7A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FFFFFF"/>
                </a:solidFill>
                <a:effectLst/>
                <a:uFillTx/>
                <a:latin typeface="Times New Roman"/>
              </a:rPr>
              <a:t>PROPOSED RESEARCH MODULE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Threat Evidence Fusion Engine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Row0"/>
          <p:cNvSpPr/>
          <p:nvPr/>
        </p:nvSpPr>
        <p:spPr>
          <a:xfrm>
            <a:off x="548640" y="141696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Circ0"/>
          <p:cNvSpPr/>
          <p:nvPr/>
        </p:nvSpPr>
        <p:spPr>
          <a:xfrm>
            <a:off x="694800" y="159984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60" name="Icon0" descr="/home/claude/icons/layers_cyan.png"/>
          <p:cNvPicPr/>
          <p:nvPr/>
        </p:nvPicPr>
        <p:blipFill>
          <a:blip r:embed="rId4"/>
          <a:stretch/>
        </p:blipFill>
        <p:spPr>
          <a:xfrm>
            <a:off x="740160" y="16452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RowText0"/>
          <p:cNvSpPr/>
          <p:nvPr/>
        </p:nvSpPr>
        <p:spPr>
          <a:xfrm>
            <a:off x="1188720" y="146268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Multi-Source Evidence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Combines ML classification/confidence with URL, DNS, SSL/TLS, RDAP, reputation &amp; redirect signals.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Row1"/>
          <p:cNvSpPr/>
          <p:nvPr/>
        </p:nvSpPr>
        <p:spPr>
          <a:xfrm>
            <a:off x="548640" y="223092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Circ1"/>
          <p:cNvSpPr/>
          <p:nvPr/>
        </p:nvSpPr>
        <p:spPr>
          <a:xfrm>
            <a:off x="694800" y="24138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64" name="Icon1" descr="/home/claude/icons/zap_cyan.png"/>
          <p:cNvPicPr/>
          <p:nvPr/>
        </p:nvPicPr>
        <p:blipFill>
          <a:blip r:embed="rId5"/>
          <a:stretch/>
        </p:blipFill>
        <p:spPr>
          <a:xfrm>
            <a:off x="740160" y="24588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5" name="RowText1"/>
          <p:cNvSpPr/>
          <p:nvPr/>
        </p:nvSpPr>
        <p:spPr>
          <a:xfrm>
            <a:off x="1188720" y="227664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Evidence Normalization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Converts heterogeneous security signals into a common, comparable scale.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Row2"/>
          <p:cNvSpPr/>
          <p:nvPr/>
        </p:nvSpPr>
        <p:spPr>
          <a:xfrm>
            <a:off x="548640" y="304488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Circ2"/>
          <p:cNvSpPr/>
          <p:nvPr/>
        </p:nvSpPr>
        <p:spPr>
          <a:xfrm>
            <a:off x="694800" y="32277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68" name="Icon2" descr="/home/claude/icons/link_cyan.png"/>
          <p:cNvPicPr/>
          <p:nvPr/>
        </p:nvPicPr>
        <p:blipFill>
          <a:blip r:embed="rId6"/>
          <a:stretch/>
        </p:blipFill>
        <p:spPr>
          <a:xfrm>
            <a:off x="740160" y="32727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9" name="RowText2"/>
          <p:cNvSpPr/>
          <p:nvPr/>
        </p:nvSpPr>
        <p:spPr>
          <a:xfrm>
            <a:off x="1188720" y="309060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Evidence Weighting &amp; Fusion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Merges the ML prediction with independent threat-intelligence evidence into one profile.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Row3"/>
          <p:cNvSpPr/>
          <p:nvPr/>
        </p:nvSpPr>
        <p:spPr>
          <a:xfrm>
            <a:off x="548640" y="385848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Circ3"/>
          <p:cNvSpPr/>
          <p:nvPr/>
        </p:nvSpPr>
        <p:spPr>
          <a:xfrm>
            <a:off x="694800" y="40413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72" name="Icon3" descr="/home/claude/icons/shield_cyan.png"/>
          <p:cNvPicPr/>
          <p:nvPr/>
        </p:nvPicPr>
        <p:blipFill>
          <a:blip r:embed="rId7"/>
          <a:stretch/>
        </p:blipFill>
        <p:spPr>
          <a:xfrm>
            <a:off x="740160" y="408672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3" name="RowText3"/>
          <p:cNvSpPr/>
          <p:nvPr/>
        </p:nvSpPr>
        <p:spPr>
          <a:xfrm>
            <a:off x="1188720" y="390420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Unified Threat Evidence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Produces a single combined evidence output that feeds directly into Cyber Risk Assessment.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Row4"/>
          <p:cNvSpPr/>
          <p:nvPr/>
        </p:nvSpPr>
        <p:spPr>
          <a:xfrm>
            <a:off x="548640" y="467244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Circ4"/>
          <p:cNvSpPr/>
          <p:nvPr/>
        </p:nvSpPr>
        <p:spPr>
          <a:xfrm>
            <a:off x="694800" y="485532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76" name="Icon4" descr="/home/claude/icons/barchart_cyan.png"/>
          <p:cNvPicPr/>
          <p:nvPr/>
        </p:nvPicPr>
        <p:blipFill>
          <a:blip r:embed="rId8"/>
          <a:stretch/>
        </p:blipFill>
        <p:spPr>
          <a:xfrm>
            <a:off x="740160" y="49006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7" name="RowText4"/>
          <p:cNvSpPr/>
          <p:nvPr/>
        </p:nvSpPr>
        <p:spPr>
          <a:xfrm>
            <a:off x="1188720" y="471816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Research Evaluation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Compares ML-only vs ML+DNS/SSL/RDAP vs ML+Threat-Intel vs ML+All-Evidence on Accuracy, Precision, Recall, F1, ROC-AUC, FPR, FNR.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Row5"/>
          <p:cNvSpPr/>
          <p:nvPr/>
        </p:nvSpPr>
        <p:spPr>
          <a:xfrm>
            <a:off x="548640" y="548640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Circ5"/>
          <p:cNvSpPr/>
          <p:nvPr/>
        </p:nvSpPr>
        <p:spPr>
          <a:xfrm>
            <a:off x="694800" y="566928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80" name="Icon5" descr="/home/claude/icons/target_cyan.png"/>
          <p:cNvPicPr/>
          <p:nvPr/>
        </p:nvPicPr>
        <p:blipFill>
          <a:blip r:embed="rId9"/>
          <a:stretch/>
        </p:blipFill>
        <p:spPr>
          <a:xfrm>
            <a:off x="740160" y="57142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RowText5"/>
          <p:cNvSpPr/>
          <p:nvPr/>
        </p:nvSpPr>
        <p:spPr>
          <a:xfrm>
            <a:off x="1188720" y="553212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Research Question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Does combining ML predictions with real-time cyber intelligence improve threat assessment over ML-only detection?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F1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F2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23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Shape 0">
            <a:hlinkClick r:id="rId2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85" name="Image 0" descr="/home/claude/icons/dashboard_cyan.png">
            <a:hlinkClick r:id="rId2" action="ppaction://hlinksldjump"/>
          </p:cNvPr>
          <p:cNvPicPr/>
          <p:nvPr/>
        </p:nvPicPr>
        <p:blipFill>
          <a:blip r:embed="rId3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6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 5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Badge"/>
          <p:cNvSpPr/>
          <p:nvPr/>
        </p:nvSpPr>
        <p:spPr>
          <a:xfrm>
            <a:off x="9820080" y="330120"/>
            <a:ext cx="2259360" cy="344160"/>
          </a:xfrm>
          <a:prstGeom prst="roundRect">
            <a:avLst>
              <a:gd name="adj" fmla="val 50000"/>
            </a:avLst>
          </a:prstGeom>
          <a:solidFill>
            <a:srgbClr val="FF7A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FFFFFF"/>
                </a:solidFill>
                <a:effectLst/>
                <a:uFillTx/>
                <a:latin typeface="Times New Roman"/>
              </a:rPr>
              <a:t>PROPOSED RESEARCH MODULE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Agentic Tool-Calling Engine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Row0"/>
          <p:cNvSpPr/>
          <p:nvPr/>
        </p:nvSpPr>
        <p:spPr>
          <a:xfrm>
            <a:off x="548640" y="141696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Circ0"/>
          <p:cNvSpPr/>
          <p:nvPr/>
        </p:nvSpPr>
        <p:spPr>
          <a:xfrm>
            <a:off x="694800" y="159984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91" name="Icon0" descr="/home/claude/icons/cpu_cyan.png"/>
          <p:cNvPicPr/>
          <p:nvPr/>
        </p:nvPicPr>
        <p:blipFill>
          <a:blip r:embed="rId4"/>
          <a:stretch/>
        </p:blipFill>
        <p:spPr>
          <a:xfrm>
            <a:off x="740160" y="16452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2" name="RowText0"/>
          <p:cNvSpPr/>
          <p:nvPr/>
        </p:nvSpPr>
        <p:spPr>
          <a:xfrm>
            <a:off x="1188720" y="146268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Investigation Orchestration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An agent layer decides which security tools to invoke — it does not replace the ML classifier.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Row1"/>
          <p:cNvSpPr/>
          <p:nvPr/>
        </p:nvSpPr>
        <p:spPr>
          <a:xfrm>
            <a:off x="548640" y="223092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Circ1"/>
          <p:cNvSpPr/>
          <p:nvPr/>
        </p:nvSpPr>
        <p:spPr>
          <a:xfrm>
            <a:off x="694800" y="24138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95" name="Icon1" descr="/home/claude/icons/search_cyan.png"/>
          <p:cNvPicPr/>
          <p:nvPr/>
        </p:nvPicPr>
        <p:blipFill>
          <a:blip r:embed="rId5"/>
          <a:stretch/>
        </p:blipFill>
        <p:spPr>
          <a:xfrm>
            <a:off x="740160" y="24588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6" name="RowText1"/>
          <p:cNvSpPr/>
          <p:nvPr/>
        </p:nvSpPr>
        <p:spPr>
          <a:xfrm>
            <a:off x="1188720" y="227664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Dynamic Tool Selection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Chooses from DNS, SSL, RDAP, Reputation, ML and SHAP tools based on the investigation so far.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Row2"/>
          <p:cNvSpPr/>
          <p:nvPr/>
        </p:nvSpPr>
        <p:spPr>
          <a:xfrm>
            <a:off x="548640" y="304488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Circ2"/>
          <p:cNvSpPr/>
          <p:nvPr/>
        </p:nvSpPr>
        <p:spPr>
          <a:xfrm>
            <a:off x="694800" y="32277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599" name="Icon2" descr="/home/claude/icons/globe_cyan.png"/>
          <p:cNvPicPr/>
          <p:nvPr/>
        </p:nvPicPr>
        <p:blipFill>
          <a:blip r:embed="rId6"/>
          <a:stretch/>
        </p:blipFill>
        <p:spPr>
          <a:xfrm>
            <a:off x="740160" y="32727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RowText2"/>
          <p:cNvSpPr/>
          <p:nvPr/>
        </p:nvSpPr>
        <p:spPr>
          <a:xfrm>
            <a:off x="1188720" y="309060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Example Reasoning Flow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Classify → if suspicious, check domain age → DNS → SSL → reputation → SHAP → structured evidence to AI Guide.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Row3"/>
          <p:cNvSpPr/>
          <p:nvPr/>
        </p:nvSpPr>
        <p:spPr>
          <a:xfrm>
            <a:off x="548640" y="385848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Circ3"/>
          <p:cNvSpPr/>
          <p:nvPr/>
        </p:nvSpPr>
        <p:spPr>
          <a:xfrm>
            <a:off x="694800" y="40413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03" name="Icon3" descr="/home/claude/icons/link_cyan.png"/>
          <p:cNvPicPr/>
          <p:nvPr/>
        </p:nvPicPr>
        <p:blipFill>
          <a:blip r:embed="rId7"/>
          <a:stretch/>
        </p:blipFill>
        <p:spPr>
          <a:xfrm>
            <a:off x="740160" y="408672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4" name="RowText3"/>
          <p:cNvSpPr/>
          <p:nvPr/>
        </p:nvSpPr>
        <p:spPr>
          <a:xfrm>
            <a:off x="1188720" y="390420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Evidence Handoff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Collected tool outputs pass to Evidence Fusion, then Risk Assessment and the AI Guide.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Row4"/>
          <p:cNvSpPr/>
          <p:nvPr/>
        </p:nvSpPr>
        <p:spPr>
          <a:xfrm>
            <a:off x="548640" y="467244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Circ4"/>
          <p:cNvSpPr/>
          <p:nvPr/>
        </p:nvSpPr>
        <p:spPr>
          <a:xfrm>
            <a:off x="694800" y="485532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07" name="Icon4" descr="/home/claude/icons/eye_cyan.png"/>
          <p:cNvPicPr/>
          <p:nvPr/>
        </p:nvPicPr>
        <p:blipFill>
          <a:blip r:embed="rId8"/>
          <a:stretch/>
        </p:blipFill>
        <p:spPr>
          <a:xfrm>
            <a:off x="740160" y="49006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RowText4"/>
          <p:cNvSpPr/>
          <p:nvPr/>
        </p:nvSpPr>
        <p:spPr>
          <a:xfrm>
            <a:off x="1188720" y="471816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Observable Actions Only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Shows tool-selection decisions and outputs only — no hidden chain-of-thought is exposed.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Row5"/>
          <p:cNvSpPr/>
          <p:nvPr/>
        </p:nvSpPr>
        <p:spPr>
          <a:xfrm>
            <a:off x="548640" y="548640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Circ5"/>
          <p:cNvSpPr/>
          <p:nvPr/>
        </p:nvSpPr>
        <p:spPr>
          <a:xfrm>
            <a:off x="694800" y="566928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11" name="Icon5" descr="/home/claude/icons/target_cyan.png"/>
          <p:cNvPicPr/>
          <p:nvPr/>
        </p:nvPicPr>
        <p:blipFill>
          <a:blip r:embed="rId9"/>
          <a:stretch/>
        </p:blipFill>
        <p:spPr>
          <a:xfrm>
            <a:off x="740160" y="57142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RowText5"/>
          <p:cNvSpPr/>
          <p:nvPr/>
        </p:nvSpPr>
        <p:spPr>
          <a:xfrm>
            <a:off x="1188720" y="553212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Research Question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Can dynamic tool selection give effective investigation while reducing unnecessary security-tool calls?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F1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F2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24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0">
            <a:hlinkClick r:id="rId2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16" name="Image 0" descr="/home/claude/icons/dashboard_cyan.png">
            <a:hlinkClick r:id="rId2" action="ppaction://hlinksldjump"/>
          </p:cNvPr>
          <p:cNvPicPr/>
          <p:nvPr/>
        </p:nvPicPr>
        <p:blipFill>
          <a:blip r:embed="rId3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7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 6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Badge"/>
          <p:cNvSpPr/>
          <p:nvPr/>
        </p:nvSpPr>
        <p:spPr>
          <a:xfrm>
            <a:off x="9820080" y="330120"/>
            <a:ext cx="2259360" cy="344160"/>
          </a:xfrm>
          <a:prstGeom prst="roundRect">
            <a:avLst>
              <a:gd name="adj" fmla="val 50000"/>
            </a:avLst>
          </a:prstGeom>
          <a:solidFill>
            <a:srgbClr val="FF7A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FFFFFF"/>
                </a:solidFill>
                <a:effectLst/>
                <a:uFillTx/>
                <a:latin typeface="Times New Roman"/>
              </a:rPr>
              <a:t>PROPOSED RESEARCH MODULE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Adversarial URL Robustness Engine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Row0"/>
          <p:cNvSpPr/>
          <p:nvPr/>
        </p:nvSpPr>
        <p:spPr>
          <a:xfrm>
            <a:off x="548640" y="141696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irc0"/>
          <p:cNvSpPr/>
          <p:nvPr/>
        </p:nvSpPr>
        <p:spPr>
          <a:xfrm>
            <a:off x="694800" y="159984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22" name="Icon0" descr="/home/claude/icons/alert_cyan.png"/>
          <p:cNvPicPr/>
          <p:nvPr/>
        </p:nvPicPr>
        <p:blipFill>
          <a:blip r:embed="rId4"/>
          <a:stretch/>
        </p:blipFill>
        <p:spPr>
          <a:xfrm>
            <a:off x="740160" y="16452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3" name="RowText0"/>
          <p:cNvSpPr/>
          <p:nvPr/>
        </p:nvSpPr>
        <p:spPr>
          <a:xfrm>
            <a:off x="1188720" y="146268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Purpose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Evaluates how robust SentinelAI is against deliberately modified or obfuscated phishing URLs.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Row1"/>
          <p:cNvSpPr/>
          <p:nvPr/>
        </p:nvSpPr>
        <p:spPr>
          <a:xfrm>
            <a:off x="548640" y="223092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Circ1"/>
          <p:cNvSpPr/>
          <p:nvPr/>
        </p:nvSpPr>
        <p:spPr>
          <a:xfrm>
            <a:off x="694800" y="24138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26" name="Icon1" descr="/home/claude/icons/zap_cyan.png"/>
          <p:cNvPicPr/>
          <p:nvPr/>
        </p:nvPicPr>
        <p:blipFill>
          <a:blip r:embed="rId5"/>
          <a:stretch/>
        </p:blipFill>
        <p:spPr>
          <a:xfrm>
            <a:off x="740160" y="24588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" name="RowText1"/>
          <p:cNvSpPr/>
          <p:nvPr/>
        </p:nvSpPr>
        <p:spPr>
          <a:xfrm>
            <a:off x="1188720" y="227664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Adversarial Categories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Character substitution, typosquatting, homoglyphs, URL encoding/obfuscation, subdomain &amp; redirect manipulation, brand impersonation.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Row2"/>
          <p:cNvSpPr/>
          <p:nvPr/>
        </p:nvSpPr>
        <p:spPr>
          <a:xfrm>
            <a:off x="548640" y="304488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Circ2"/>
          <p:cNvSpPr/>
          <p:nvPr/>
        </p:nvSpPr>
        <p:spPr>
          <a:xfrm>
            <a:off x="694800" y="32277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30" name="Icon2" descr="/home/claude/icons/cpu_cyan.png"/>
          <p:cNvPicPr/>
          <p:nvPr/>
        </p:nvPicPr>
        <p:blipFill>
          <a:blip r:embed="rId6"/>
          <a:stretch/>
        </p:blipFill>
        <p:spPr>
          <a:xfrm>
            <a:off x="740160" y="32727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1" name="RowText2"/>
          <p:cNvSpPr/>
          <p:nvPr/>
        </p:nvSpPr>
        <p:spPr>
          <a:xfrm>
            <a:off x="1188720" y="309060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Evaluation Pipeline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Original URL → Adversarial Transformation → Modified URL → SentinelAI Classifier → Compare Predictions → Robustness Evaluation.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Row3"/>
          <p:cNvSpPr/>
          <p:nvPr/>
        </p:nvSpPr>
        <p:spPr>
          <a:xfrm>
            <a:off x="548640" y="385848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Circ3"/>
          <p:cNvSpPr/>
          <p:nvPr/>
        </p:nvSpPr>
        <p:spPr>
          <a:xfrm>
            <a:off x="694800" y="40413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34" name="Icon3" descr="/home/claude/icons/barchart_cyan.png"/>
          <p:cNvPicPr/>
          <p:nvPr/>
        </p:nvPicPr>
        <p:blipFill>
          <a:blip r:embed="rId7"/>
          <a:stretch/>
        </p:blipFill>
        <p:spPr>
          <a:xfrm>
            <a:off x="740160" y="408672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5" name="RowText3"/>
          <p:cNvSpPr/>
          <p:nvPr/>
        </p:nvSpPr>
        <p:spPr>
          <a:xfrm>
            <a:off x="1188720" y="390420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Evaluation Metrics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Robust Accuracy, Attack Success Rate, Detection Rate, False Negative Rate, Prediction Stability.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Row4"/>
          <p:cNvSpPr/>
          <p:nvPr/>
        </p:nvSpPr>
        <p:spPr>
          <a:xfrm>
            <a:off x="548640" y="467244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Circ4"/>
          <p:cNvSpPr/>
          <p:nvPr/>
        </p:nvSpPr>
        <p:spPr>
          <a:xfrm>
            <a:off x="694800" y="485532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38" name="Icon4" descr="/home/claude/icons/target_cyan.png"/>
          <p:cNvPicPr/>
          <p:nvPr/>
        </p:nvPicPr>
        <p:blipFill>
          <a:blip r:embed="rId8"/>
          <a:stretch/>
        </p:blipFill>
        <p:spPr>
          <a:xfrm>
            <a:off x="740160" y="49006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9" name="RowText4"/>
          <p:cNvSpPr/>
          <p:nvPr/>
        </p:nvSpPr>
        <p:spPr>
          <a:xfrm>
            <a:off x="1188720" y="471816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Research Question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How resilient is SentinelAI when phishing URLs are deliberately modified to evade detection?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Row5"/>
          <p:cNvSpPr/>
          <p:nvPr/>
        </p:nvSpPr>
        <p:spPr>
          <a:xfrm>
            <a:off x="548640" y="548640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Circ5"/>
          <p:cNvSpPr/>
          <p:nvPr/>
        </p:nvSpPr>
        <p:spPr>
          <a:xfrm>
            <a:off x="694800" y="566928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42" name="Icon5" descr="/home/claude/icons/check_cyan.png"/>
          <p:cNvPicPr/>
          <p:nvPr/>
        </p:nvPicPr>
        <p:blipFill>
          <a:blip r:embed="rId9"/>
          <a:stretch/>
        </p:blipFill>
        <p:spPr>
          <a:xfrm>
            <a:off x="740160" y="57142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3" name="RowText5"/>
          <p:cNvSpPr/>
          <p:nvPr/>
        </p:nvSpPr>
        <p:spPr>
          <a:xfrm>
            <a:off x="1188720" y="553212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Status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Proposed research module — no robustness percentages are reported until adversarial experiments are run.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F1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F2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25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0">
            <a:hlinkClick r:id="rId2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47" name="Image 0" descr="/home/claude/icons/dashboard_cyan.png">
            <a:hlinkClick r:id="rId2" action="ppaction://hlinksldjump"/>
          </p:cNvPr>
          <p:cNvPicPr/>
          <p:nvPr/>
        </p:nvPicPr>
        <p:blipFill>
          <a:blip r:embed="rId3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8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 7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Badge"/>
          <p:cNvSpPr/>
          <p:nvPr/>
        </p:nvSpPr>
        <p:spPr>
          <a:xfrm>
            <a:off x="9820080" y="330120"/>
            <a:ext cx="2259360" cy="344160"/>
          </a:xfrm>
          <a:prstGeom prst="roundRect">
            <a:avLst>
              <a:gd name="adj" fmla="val 50000"/>
            </a:avLst>
          </a:prstGeom>
          <a:solidFill>
            <a:srgbClr val="FF7A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FFFFFF"/>
                </a:solidFill>
                <a:effectLst/>
                <a:uFillTx/>
                <a:latin typeface="Times New Roman"/>
              </a:rPr>
              <a:t>PROPOSED RESEARCH MODULE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Model Uncertainty &amp; Calibration Engine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Row0"/>
          <p:cNvSpPr/>
          <p:nvPr/>
        </p:nvSpPr>
        <p:spPr>
          <a:xfrm>
            <a:off x="548640" y="141696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Circ0"/>
          <p:cNvSpPr/>
          <p:nvPr/>
        </p:nvSpPr>
        <p:spPr>
          <a:xfrm>
            <a:off x="694800" y="159984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53" name="Icon0" descr="/home/claude/icons/barchart_cyan.png"/>
          <p:cNvPicPr/>
          <p:nvPr/>
        </p:nvPicPr>
        <p:blipFill>
          <a:blip r:embed="rId4"/>
          <a:stretch/>
        </p:blipFill>
        <p:spPr>
          <a:xfrm>
            <a:off x="740160" y="16452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RowText0"/>
          <p:cNvSpPr/>
          <p:nvPr/>
        </p:nvSpPr>
        <p:spPr>
          <a:xfrm>
            <a:off x="1188720" y="146268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Purpose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Checks whether ML confidence scores are actually reliable, not just whether accuracy is high.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Row1"/>
          <p:cNvSpPr/>
          <p:nvPr/>
        </p:nvSpPr>
        <p:spPr>
          <a:xfrm>
            <a:off x="548640" y="223092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Circ1"/>
          <p:cNvSpPr/>
          <p:nvPr/>
        </p:nvSpPr>
        <p:spPr>
          <a:xfrm>
            <a:off x="694800" y="24138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57" name="Icon1" descr="/home/claude/icons/activity_cyan.png"/>
          <p:cNvPicPr/>
          <p:nvPr/>
        </p:nvPicPr>
        <p:blipFill>
          <a:blip r:embed="rId5"/>
          <a:stretch/>
        </p:blipFill>
        <p:spPr>
          <a:xfrm>
            <a:off x="740160" y="24588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8" name="RowText1"/>
          <p:cNvSpPr/>
          <p:nvPr/>
        </p:nvSpPr>
        <p:spPr>
          <a:xfrm>
            <a:off x="1188720" y="227664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Calibration Pipeline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ML Prediction → Prediction Probability → Calibration Analysis → Confidence Reliability → Risk Assessment.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Row2"/>
          <p:cNvSpPr/>
          <p:nvPr/>
        </p:nvSpPr>
        <p:spPr>
          <a:xfrm>
            <a:off x="548640" y="304488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Circ2"/>
          <p:cNvSpPr/>
          <p:nvPr/>
        </p:nvSpPr>
        <p:spPr>
          <a:xfrm>
            <a:off x="694800" y="32277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61" name="Icon2" descr="/home/claude/icons/database_cyan.png"/>
          <p:cNvPicPr/>
          <p:nvPr/>
        </p:nvPicPr>
        <p:blipFill>
          <a:blip r:embed="rId6"/>
          <a:stretch/>
        </p:blipFill>
        <p:spPr>
          <a:xfrm>
            <a:off x="740160" y="32727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2" name="RowText2"/>
          <p:cNvSpPr/>
          <p:nvPr/>
        </p:nvSpPr>
        <p:spPr>
          <a:xfrm>
            <a:off x="1188720" y="309060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Components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Confidence bins, calibration curve, reliability diagram, Expected Calibration Error (ECE), Brier Score.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Row3"/>
          <p:cNvSpPr/>
          <p:nvPr/>
        </p:nvSpPr>
        <p:spPr>
          <a:xfrm>
            <a:off x="548640" y="385848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Circ3"/>
          <p:cNvSpPr/>
          <p:nvPr/>
        </p:nvSpPr>
        <p:spPr>
          <a:xfrm>
            <a:off x="694800" y="40413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65" name="Icon3" descr="/home/claude/icons/eye_cyan.png"/>
          <p:cNvPicPr/>
          <p:nvPr/>
        </p:nvPicPr>
        <p:blipFill>
          <a:blip r:embed="rId7"/>
          <a:stretch/>
        </p:blipFill>
        <p:spPr>
          <a:xfrm>
            <a:off x="740160" y="408672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6" name="RowText3"/>
          <p:cNvSpPr/>
          <p:nvPr/>
        </p:nvSpPr>
        <p:spPr>
          <a:xfrm>
            <a:off x="1188720" y="390420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High-Confidence Error Analysis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Examines whether predictions at ~95% confidence are correct approximately 95% of the time.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Row4"/>
          <p:cNvSpPr/>
          <p:nvPr/>
        </p:nvSpPr>
        <p:spPr>
          <a:xfrm>
            <a:off x="548640" y="467244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Circ4"/>
          <p:cNvSpPr/>
          <p:nvPr/>
        </p:nvSpPr>
        <p:spPr>
          <a:xfrm>
            <a:off x="694800" y="485532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69" name="Icon4" descr="/home/claude/icons/target_cyan.png"/>
          <p:cNvPicPr/>
          <p:nvPr/>
        </p:nvPicPr>
        <p:blipFill>
          <a:blip r:embed="rId8"/>
          <a:stretch/>
        </p:blipFill>
        <p:spPr>
          <a:xfrm>
            <a:off x="740160" y="49006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0" name="RowText4"/>
          <p:cNvSpPr/>
          <p:nvPr/>
        </p:nvSpPr>
        <p:spPr>
          <a:xfrm>
            <a:off x="1188720" y="471816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Research Question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Are SentinelAI's confidence scores reliable enough to support cyber-risk decisions?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Row5"/>
          <p:cNvSpPr/>
          <p:nvPr/>
        </p:nvSpPr>
        <p:spPr>
          <a:xfrm>
            <a:off x="548640" y="548640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Circ5"/>
          <p:cNvSpPr/>
          <p:nvPr/>
        </p:nvSpPr>
        <p:spPr>
          <a:xfrm>
            <a:off x="694800" y="566928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73" name="Icon5" descr="/home/claude/icons/check_cyan.png"/>
          <p:cNvPicPr/>
          <p:nvPr/>
        </p:nvPicPr>
        <p:blipFill>
          <a:blip r:embed="rId9"/>
          <a:stretch/>
        </p:blipFill>
        <p:spPr>
          <a:xfrm>
            <a:off x="740160" y="57142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4" name="RowText5"/>
          <p:cNvSpPr/>
          <p:nvPr/>
        </p:nvSpPr>
        <p:spPr>
          <a:xfrm>
            <a:off x="1188720" y="553212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Status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Proposed research module — evaluation metrics only; no calibration results are reported yet.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F1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F2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hape 0">
            <a:hlinkClick r:id="rId2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78" name="Image 0" descr="/home/claude/icons/dashboard_cyan.png">
            <a:hlinkClick r:id="rId2" action="ppaction://hlinksldjump"/>
          </p:cNvPr>
          <p:cNvPicPr/>
          <p:nvPr/>
        </p:nvPicPr>
        <p:blipFill>
          <a:blip r:embed="rId3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MODULE 8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Badge"/>
          <p:cNvSpPr/>
          <p:nvPr/>
        </p:nvSpPr>
        <p:spPr>
          <a:xfrm>
            <a:off x="9820080" y="330120"/>
            <a:ext cx="2259360" cy="344160"/>
          </a:xfrm>
          <a:prstGeom prst="roundRect">
            <a:avLst>
              <a:gd name="adj" fmla="val 50000"/>
            </a:avLst>
          </a:prstGeom>
          <a:solidFill>
            <a:srgbClr val="FF7A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99">
                <a:solidFill>
                  <a:srgbClr val="FFFFFF"/>
                </a:solidFill>
                <a:effectLst/>
                <a:uFillTx/>
                <a:latin typeface="Times New Roman"/>
              </a:rPr>
              <a:t>PROPOSED RESEARCH MODULE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Concept Drift &amp; Continual Learning Engine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Row0"/>
          <p:cNvSpPr/>
          <p:nvPr/>
        </p:nvSpPr>
        <p:spPr>
          <a:xfrm>
            <a:off x="548640" y="141696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Circ0"/>
          <p:cNvSpPr/>
          <p:nvPr/>
        </p:nvSpPr>
        <p:spPr>
          <a:xfrm>
            <a:off x="694800" y="159984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84" name="Icon0" descr="/home/claude/icons/trending_cyan.png"/>
          <p:cNvPicPr/>
          <p:nvPr/>
        </p:nvPicPr>
        <p:blipFill>
          <a:blip r:embed="rId4"/>
          <a:stretch/>
        </p:blipFill>
        <p:spPr>
          <a:xfrm>
            <a:off x="740160" y="16452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5" name="RowText0"/>
          <p:cNvSpPr/>
          <p:nvPr/>
        </p:nvSpPr>
        <p:spPr>
          <a:xfrm>
            <a:off x="1188720" y="146268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Purpose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Detects when evolving phishing patterns make the current model less effective, flagging a need to retrain.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Row1"/>
          <p:cNvSpPr/>
          <p:nvPr/>
        </p:nvSpPr>
        <p:spPr>
          <a:xfrm>
            <a:off x="548640" y="223092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Circ1"/>
          <p:cNvSpPr/>
          <p:nvPr/>
        </p:nvSpPr>
        <p:spPr>
          <a:xfrm>
            <a:off x="694800" y="241380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88" name="Icon1" descr="/home/claude/icons/database_cyan.png"/>
          <p:cNvPicPr/>
          <p:nvPr/>
        </p:nvPicPr>
        <p:blipFill>
          <a:blip r:embed="rId5"/>
          <a:stretch/>
        </p:blipFill>
        <p:spPr>
          <a:xfrm>
            <a:off x="740160" y="24588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9" name="RowText1"/>
          <p:cNvSpPr/>
          <p:nvPr/>
        </p:nvSpPr>
        <p:spPr>
          <a:xfrm>
            <a:off x="1188720" y="227664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Drift Detection Techniques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Population Stability Index (PSI), Kolmogorov–Smirnov test, feature-distribution &amp; performance monitoring.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Row2"/>
          <p:cNvSpPr/>
          <p:nvPr/>
        </p:nvSpPr>
        <p:spPr>
          <a:xfrm>
            <a:off x="548640" y="304488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Circ2"/>
          <p:cNvSpPr/>
          <p:nvPr/>
        </p:nvSpPr>
        <p:spPr>
          <a:xfrm>
            <a:off x="694800" y="32277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92" name="Icon2" descr="/home/claude/icons/cpu_cyan.png"/>
          <p:cNvPicPr/>
          <p:nvPr/>
        </p:nvPicPr>
        <p:blipFill>
          <a:blip r:embed="rId6"/>
          <a:stretch/>
        </p:blipFill>
        <p:spPr>
          <a:xfrm>
            <a:off x="740160" y="32727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3" name="RowText2"/>
          <p:cNvSpPr/>
          <p:nvPr/>
        </p:nvSpPr>
        <p:spPr>
          <a:xfrm>
            <a:off x="1188720" y="309060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Drift Architecture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Historical vs Current Data → Distribution Monitoring → Drift Detection → Retraining or Continued Monitoring.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Row3"/>
          <p:cNvSpPr/>
          <p:nvPr/>
        </p:nvSpPr>
        <p:spPr>
          <a:xfrm>
            <a:off x="548640" y="385848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Circ3"/>
          <p:cNvSpPr/>
          <p:nvPr/>
        </p:nvSpPr>
        <p:spPr>
          <a:xfrm>
            <a:off x="694800" y="404136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696" name="Icon3" descr="/home/claude/icons/link_cyan.png"/>
          <p:cNvPicPr/>
          <p:nvPr/>
        </p:nvPicPr>
        <p:blipFill>
          <a:blip r:embed="rId7"/>
          <a:stretch/>
        </p:blipFill>
        <p:spPr>
          <a:xfrm>
            <a:off x="740160" y="408672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7" name="RowText3"/>
          <p:cNvSpPr/>
          <p:nvPr/>
        </p:nvSpPr>
        <p:spPr>
          <a:xfrm>
            <a:off x="1188720" y="390420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Continual Learning Workflow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New verified samples → Validation → Drift check → Retraining → Model evaluation → Deployment.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Row4"/>
          <p:cNvSpPr/>
          <p:nvPr/>
        </p:nvSpPr>
        <p:spPr>
          <a:xfrm>
            <a:off x="548640" y="467244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Circ4"/>
          <p:cNvSpPr/>
          <p:nvPr/>
        </p:nvSpPr>
        <p:spPr>
          <a:xfrm>
            <a:off x="694800" y="485532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00" name="Icon4" descr="/home/claude/icons/target_cyan.png"/>
          <p:cNvPicPr/>
          <p:nvPr/>
        </p:nvPicPr>
        <p:blipFill>
          <a:blip r:embed="rId8"/>
          <a:stretch/>
        </p:blipFill>
        <p:spPr>
          <a:xfrm>
            <a:off x="740160" y="49006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1" name="RowText4"/>
          <p:cNvSpPr/>
          <p:nvPr/>
        </p:nvSpPr>
        <p:spPr>
          <a:xfrm>
            <a:off x="1188720" y="471816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Research Question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Can SentinelAI detect phishing-pattern drift and maintain performance through controlled model updates?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Row5"/>
          <p:cNvSpPr/>
          <p:nvPr/>
        </p:nvSpPr>
        <p:spPr>
          <a:xfrm>
            <a:off x="548640" y="5486400"/>
            <a:ext cx="110635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Circ5"/>
          <p:cNvSpPr/>
          <p:nvPr/>
        </p:nvSpPr>
        <p:spPr>
          <a:xfrm>
            <a:off x="694800" y="5669280"/>
            <a:ext cx="346680" cy="34668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04" name="Icon5" descr="/home/claude/icons/check_cyan.png"/>
          <p:cNvPicPr/>
          <p:nvPr/>
        </p:nvPicPr>
        <p:blipFill>
          <a:blip r:embed="rId9"/>
          <a:stretch/>
        </p:blipFill>
        <p:spPr>
          <a:xfrm>
            <a:off x="740160" y="571428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5" name="RowText5"/>
          <p:cNvSpPr/>
          <p:nvPr/>
        </p:nvSpPr>
        <p:spPr>
          <a:xfrm>
            <a:off x="1188720" y="5532120"/>
            <a:ext cx="1025892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Status 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Proposed research module — continual learning is not implemented in the current system.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F1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F2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27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0">
            <a:hlinkClick r:id="rId2" action="ppaction://hlinksldjump"/>
          </p:cNvPr>
          <p:cNvSpPr/>
          <p:nvPr/>
        </p:nvSpPr>
        <p:spPr>
          <a:xfrm>
            <a:off x="11539800" y="255960"/>
            <a:ext cx="383400" cy="3834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09" name="Image 0" descr="/home/claude/icons/dashboard_cyan.png">
            <a:hlinkClick r:id="rId2" action="ppaction://hlinksldjump"/>
          </p:cNvPr>
          <p:cNvPicPr/>
          <p:nvPr/>
        </p:nvPicPr>
        <p:blipFill>
          <a:blip r:embed="rId3"/>
          <a:stretch/>
        </p:blipFill>
        <p:spPr>
          <a:xfrm>
            <a:off x="11631240" y="347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0" name="Text 1"/>
          <p:cNvSpPr/>
          <p:nvPr/>
        </p:nvSpPr>
        <p:spPr>
          <a:xfrm>
            <a:off x="548640" y="3474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201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RESEARCH ARCHITECTURE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2"/>
          <p:cNvSpPr/>
          <p:nvPr/>
        </p:nvSpPr>
        <p:spPr>
          <a:xfrm>
            <a:off x="548640" y="621720"/>
            <a:ext cx="9691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Proposed System vs Research Extensions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Card"/>
          <p:cNvSpPr/>
          <p:nvPr/>
        </p:nvSpPr>
        <p:spPr>
          <a:xfrm>
            <a:off x="548640" y="1479960"/>
            <a:ext cx="5342760" cy="454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CardHeader"/>
          <p:cNvSpPr/>
          <p:nvPr/>
        </p:nvSpPr>
        <p:spPr>
          <a:xfrm>
            <a:off x="822960" y="1708560"/>
            <a:ext cx="374256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Proposed Intelligence Layer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CardBadge"/>
          <p:cNvSpPr/>
          <p:nvPr/>
        </p:nvSpPr>
        <p:spPr>
          <a:xfrm>
            <a:off x="4392000" y="1754280"/>
            <a:ext cx="1249200" cy="319320"/>
          </a:xfrm>
          <a:prstGeom prst="roundRect">
            <a:avLst>
              <a:gd name="adj" fmla="val 50000"/>
            </a:avLst>
          </a:prstGeom>
          <a:solidFill>
            <a:srgbClr val="2F529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51">
                <a:solidFill>
                  <a:srgbClr val="FFFFFF"/>
                </a:solidFill>
                <a:effectLst/>
                <a:uFillTx/>
                <a:latin typeface="Times New Roman"/>
              </a:rPr>
              <a:t>IMPLEMENTED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ItemCirc0"/>
          <p:cNvSpPr/>
          <p:nvPr/>
        </p:nvSpPr>
        <p:spPr>
          <a:xfrm>
            <a:off x="822960" y="2580120"/>
            <a:ext cx="259200" cy="259200"/>
          </a:xfrm>
          <a:prstGeom prst="ellipse">
            <a:avLst/>
          </a:prstGeom>
          <a:solidFill>
            <a:srgbClr val="2F5296"/>
          </a:solidFill>
          <a:ln w="9525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16" name="ItemIcon0" descr="/home/claude/icons/cpu_cyan.png"/>
          <p:cNvPicPr/>
          <p:nvPr/>
        </p:nvPicPr>
        <p:blipFill>
          <a:blip r:embed="rId4"/>
          <a:stretch/>
        </p:blipFill>
        <p:spPr>
          <a:xfrm>
            <a:off x="855360" y="2612520"/>
            <a:ext cx="194400" cy="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7" name="ItemText0"/>
          <p:cNvSpPr/>
          <p:nvPr/>
        </p:nvSpPr>
        <p:spPr>
          <a:xfrm>
            <a:off x="1220040" y="2352960"/>
            <a:ext cx="4396680" cy="71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Lightweight ML Classifier  </a:t>
            </a: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URL feature engineering + Random Forest/XGBoost classification.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ItemCirc1"/>
          <p:cNvSpPr/>
          <p:nvPr/>
        </p:nvSpPr>
        <p:spPr>
          <a:xfrm>
            <a:off x="822960" y="3476520"/>
            <a:ext cx="259200" cy="259200"/>
          </a:xfrm>
          <a:prstGeom prst="ellipse">
            <a:avLst/>
          </a:prstGeom>
          <a:solidFill>
            <a:srgbClr val="2F5296"/>
          </a:solidFill>
          <a:ln w="9525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19" name="ItemIcon1" descr="/home/claude/icons/barchart_cyan.png"/>
          <p:cNvPicPr/>
          <p:nvPr/>
        </p:nvPicPr>
        <p:blipFill>
          <a:blip r:embed="rId5"/>
          <a:stretch/>
        </p:blipFill>
        <p:spPr>
          <a:xfrm>
            <a:off x="855360" y="3509280"/>
            <a:ext cx="194400" cy="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0" name="ItemText1"/>
          <p:cNvSpPr/>
          <p:nvPr/>
        </p:nvSpPr>
        <p:spPr>
          <a:xfrm>
            <a:off x="1220040" y="3249720"/>
            <a:ext cx="4396680" cy="71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Cyber Risk Assessment  </a:t>
            </a: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Combines threat evidence into a risk score and severity category.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ItemCirc2"/>
          <p:cNvSpPr/>
          <p:nvPr/>
        </p:nvSpPr>
        <p:spPr>
          <a:xfrm>
            <a:off x="822960" y="4373280"/>
            <a:ext cx="259200" cy="259200"/>
          </a:xfrm>
          <a:prstGeom prst="ellipse">
            <a:avLst/>
          </a:prstGeom>
          <a:solidFill>
            <a:srgbClr val="2F5296"/>
          </a:solidFill>
          <a:ln w="9525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22" name="ItemIcon2" descr="/home/claude/icons/brain_cyan.png"/>
          <p:cNvPicPr/>
          <p:nvPr/>
        </p:nvPicPr>
        <p:blipFill>
          <a:blip r:embed="rId6"/>
          <a:stretch/>
        </p:blipFill>
        <p:spPr>
          <a:xfrm>
            <a:off x="855360" y="4405680"/>
            <a:ext cx="194400" cy="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3" name="ItemText2"/>
          <p:cNvSpPr/>
          <p:nvPr/>
        </p:nvSpPr>
        <p:spPr>
          <a:xfrm>
            <a:off x="1220040" y="4146120"/>
            <a:ext cx="4396680" cy="71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Explainable AI  </a:t>
            </a: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SHAP identifies the features driving each prediction.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ItemCirc3"/>
          <p:cNvSpPr/>
          <p:nvPr/>
        </p:nvSpPr>
        <p:spPr>
          <a:xfrm>
            <a:off x="822960" y="5270040"/>
            <a:ext cx="259200" cy="259200"/>
          </a:xfrm>
          <a:prstGeom prst="ellipse">
            <a:avLst/>
          </a:prstGeom>
          <a:solidFill>
            <a:srgbClr val="2F5296"/>
          </a:solidFill>
          <a:ln w="9525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25" name="ItemIcon3" descr="/home/claude/icons/message_cyan.png"/>
          <p:cNvPicPr/>
          <p:nvPr/>
        </p:nvPicPr>
        <p:blipFill>
          <a:blip r:embed="rId7"/>
          <a:stretch/>
        </p:blipFill>
        <p:spPr>
          <a:xfrm>
            <a:off x="855360" y="5302440"/>
            <a:ext cx="194400" cy="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6" name="ItemText3"/>
          <p:cNvSpPr/>
          <p:nvPr/>
        </p:nvSpPr>
        <p:spPr>
          <a:xfrm>
            <a:off x="1220040" y="5042880"/>
            <a:ext cx="4396680" cy="71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AI Guide  </a:t>
            </a: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LLM turns results into plain-language guidance and recommendations.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Card"/>
          <p:cNvSpPr/>
          <p:nvPr/>
        </p:nvSpPr>
        <p:spPr>
          <a:xfrm>
            <a:off x="6299640" y="1479960"/>
            <a:ext cx="5342760" cy="4549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CardHeader"/>
          <p:cNvSpPr/>
          <p:nvPr/>
        </p:nvSpPr>
        <p:spPr>
          <a:xfrm>
            <a:off x="6573960" y="1708560"/>
            <a:ext cx="374256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Research Extension Layer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CardBadge"/>
          <p:cNvSpPr/>
          <p:nvPr/>
        </p:nvSpPr>
        <p:spPr>
          <a:xfrm>
            <a:off x="10143000" y="1754280"/>
            <a:ext cx="1249200" cy="319320"/>
          </a:xfrm>
          <a:prstGeom prst="roundRect">
            <a:avLst>
              <a:gd name="adj" fmla="val 50000"/>
            </a:avLst>
          </a:prstGeom>
          <a:solidFill>
            <a:srgbClr val="FF7A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spc="51">
                <a:solidFill>
                  <a:srgbClr val="FFFFFF"/>
                </a:solidFill>
                <a:effectLst/>
                <a:uFillTx/>
                <a:latin typeface="Times New Roman"/>
              </a:rPr>
              <a:t>PROPOSED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ItemCirc0"/>
          <p:cNvSpPr/>
          <p:nvPr/>
        </p:nvSpPr>
        <p:spPr>
          <a:xfrm>
            <a:off x="6573960" y="2501640"/>
            <a:ext cx="259200" cy="259200"/>
          </a:xfrm>
          <a:prstGeom prst="ellipse">
            <a:avLst/>
          </a:prstGeom>
          <a:solidFill>
            <a:srgbClr val="2F5296"/>
          </a:solidFill>
          <a:ln w="9525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31" name="ItemIcon0" descr="/home/claude/icons/layers_cyan.png"/>
          <p:cNvPicPr/>
          <p:nvPr/>
        </p:nvPicPr>
        <p:blipFill>
          <a:blip r:embed="rId8"/>
          <a:stretch/>
        </p:blipFill>
        <p:spPr>
          <a:xfrm>
            <a:off x="6606360" y="2534040"/>
            <a:ext cx="194400" cy="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2" name="ItemText0"/>
          <p:cNvSpPr/>
          <p:nvPr/>
        </p:nvSpPr>
        <p:spPr>
          <a:xfrm>
            <a:off x="6971040" y="2352960"/>
            <a:ext cx="4396680" cy="55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Threat Evidence Fusion  </a:t>
            </a: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Fuses ML output with DNS/SSL/RDAP/reputation evidence.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ItemCirc1"/>
          <p:cNvSpPr/>
          <p:nvPr/>
        </p:nvSpPr>
        <p:spPr>
          <a:xfrm>
            <a:off x="6573960" y="3213360"/>
            <a:ext cx="259200" cy="259200"/>
          </a:xfrm>
          <a:prstGeom prst="ellipse">
            <a:avLst/>
          </a:prstGeom>
          <a:solidFill>
            <a:srgbClr val="2F5296"/>
          </a:solidFill>
          <a:ln w="9525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34" name="ItemIcon1" descr="/home/claude/icons/cpu_cyan.png"/>
          <p:cNvPicPr/>
          <p:nvPr/>
        </p:nvPicPr>
        <p:blipFill>
          <a:blip r:embed="rId4"/>
          <a:stretch/>
        </p:blipFill>
        <p:spPr>
          <a:xfrm>
            <a:off x="6606360" y="3245760"/>
            <a:ext cx="194400" cy="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5" name="ItemText1"/>
          <p:cNvSpPr/>
          <p:nvPr/>
        </p:nvSpPr>
        <p:spPr>
          <a:xfrm>
            <a:off x="6971040" y="3064680"/>
            <a:ext cx="4396680" cy="55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Agentic Tool-Calling  </a:t>
            </a: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Agent dynamically selects which security tools to run.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ItemCirc2"/>
          <p:cNvSpPr/>
          <p:nvPr/>
        </p:nvSpPr>
        <p:spPr>
          <a:xfrm>
            <a:off x="6573960" y="3925080"/>
            <a:ext cx="259200" cy="259200"/>
          </a:xfrm>
          <a:prstGeom prst="ellipse">
            <a:avLst/>
          </a:prstGeom>
          <a:solidFill>
            <a:srgbClr val="2F5296"/>
          </a:solidFill>
          <a:ln w="9525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37" name="ItemIcon2" descr="/home/claude/icons/alert_cyan.png"/>
          <p:cNvPicPr/>
          <p:nvPr/>
        </p:nvPicPr>
        <p:blipFill>
          <a:blip r:embed="rId9"/>
          <a:stretch/>
        </p:blipFill>
        <p:spPr>
          <a:xfrm>
            <a:off x="6606360" y="3957480"/>
            <a:ext cx="194400" cy="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8" name="ItemText2"/>
          <p:cNvSpPr/>
          <p:nvPr/>
        </p:nvSpPr>
        <p:spPr>
          <a:xfrm>
            <a:off x="6971040" y="3776400"/>
            <a:ext cx="4396680" cy="55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Adversarial Robustness  </a:t>
            </a: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Tests detection against obfuscated, evasive URL variants.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ItemCirc3"/>
          <p:cNvSpPr/>
          <p:nvPr/>
        </p:nvSpPr>
        <p:spPr>
          <a:xfrm>
            <a:off x="6573960" y="4636800"/>
            <a:ext cx="259200" cy="259200"/>
          </a:xfrm>
          <a:prstGeom prst="ellipse">
            <a:avLst/>
          </a:prstGeom>
          <a:solidFill>
            <a:srgbClr val="2F5296"/>
          </a:solidFill>
          <a:ln w="9525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40" name="ItemIcon3" descr="/home/claude/icons/target_cyan.png"/>
          <p:cNvPicPr/>
          <p:nvPr/>
        </p:nvPicPr>
        <p:blipFill>
          <a:blip r:embed="rId10"/>
          <a:stretch/>
        </p:blipFill>
        <p:spPr>
          <a:xfrm>
            <a:off x="6606360" y="4669200"/>
            <a:ext cx="194400" cy="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1" name="ItemText3"/>
          <p:cNvSpPr/>
          <p:nvPr/>
        </p:nvSpPr>
        <p:spPr>
          <a:xfrm>
            <a:off x="6971040" y="4488120"/>
            <a:ext cx="4396680" cy="55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Uncertainty &amp; Calibration  </a:t>
            </a: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Checks whether confidence scores are statistically reliable.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ItemCirc4"/>
          <p:cNvSpPr/>
          <p:nvPr/>
        </p:nvSpPr>
        <p:spPr>
          <a:xfrm>
            <a:off x="6573960" y="5348520"/>
            <a:ext cx="259200" cy="259200"/>
          </a:xfrm>
          <a:prstGeom prst="ellipse">
            <a:avLst/>
          </a:prstGeom>
          <a:solidFill>
            <a:srgbClr val="2F5296"/>
          </a:solidFill>
          <a:ln w="9525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43" name="ItemIcon4" descr="/home/claude/icons/trending_cyan.png"/>
          <p:cNvPicPr/>
          <p:nvPr/>
        </p:nvPicPr>
        <p:blipFill>
          <a:blip r:embed="rId11"/>
          <a:stretch/>
        </p:blipFill>
        <p:spPr>
          <a:xfrm>
            <a:off x="6606360" y="5380920"/>
            <a:ext cx="194400" cy="1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4" name="ItemText4"/>
          <p:cNvSpPr/>
          <p:nvPr/>
        </p:nvSpPr>
        <p:spPr>
          <a:xfrm>
            <a:off x="6971040" y="5199840"/>
            <a:ext cx="4396680" cy="55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Concept Drift &amp; Continual Learning  </a:t>
            </a: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Detects pattern drift and evaluates controlled retraining.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F1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F2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28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Shape 0"/>
          <p:cNvSpPr/>
          <p:nvPr/>
        </p:nvSpPr>
        <p:spPr>
          <a:xfrm>
            <a:off x="8778240" y="-2194560"/>
            <a:ext cx="5942880" cy="5942880"/>
          </a:xfrm>
          <a:prstGeom prst="ellipse">
            <a:avLst/>
          </a:prstGeom>
          <a:solidFill>
            <a:srgbClr val="3A5FA6">
              <a:alpha val="6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Shape 1"/>
          <p:cNvSpPr/>
          <p:nvPr/>
        </p:nvSpPr>
        <p:spPr>
          <a:xfrm>
            <a:off x="5212080" y="1417320"/>
            <a:ext cx="913680" cy="913680"/>
          </a:xfrm>
          <a:prstGeom prst="ellipse">
            <a:avLst/>
          </a:prstGeom>
          <a:solidFill>
            <a:srgbClr val="3A5FA6"/>
          </a:solidFill>
          <a:ln w="12700">
            <a:solidFill>
              <a:srgbClr val="2C4C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76" name="Image 0" descr="/home/claude/icons/shield_cyan.png"/>
          <p:cNvPicPr/>
          <p:nvPr/>
        </p:nvPicPr>
        <p:blipFill>
          <a:blip r:embed="rId3"/>
          <a:stretch/>
        </p:blipFill>
        <p:spPr>
          <a:xfrm>
            <a:off x="5330880" y="1536120"/>
            <a:ext cx="676080" cy="67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7" name="Text 2"/>
          <p:cNvSpPr/>
          <p:nvPr/>
        </p:nvSpPr>
        <p:spPr>
          <a:xfrm>
            <a:off x="548640" y="2560320"/>
            <a:ext cx="1106352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Thank You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3"/>
          <p:cNvSpPr/>
          <p:nvPr/>
        </p:nvSpPr>
        <p:spPr>
          <a:xfrm>
            <a:off x="548640" y="342900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0E5D4"/>
                </a:solidFill>
                <a:effectLst/>
                <a:uFillTx/>
                <a:latin typeface="Times New Roman"/>
                <a:ea typeface="Times New Roman"/>
              </a:rPr>
              <a:t>SentinelAI — Explainable, Real-Time, User-Centric Cyber Defense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4"/>
          <p:cNvSpPr/>
          <p:nvPr/>
        </p:nvSpPr>
        <p:spPr>
          <a:xfrm>
            <a:off x="548640" y="402336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D7E1F5"/>
                </a:solidFill>
                <a:effectLst/>
                <a:uFillTx/>
                <a:latin typeface="Times New Roman"/>
                <a:ea typeface="Times New Roman"/>
              </a:rPr>
              <a:t>Questions &amp; Discussion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5">
            <a:hlinkClick r:id="rId4" action="ppaction://hlinksldjump"/>
          </p:cNvPr>
          <p:cNvSpPr/>
          <p:nvPr/>
        </p:nvSpPr>
        <p:spPr>
          <a:xfrm>
            <a:off x="4910400" y="4754880"/>
            <a:ext cx="2376720" cy="50220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00E5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Text 6"/>
          <p:cNvSpPr/>
          <p:nvPr/>
        </p:nvSpPr>
        <p:spPr>
          <a:xfrm>
            <a:off x="4910400" y="4754880"/>
            <a:ext cx="23767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sng" strike="noStrike">
                <a:solidFill>
                  <a:srgbClr val="0563C1"/>
                </a:solidFill>
                <a:effectLst/>
                <a:uFillTx/>
                <a:latin typeface="Times New Roman"/>
                <a:ea typeface="Times New Roman"/>
                <a:hlinkClick r:id="rId4" action="ppaction://hlinksldjump"/>
              </a:rPr>
              <a:t>← Back to Agenda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7"/>
          <p:cNvSpPr/>
          <p:nvPr/>
        </p:nvSpPr>
        <p:spPr>
          <a:xfrm>
            <a:off x="457200" y="65469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SENTINELAI  |  PROJECT PHASE 1 / AI&amp;DS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8"/>
          <p:cNvSpPr/>
          <p:nvPr/>
        </p:nvSpPr>
        <p:spPr>
          <a:xfrm>
            <a:off x="11338560" y="65469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9C0E8"/>
                </a:solidFill>
                <a:effectLst/>
                <a:uFillTx/>
                <a:latin typeface="Times New Roman"/>
                <a:ea typeface="Times New Roman"/>
              </a:rPr>
              <a:t>30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</TotalTime>
  <Words>2966</Words>
  <Application>Microsoft Office PowerPoint</Application>
  <PresentationFormat>Widescreen</PresentationFormat>
  <Paragraphs>392</Paragraphs>
  <Slides>27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Santhosh Kumar</cp:lastModifiedBy>
  <cp:revision>7</cp:revision>
  <dcterms:created xsi:type="dcterms:W3CDTF">2026-09-10T04:59:51Z</dcterms:created>
  <dcterms:modified xsi:type="dcterms:W3CDTF">2026-09-15T10:25:25Z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Widescreen</vt:lpwstr>
  </property>
  <property fmtid="{D5CDD505-2E9C-101B-9397-08002B2CF9AE}" pid="4" name="Slides">
    <vt:i4>28</vt:i4>
  </property>
</Properties>
</file>