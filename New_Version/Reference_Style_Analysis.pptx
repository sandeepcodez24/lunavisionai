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3A5FA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754880"/>
            <a:ext cx="4754880" cy="4754880"/>
          </a:xfrm>
          <a:prstGeom prst="ellipse">
            <a:avLst/>
          </a:prstGeom>
          <a:solidFill>
            <a:srgbClr val="3A5FA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50" b="1" i="0" spc="25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REFERENCE / STYLE ANALYSIS VERSION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3A5FA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" y="1453896"/>
            <a:ext cx="338328" cy="338328"/>
          </a:xfrm>
          <a:prstGeom prst="rect">
            <a:avLst/>
          </a:prstGeom>
          <a:noFill/>
          <a:ln w="28575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0584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1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The visual structure and styling taken from the reference deck and followed in the final presentation</a:t>
            </a:r>
          </a:p>
        </p:txBody>
      </p:sp>
      <p:sp>
        <p:nvSpPr>
          <p:cNvPr id="9" name="Card"/>
          <p:cNvSpPr/>
          <p:nvPr/>
        </p:nvSpPr>
        <p:spPr>
          <a:xfrm>
            <a:off x="822960" y="4160520"/>
            <a:ext cx="60350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557784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1" i="0" spc="15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STYLE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557784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 deck: design, colour, layout and spacing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047488"/>
            <a:ext cx="5577840" cy="109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38928"/>
            <a:ext cx="557784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1" i="0" spc="15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CONTENT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13248"/>
            <a:ext cx="557784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Original deck: every word, figure and table. No reference content is reused.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COLOUR PALETTE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Eight Colours, One Dominant Blue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2763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#4472C4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Slide background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Dominant field on every slide</a:t>
            </a:r>
          </a:p>
        </p:txBody>
      </p:sp>
      <p:sp>
        <p:nvSpPr>
          <p:cNvPr id="7" name="Card"/>
          <p:cNvSpPr/>
          <p:nvPr/>
        </p:nvSpPr>
        <p:spPr>
          <a:xfrm>
            <a:off x="3360420" y="146304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5012" y="162763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3A5FA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5012" y="269748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#3A5FA6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Backdrop circles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Cover decoration at 60% opacity</a:t>
            </a:r>
          </a:p>
        </p:txBody>
      </p:sp>
      <p:sp>
        <p:nvSpPr>
          <p:cNvPr id="10" name="Card"/>
          <p:cNvSpPr/>
          <p:nvPr/>
        </p:nvSpPr>
        <p:spPr>
          <a:xfrm>
            <a:off x="6172200" y="146304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62763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269748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#2F5296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Icon circles / table body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Accent fills, emphasis cards</a:t>
            </a:r>
          </a:p>
        </p:txBody>
      </p:sp>
      <p:sp>
        <p:nvSpPr>
          <p:cNvPr id="13" name="Card"/>
          <p:cNvSpPr/>
          <p:nvPr/>
        </p:nvSpPr>
        <p:spPr>
          <a:xfrm>
            <a:off x="8983980" y="146304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8572" y="162763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2C4C8C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8572" y="269748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#2C4C8C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Card and table borders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1 pt outline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393192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409651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1663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#FFFFFF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Cards and titles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Content surfaces, heading text</a:t>
            </a:r>
          </a:p>
        </p:txBody>
      </p:sp>
      <p:sp>
        <p:nvSpPr>
          <p:cNvPr id="19" name="Card"/>
          <p:cNvSpPr/>
          <p:nvPr/>
        </p:nvSpPr>
        <p:spPr>
          <a:xfrm>
            <a:off x="3360420" y="393192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5012" y="409651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00E5D4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5012" y="51663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#00E5D4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Kicker / table header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Section labels, numerals</a:t>
            </a:r>
          </a:p>
        </p:txBody>
      </p:sp>
      <p:sp>
        <p:nvSpPr>
          <p:cNvPr id="22" name="Card"/>
          <p:cNvSpPr/>
          <p:nvPr/>
        </p:nvSpPr>
        <p:spPr>
          <a:xfrm>
            <a:off x="6172200" y="393192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6792" y="409651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FF7A5C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51663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#FF7A5C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Badge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One highlight per slide at most</a:t>
            </a:r>
          </a:p>
        </p:txBody>
      </p:sp>
      <p:sp>
        <p:nvSpPr>
          <p:cNvPr id="25" name="Card"/>
          <p:cNvSpPr/>
          <p:nvPr/>
        </p:nvSpPr>
        <p:spPr>
          <a:xfrm>
            <a:off x="8983980" y="3931920"/>
            <a:ext cx="262890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8572" y="4096512"/>
            <a:ext cx="2299716" cy="1005840"/>
          </a:xfrm>
          <a:prstGeom prst="roundRect">
            <a:avLst>
              <a:gd name="adj" fmla="val 8000"/>
            </a:avLst>
          </a:prstGeom>
          <a:solidFill>
            <a:srgbClr val="A9C0E8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8572" y="51663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#A9C0E8</a:t>
            </a:r>
          </a:p>
          <a:p>
            <a:pPr algn="l">
              <a:spcBef>
                <a:spcPts val="200"/>
              </a:spcBef>
            </a:pPr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Footer and captions</a:t>
            </a:r>
          </a:p>
          <a:p>
            <a:pPr algn="l"/>
            <a:r>
              <a:rPr sz="11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Low-emphasis text on blue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0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TYPOGRAPHY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Times New Roman Throughout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Icon"/>
          <p:cNvSpPr/>
          <p:nvPr/>
        </p:nvSpPr>
        <p:spPr>
          <a:xfrm>
            <a:off x="694944" y="1536192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44752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Cover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44752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58 pt bold, white</a:t>
            </a:r>
          </a:p>
        </p:txBody>
      </p:sp>
      <p:sp>
        <p:nvSpPr>
          <p:cNvPr id="8" name="Card"/>
          <p:cNvSpPr/>
          <p:nvPr/>
        </p:nvSpPr>
        <p:spPr>
          <a:xfrm>
            <a:off x="548640" y="2112264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"/>
          <p:cNvSpPr/>
          <p:nvPr/>
        </p:nvSpPr>
        <p:spPr>
          <a:xfrm>
            <a:off x="694944" y="2231136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39696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Slide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39696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28 pt bold, white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2807208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"/>
          <p:cNvSpPr/>
          <p:nvPr/>
        </p:nvSpPr>
        <p:spPr>
          <a:xfrm>
            <a:off x="694944" y="2926080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3464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15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KICKER / SECTION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12.5 pt bold, cyan, wide letter-spacing, capitals</a:t>
            </a:r>
          </a:p>
        </p:txBody>
      </p:sp>
      <p:sp>
        <p:nvSpPr>
          <p:cNvPr id="16" name="Card"/>
          <p:cNvSpPr/>
          <p:nvPr/>
        </p:nvSpPr>
        <p:spPr>
          <a:xfrm>
            <a:off x="548640" y="3502152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"/>
          <p:cNvSpPr/>
          <p:nvPr/>
        </p:nvSpPr>
        <p:spPr>
          <a:xfrm>
            <a:off x="694944" y="3621024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29584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Card heading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9584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13.5 to 15 pt bold, black</a:t>
            </a:r>
          </a:p>
        </p:txBody>
      </p:sp>
      <p:sp>
        <p:nvSpPr>
          <p:cNvPr id="20" name="Card"/>
          <p:cNvSpPr/>
          <p:nvPr/>
        </p:nvSpPr>
        <p:spPr>
          <a:xfrm>
            <a:off x="548640" y="4197096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"/>
          <p:cNvSpPr/>
          <p:nvPr/>
        </p:nvSpPr>
        <p:spPr>
          <a:xfrm>
            <a:off x="694944" y="4315968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24528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Body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24528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12 to 14.5 pt regular, black on white cards</a:t>
            </a:r>
          </a:p>
        </p:txBody>
      </p:sp>
      <p:sp>
        <p:nvSpPr>
          <p:cNvPr id="24" name="Card"/>
          <p:cNvSpPr/>
          <p:nvPr/>
        </p:nvSpPr>
        <p:spPr>
          <a:xfrm>
            <a:off x="548640" y="489204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"/>
          <p:cNvSpPr/>
          <p:nvPr/>
        </p:nvSpPr>
        <p:spPr>
          <a:xfrm>
            <a:off x="694944" y="5010912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19472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Table header / table 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19472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13 pt bold blue on cyan / 11 to 12 pt white on navy</a:t>
            </a:r>
          </a:p>
        </p:txBody>
      </p:sp>
      <p:sp>
        <p:nvSpPr>
          <p:cNvPr id="28" name="Card"/>
          <p:cNvSpPr/>
          <p:nvPr/>
        </p:nvSpPr>
        <p:spPr>
          <a:xfrm>
            <a:off x="548640" y="5586984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"/>
          <p:cNvSpPr/>
          <p:nvPr/>
        </p:nvSpPr>
        <p:spPr>
          <a:xfrm>
            <a:off x="694944" y="5705856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614416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 spc="15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FOOTER  |  SLIDE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14416"/>
            <a:ext cx="5029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9 pt regular, muted blue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33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4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SLIDE ANATOMY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Margins, Zones and Chrome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676656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6309360" cy="3547872"/>
          </a:xfrm>
          <a:prstGeom prst="rect">
            <a:avLst/>
          </a:prstGeom>
          <a:solidFill>
            <a:srgbClr val="4472C4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1168" y="1825741"/>
            <a:ext cx="1419641" cy="94642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1168" y="2000830"/>
            <a:ext cx="3075889" cy="2366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97770" y="1787884"/>
            <a:ext cx="198749" cy="198749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1168" y="2379401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01345" y="2379401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41521" y="2379401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1168" y="3609757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01345" y="3609757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41521" y="3609757"/>
            <a:ext cx="1845533" cy="11357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3846" y="5062523"/>
            <a:ext cx="1703569" cy="47321"/>
          </a:xfrm>
          <a:prstGeom prst="rect">
            <a:avLst/>
          </a:prstGeom>
          <a:solidFill>
            <a:srgbClr val="A9C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92412" y="5062523"/>
            <a:ext cx="165624" cy="47321"/>
          </a:xfrm>
          <a:prstGeom prst="rect">
            <a:avLst/>
          </a:prstGeom>
          <a:solidFill>
            <a:srgbClr val="A9C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03520"/>
            <a:ext cx="630936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 i="1">
                <a:solidFill>
                  <a:srgbClr val="44506B"/>
                </a:solidFill>
                <a:latin typeface="Times New Roman"/>
                <a:ea typeface="Times New Roman"/>
                <a:cs typeface="Times New Roman"/>
              </a:rPr>
              <a:t>Miniature of a content slide: kicker, title, home button, card zone and footer strip in their reference positions.</a:t>
            </a:r>
          </a:p>
        </p:txBody>
      </p:sp>
      <p:sp>
        <p:nvSpPr>
          <p:cNvPr id="18" name="Row"/>
          <p:cNvSpPr/>
          <p:nvPr/>
        </p:nvSpPr>
        <p:spPr>
          <a:xfrm>
            <a:off x="7498079" y="1417320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"/>
          <p:cNvSpPr/>
          <p:nvPr/>
        </p:nvSpPr>
        <p:spPr>
          <a:xfrm>
            <a:off x="7644383" y="1540764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20" name="RowText"/>
          <p:cNvSpPr txBox="1"/>
          <p:nvPr/>
        </p:nvSpPr>
        <p:spPr>
          <a:xfrm>
            <a:off x="8119871" y="1444752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Canvas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16:9, 13.33 in × 7.5 in, solid blue background.</a:t>
            </a:r>
          </a:p>
        </p:txBody>
      </p:sp>
      <p:sp>
        <p:nvSpPr>
          <p:cNvPr id="21" name="Row"/>
          <p:cNvSpPr/>
          <p:nvPr/>
        </p:nvSpPr>
        <p:spPr>
          <a:xfrm>
            <a:off x="7498079" y="2121408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"/>
          <p:cNvSpPr/>
          <p:nvPr/>
        </p:nvSpPr>
        <p:spPr>
          <a:xfrm>
            <a:off x="7644383" y="2244852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23" name="RowText"/>
          <p:cNvSpPr txBox="1"/>
          <p:nvPr/>
        </p:nvSpPr>
        <p:spPr>
          <a:xfrm>
            <a:off x="8119871" y="2148840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Margins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0.6 in left and right; content ends by 6.9 in.</a:t>
            </a:r>
          </a:p>
        </p:txBody>
      </p:sp>
      <p:sp>
        <p:nvSpPr>
          <p:cNvPr id="24" name="Row"/>
          <p:cNvSpPr/>
          <p:nvPr/>
        </p:nvSpPr>
        <p:spPr>
          <a:xfrm>
            <a:off x="7498079" y="2825496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"/>
          <p:cNvSpPr/>
          <p:nvPr/>
        </p:nvSpPr>
        <p:spPr>
          <a:xfrm>
            <a:off x="7644383" y="2948939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6" name="RowText"/>
          <p:cNvSpPr txBox="1"/>
          <p:nvPr/>
        </p:nvSpPr>
        <p:spPr>
          <a:xfrm>
            <a:off x="8119871" y="2852927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Kicker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Top 0.38 in; capitals, cyan, letter-spaced.</a:t>
            </a:r>
          </a:p>
        </p:txBody>
      </p:sp>
      <p:sp>
        <p:nvSpPr>
          <p:cNvPr id="27" name="Row"/>
          <p:cNvSpPr/>
          <p:nvPr/>
        </p:nvSpPr>
        <p:spPr>
          <a:xfrm>
            <a:off x="7498079" y="3529584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con"/>
          <p:cNvSpPr/>
          <p:nvPr/>
        </p:nvSpPr>
        <p:spPr>
          <a:xfrm>
            <a:off x="7644383" y="3653028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9" name="RowText"/>
          <p:cNvSpPr txBox="1"/>
          <p:nvPr/>
        </p:nvSpPr>
        <p:spPr>
          <a:xfrm>
            <a:off x="8119871" y="3557016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Title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Top 0.68 in; left-aligned, single line.</a:t>
            </a:r>
          </a:p>
        </p:txBody>
      </p:sp>
      <p:sp>
        <p:nvSpPr>
          <p:cNvPr id="30" name="Row"/>
          <p:cNvSpPr/>
          <p:nvPr/>
        </p:nvSpPr>
        <p:spPr>
          <a:xfrm>
            <a:off x="7498079" y="4233672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Icon"/>
          <p:cNvSpPr/>
          <p:nvPr/>
        </p:nvSpPr>
        <p:spPr>
          <a:xfrm>
            <a:off x="7644383" y="4357116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32" name="RowText"/>
          <p:cNvSpPr txBox="1"/>
          <p:nvPr/>
        </p:nvSpPr>
        <p:spPr>
          <a:xfrm>
            <a:off x="8119871" y="4261104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Content zone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Starts at 1.55 in; cards on a 0.2 in gutter.</a:t>
            </a:r>
          </a:p>
        </p:txBody>
      </p:sp>
      <p:sp>
        <p:nvSpPr>
          <p:cNvPr id="33" name="Row"/>
          <p:cNvSpPr/>
          <p:nvPr/>
        </p:nvSpPr>
        <p:spPr>
          <a:xfrm>
            <a:off x="7498079" y="4937760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con"/>
          <p:cNvSpPr/>
          <p:nvPr/>
        </p:nvSpPr>
        <p:spPr>
          <a:xfrm>
            <a:off x="7644383" y="5061204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35" name="RowText"/>
          <p:cNvSpPr txBox="1"/>
          <p:nvPr/>
        </p:nvSpPr>
        <p:spPr>
          <a:xfrm>
            <a:off x="8119871" y="4965192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Home button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Navy circle top-right; links to the agenda.</a:t>
            </a:r>
          </a:p>
        </p:txBody>
      </p:sp>
      <p:sp>
        <p:nvSpPr>
          <p:cNvPr id="36" name="Row"/>
          <p:cNvSpPr/>
          <p:nvPr/>
        </p:nvSpPr>
        <p:spPr>
          <a:xfrm>
            <a:off x="7498079" y="5641848"/>
            <a:ext cx="4114800" cy="612648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Icon"/>
          <p:cNvSpPr/>
          <p:nvPr/>
        </p:nvSpPr>
        <p:spPr>
          <a:xfrm>
            <a:off x="7644383" y="5765292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38" name="RowText"/>
          <p:cNvSpPr txBox="1"/>
          <p:nvPr/>
        </p:nvSpPr>
        <p:spPr>
          <a:xfrm>
            <a:off x="8119871" y="5669280"/>
            <a:ext cx="3383280" cy="5577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Footer</a:t>
            </a:r>
            <a:r>
              <a:rPr sz="11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Deck label left, two-digit slide number right.</a:t>
            </a:r>
          </a:p>
        </p:txBody>
      </p:sp>
      <p:sp>
        <p:nvSpPr>
          <p:cNvPr id="39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40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1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COMPONENTS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Reusable Building Blocks</a:t>
            </a:r>
          </a:p>
        </p:txBody>
      </p:sp>
      <p:sp>
        <p:nvSpPr>
          <p:cNvPr id="4" name="Badge"/>
          <p:cNvSpPr/>
          <p:nvPr/>
        </p:nvSpPr>
        <p:spPr>
          <a:xfrm>
            <a:off x="9509760" y="76809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F7A5C"/>
          </a:solidFill>
          <a:ln>
            <a:noFill/>
          </a:ln>
        </p:spPr>
        <p:txBody>
          <a:bodyPr rtlCol="0" anchor="ctr" wrap="square" lIns="18288" rIns="18288" tIns="18288" bIns="18288"/>
          <a:lstStyle/>
          <a:p>
            <a:pPr algn="ctr"/>
            <a:r>
              <a:rPr sz="1000" b="1" i="0" spc="1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CORAL BADGE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56616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Icon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7" name="CardTitle"/>
          <p:cNvSpPr txBox="1"/>
          <p:nvPr/>
        </p:nvSpPr>
        <p:spPr>
          <a:xfrm>
            <a:off x="1298448" y="1545336"/>
            <a:ext cx="26700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 spc="150">
                <a:solidFill>
                  <a:srgbClr val="2F5296"/>
                </a:solidFill>
                <a:latin typeface="Times New Roman"/>
                <a:ea typeface="Times New Roman"/>
                <a:cs typeface="Times New Roman"/>
              </a:rPr>
              <a:t>OVERLINE LABEL</a:t>
            </a:r>
          </a:p>
          <a:p>
            <a:pPr algn="l"/>
            <a:r>
              <a:rPr sz="13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Card heading</a:t>
            </a:r>
          </a:p>
        </p:txBody>
      </p:sp>
      <p:sp>
        <p:nvSpPr>
          <p:cNvPr id="8" name="CardBody"/>
          <p:cNvSpPr txBox="1"/>
          <p:nvPr/>
        </p:nvSpPr>
        <p:spPr>
          <a:xfrm>
            <a:off x="731520" y="2167128"/>
            <a:ext cx="3200400" cy="7589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Supporting text sits under the heading in regular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356616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Feature card: white, 1 pt navy border, rounded corners, icon circle</a:t>
            </a:r>
          </a:p>
        </p:txBody>
      </p:sp>
      <p:sp>
        <p:nvSpPr>
          <p:cNvPr id="10" name="Row"/>
          <p:cNvSpPr/>
          <p:nvPr/>
        </p:nvSpPr>
        <p:spPr>
          <a:xfrm>
            <a:off x="4297680" y="1417320"/>
            <a:ext cx="731520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"/>
          <p:cNvSpPr/>
          <p:nvPr/>
        </p:nvSpPr>
        <p:spPr>
          <a:xfrm>
            <a:off x="4443984" y="1600200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2" name="RowText"/>
          <p:cNvSpPr txBox="1"/>
          <p:nvPr/>
        </p:nvSpPr>
        <p:spPr>
          <a:xfrm>
            <a:off x="4919472" y="1444752"/>
            <a:ext cx="6583680" cy="676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Row term</a:t>
            </a:r>
            <a:r>
              <a:rPr sz="1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Description text follows the bold term on the same line.</a:t>
            </a:r>
          </a:p>
        </p:txBody>
      </p:sp>
      <p:sp>
        <p:nvSpPr>
          <p:cNvPr id="13" name="Row"/>
          <p:cNvSpPr/>
          <p:nvPr/>
        </p:nvSpPr>
        <p:spPr>
          <a:xfrm>
            <a:off x="4297680" y="2240280"/>
            <a:ext cx="7315200" cy="73152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"/>
          <p:cNvSpPr/>
          <p:nvPr/>
        </p:nvSpPr>
        <p:spPr>
          <a:xfrm>
            <a:off x="4443984" y="2423160"/>
            <a:ext cx="365760" cy="365760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5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5" name="RowText"/>
          <p:cNvSpPr txBox="1"/>
          <p:nvPr/>
        </p:nvSpPr>
        <p:spPr>
          <a:xfrm>
            <a:off x="4919472" y="2267712"/>
            <a:ext cx="6583680" cy="676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Row term</a:t>
            </a:r>
            <a:r>
              <a:rPr sz="12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Rows stack with an even gap to form a 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54096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List row: full-width white strip with a numbered icon circle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520440"/>
          <a:ext cx="5394960" cy="1417320"/>
        </p:xfrm>
        <a:graphic>
          <a:graphicData uri="http://schemas.openxmlformats.org/drawingml/2006/table">
            <a:tbl>
              <a:tblPr firstRow="0" bandRow="0"/>
              <a:tblGrid>
                <a:gridCol w="640080"/>
                <a:gridCol w="2377440"/>
                <a:gridCol w="2377440"/>
              </a:tblGrid>
              <a:tr h="411480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No.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Column heading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Column heading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</a:tr>
              <a:tr h="502920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Cell text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Cell text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502920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Cell text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0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Cell text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029200"/>
            <a:ext cx="53949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Table: cyan header with blue bold type, navy body with white type, thin navy rules</a:t>
            </a:r>
          </a:p>
        </p:txBody>
      </p:sp>
      <p:sp>
        <p:nvSpPr>
          <p:cNvPr id="19" name="Card"/>
          <p:cNvSpPr/>
          <p:nvPr/>
        </p:nvSpPr>
        <p:spPr>
          <a:xfrm>
            <a:off x="6309360" y="352044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</a:t>
            </a:r>
          </a:p>
        </p:txBody>
      </p:sp>
      <p:sp>
        <p:nvSpPr>
          <p:cNvPr id="20" name="Arrow"/>
          <p:cNvSpPr/>
          <p:nvPr/>
        </p:nvSpPr>
        <p:spPr>
          <a:xfrm>
            <a:off x="7900416" y="3822191"/>
            <a:ext cx="20116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ard"/>
          <p:cNvSpPr/>
          <p:nvPr/>
        </p:nvSpPr>
        <p:spPr>
          <a:xfrm>
            <a:off x="8138160" y="352044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Step</a:t>
            </a:r>
          </a:p>
        </p:txBody>
      </p:sp>
      <p:sp>
        <p:nvSpPr>
          <p:cNvPr id="22" name="Arrow"/>
          <p:cNvSpPr/>
          <p:nvPr/>
        </p:nvSpPr>
        <p:spPr>
          <a:xfrm>
            <a:off x="9729216" y="3822191"/>
            <a:ext cx="201168" cy="219456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ard"/>
          <p:cNvSpPr/>
          <p:nvPr/>
        </p:nvSpPr>
        <p:spPr>
          <a:xfrm>
            <a:off x="9966960" y="3520440"/>
            <a:ext cx="1554480" cy="822960"/>
          </a:xfrm>
          <a:prstGeom prst="roundRect">
            <a:avLst>
              <a:gd name="adj" fmla="val 10000"/>
            </a:avLst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89120"/>
            <a:ext cx="53035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Flow: white step cards, white arrows, navy card for the end state</a:t>
            </a:r>
          </a:p>
        </p:txBody>
      </p:sp>
      <p:sp>
        <p:nvSpPr>
          <p:cNvPr id="25" name="Card"/>
          <p:cNvSpPr/>
          <p:nvPr/>
        </p:nvSpPr>
        <p:spPr>
          <a:xfrm>
            <a:off x="6309360" y="4983480"/>
            <a:ext cx="530352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Icon"/>
          <p:cNvSpPr/>
          <p:nvPr/>
        </p:nvSpPr>
        <p:spPr>
          <a:xfrm>
            <a:off x="6437376" y="5065776"/>
            <a:ext cx="347472" cy="347472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4576" y="5010912"/>
            <a:ext cx="40233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0563C1"/>
                </a:solidFill>
                <a:latin typeface="Times New Roman"/>
                <a:ea typeface="Times New Roman"/>
                <a:cs typeface="Times New Roman"/>
              </a:rPr>
              <a:t>Agenda entry</a:t>
            </a:r>
          </a:p>
        </p:txBody>
      </p:sp>
      <p:sp>
        <p:nvSpPr>
          <p:cNvPr id="28" name="Arrow"/>
          <p:cNvSpPr/>
          <p:nvPr/>
        </p:nvSpPr>
        <p:spPr>
          <a:xfrm>
            <a:off x="11247120" y="5148072"/>
            <a:ext cx="237744" cy="18288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532120"/>
            <a:ext cx="53035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05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Agenda row: linked title in link blue with an arrow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31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32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LAYOUT PATTERNS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Eight Slide Structures in the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59798" y="1463040"/>
            <a:ext cx="611234" cy="611234"/>
          </a:xfrm>
          <a:prstGeom prst="ellipse">
            <a:avLst/>
          </a:prstGeom>
          <a:solidFill>
            <a:srgbClr val="3A5F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6095" y="1601060"/>
            <a:ext cx="591517" cy="39434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6095" y="1936253"/>
            <a:ext cx="1183034" cy="1774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6095" y="2172860"/>
            <a:ext cx="1577379" cy="49293"/>
          </a:xfrm>
          <a:prstGeom prst="rect">
            <a:avLst/>
          </a:prstGeom>
          <a:solidFill>
            <a:srgbClr val="D7E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095" y="2370033"/>
            <a:ext cx="1084448" cy="3746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Cover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Title, italic subtitle, details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0420" y="146304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8723" y="154190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8723" y="161091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8723" y="1778515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1192" y="1778515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8723" y="1975688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1192" y="1975688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8723" y="2172860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1192" y="2172860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8723" y="2370033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1192" y="2370033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8723" y="2567205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1192" y="2567205"/>
            <a:ext cx="1163317" cy="1478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0420" y="297180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Agenda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Two columns of linked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46304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0503" y="154190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0503" y="161091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0503" y="1778515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8910" y="1778515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7317" y="1778515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90503" y="2291164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8910" y="2291164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7317" y="2291164"/>
            <a:ext cx="768972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97180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× 2 card grid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Six equal feature cards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3980" y="146304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2283" y="154190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2283" y="161091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02283" y="1778515"/>
            <a:ext cx="1173175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14893" y="1778515"/>
            <a:ext cx="1173175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02283" y="2291164"/>
            <a:ext cx="1173175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314893" y="2291164"/>
            <a:ext cx="1173175" cy="4633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83980" y="297180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× 2 card grid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Four larger module cards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93192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6943" y="401078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6943" y="407979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6943" y="4247395"/>
            <a:ext cx="2385786" cy="167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943" y="4454426"/>
            <a:ext cx="2385786" cy="167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943" y="4661457"/>
            <a:ext cx="2385786" cy="167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943" y="4868489"/>
            <a:ext cx="2385786" cy="167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943" y="5075520"/>
            <a:ext cx="2385786" cy="1675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44068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Full-width rows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Term plus description list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60420" y="393192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8723" y="401078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8723" y="407979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78723" y="4247395"/>
            <a:ext cx="828124" cy="10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46282" y="4247395"/>
            <a:ext cx="1518227" cy="226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46282" y="4509635"/>
            <a:ext cx="1518227" cy="226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46282" y="4771874"/>
            <a:ext cx="1518227" cy="226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46282" y="5034113"/>
            <a:ext cx="1518227" cy="226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60420" y="544068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Two columns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Summary card beside rows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93192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90503" y="401078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90503" y="407979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90503" y="4247395"/>
            <a:ext cx="2385786" cy="118303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90503" y="4381473"/>
            <a:ext cx="2385786" cy="210974"/>
          </a:xfrm>
          <a:prstGeom prst="rect">
            <a:avLst/>
          </a:prstGeom>
          <a:solidFill>
            <a:srgbClr val="2F5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90503" y="4608221"/>
            <a:ext cx="2385786" cy="210974"/>
          </a:xfrm>
          <a:prstGeom prst="rect">
            <a:avLst/>
          </a:prstGeom>
          <a:solidFill>
            <a:srgbClr val="2F5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90503" y="4834969"/>
            <a:ext cx="2385786" cy="210974"/>
          </a:xfrm>
          <a:prstGeom prst="rect">
            <a:avLst/>
          </a:prstGeom>
          <a:solidFill>
            <a:srgbClr val="2F5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90503" y="5061718"/>
            <a:ext cx="2385786" cy="210974"/>
          </a:xfrm>
          <a:prstGeom prst="rect">
            <a:avLst/>
          </a:prstGeom>
          <a:solidFill>
            <a:srgbClr val="2F52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2200" y="544068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Cyan header, navy body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83980" y="3931920"/>
            <a:ext cx="2628900" cy="1481328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02283" y="4010788"/>
            <a:ext cx="512648" cy="35491"/>
          </a:xfrm>
          <a:prstGeom prst="rect">
            <a:avLst/>
          </a:prstGeom>
          <a:solidFill>
            <a:srgbClr val="00E5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2283" y="4079799"/>
            <a:ext cx="1084448" cy="828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02283" y="4247395"/>
            <a:ext cx="2385786" cy="10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61435" y="4306547"/>
            <a:ext cx="2267482" cy="906993"/>
          </a:xfrm>
          <a:prstGeom prst="rect">
            <a:avLst/>
          </a:prstGeom>
          <a:solidFill>
            <a:srgbClr val="D7E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3980" y="5440680"/>
            <a:ext cx="26289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Image panel</a:t>
            </a:r>
          </a:p>
          <a:p>
            <a:pPr algn="l"/>
            <a:r>
              <a:rPr sz="1100" b="0" i="0">
                <a:solidFill>
                  <a:srgbClr val="D7E1F5"/>
                </a:solidFill>
                <a:latin typeface="Times New Roman"/>
                <a:ea typeface="Times New Roman"/>
                <a:cs typeface="Times New Roman"/>
              </a:rPr>
              <a:t>Diagram or figure on white</a:t>
            </a:r>
          </a:p>
        </p:txBody>
      </p:sp>
      <p:sp>
        <p:nvSpPr>
          <p:cNvPr id="76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77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78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9184"/>
            <a:ext cx="100584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 spc="200">
                <a:solidFill>
                  <a:srgbClr val="00E5D4"/>
                </a:solidFill>
                <a:latin typeface="Times New Roman"/>
                <a:ea typeface="Times New Roman"/>
                <a:cs typeface="Times New Roman"/>
              </a:rPr>
              <a:t>APPLICATION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21792"/>
            <a:ext cx="104241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How the Style Maps onto the Original Deck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837176"/>
        </p:xfrm>
        <a:graphic>
          <a:graphicData uri="http://schemas.openxmlformats.org/drawingml/2006/table">
            <a:tbl>
              <a:tblPr firstRow="0" bandRow="0"/>
              <a:tblGrid>
                <a:gridCol w="3383280"/>
                <a:gridCol w="5852160"/>
                <a:gridCol w="1828800"/>
              </a:tblGrid>
              <a:tr h="411480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slide(s)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pattern applied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300" b="1" i="0">
                          <a:solidFill>
                            <a:srgbClr val="4472C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Final slide(s)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00E5D4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 Title slide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 with backdrop circles and details card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(sections of the deck)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Agenda with linked rows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02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 Abstract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Text card with keyword chips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 Objectives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× 3 numbered card grid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04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  Scope of the project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Full-width rows; rows beside a summary card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05 – 06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  Existing system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Paired cards, flow strip, badge banner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07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 – 7  Proposed system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flow; two columns of rows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08 – 09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 – 9  Literature survey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Table, cyan header and navy body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– 11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 Modules and methodologies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× 3 card grid; snake flow with feedback banner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– 13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  Architecture diagram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Native stage diagram on the standard title frame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  <a:tr h="402336"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10, 12 – 15  Modules 1 – 6 in detail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Rows + stage flow, then figure panel + output rows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  <a:tc>
                  <a:txBody>
                    <a:bodyPr wrap="square" anchor="ctr" lIns="64008" rIns="64008"/>
                    <a:lstStyle/>
                    <a:p>
                      <a:pPr algn="l"/>
                      <a:r>
                        <a:rPr sz="1250" b="0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 – 24</a:t>
                      </a:r>
                    </a:p>
                  </a:txBody>
                  <a:tcPr>
                    <a:lnL w="6480">
                      <a:solidFill>
                        <a:srgbClr val="2C4C8C"/>
                      </a:solidFill>
                      <a:prstDash val="solid"/>
                    </a:lnL>
                    <a:lnR w="6480">
                      <a:solidFill>
                        <a:srgbClr val="2C4C8C"/>
                      </a:solidFill>
                      <a:prstDash val="solid"/>
                    </a:lnR>
                    <a:lnT w="6480">
                      <a:solidFill>
                        <a:srgbClr val="2C4C8C"/>
                      </a:solidFill>
                      <a:prstDash val="solid"/>
                    </a:lnT>
                    <a:lnB w="6480">
                      <a:solidFill>
                        <a:srgbClr val="2C4C8C"/>
                      </a:solidFill>
                      <a:prstDash val="solid"/>
                    </a:lnB>
                    <a:solidFill>
                      <a:srgbClr val="2F5296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STYLE ANALYSIS  |  REFERENCE DESIGN SYSTEM</a:t>
            </a:r>
          </a:p>
        </p:txBody>
      </p:sp>
      <p:sp>
        <p:nvSpPr>
          <p:cNvPr id="6" name="Slide Number"/>
          <p:cNvSpPr txBox="1"/>
          <p:nvPr/>
        </p:nvSpPr>
        <p:spPr>
          <a:xfrm>
            <a:off x="11155680" y="6547104"/>
            <a:ext cx="64008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900" b="0" i="0">
                <a:solidFill>
                  <a:srgbClr val="A9C0E8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7" name="Home"/>
          <p:cNvSpPr/>
          <p:nvPr/>
        </p:nvSpPr>
        <p:spPr>
          <a:xfrm>
            <a:off x="11247120" y="274320"/>
            <a:ext cx="384048" cy="384048"/>
          </a:xfrm>
          <a:prstGeom prst="ellipse">
            <a:avLst/>
          </a:prstGeom>
          <a:solidFill>
            <a:srgbClr val="2F5296"/>
          </a:solidFill>
          <a:ln w="12700">
            <a:solidFill>
              <a:srgbClr val="2C4C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me glyph"/>
          <p:cNvSpPr/>
          <p:nvPr/>
        </p:nvSpPr>
        <p:spPr>
          <a:xfrm>
            <a:off x="11352276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me glyph"/>
          <p:cNvSpPr/>
          <p:nvPr/>
        </p:nvSpPr>
        <p:spPr>
          <a:xfrm>
            <a:off x="11352276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me glyph"/>
          <p:cNvSpPr/>
          <p:nvPr/>
        </p:nvSpPr>
        <p:spPr>
          <a:xfrm>
            <a:off x="11452860" y="379476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me glyph"/>
          <p:cNvSpPr/>
          <p:nvPr/>
        </p:nvSpPr>
        <p:spPr>
          <a:xfrm>
            <a:off x="11452860" y="480060"/>
            <a:ext cx="73152" cy="73152"/>
          </a:xfrm>
          <a:prstGeom prst="rect">
            <a:avLst/>
          </a:prstGeom>
          <a:noFill/>
          <a:ln w="12700">
            <a:solidFill>
              <a:srgbClr val="00E5D4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