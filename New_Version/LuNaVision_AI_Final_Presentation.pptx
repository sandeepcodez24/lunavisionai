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95"/>
    <p:sldId id="281" r:id="rId96"/>
    <p:sldId id="282" r:id="rId9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napToObjects="1">
      <p:cViewPr>
        <p:scale>
          <a:sx n="100" d="100"/>
          <a:sy n="100" d="100"/>
        </p:scale>
        <p:origin x="-48"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95" Type="http://schemas.openxmlformats.org/officeDocument/2006/relationships/slide" Target="slides/slide25.xml"/><Relationship Id="rId96" Type="http://schemas.openxmlformats.org/officeDocument/2006/relationships/slide" Target="slides/slide26.xml"/><Relationship Id="rId97"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13" Type="http://schemas.openxmlformats.org/officeDocument/2006/relationships/slide" Target="slide21.xml"/><Relationship Id="rId3" Type="http://schemas.openxmlformats.org/officeDocument/2006/relationships/slide" Target="slide4.xml"/><Relationship Id="rId7" Type="http://schemas.openxmlformats.org/officeDocument/2006/relationships/slide" Target="slide10.xml"/><Relationship Id="rId12" Type="http://schemas.openxmlformats.org/officeDocument/2006/relationships/slide" Target="slide19.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8.xml"/><Relationship Id="rId11" Type="http://schemas.openxmlformats.org/officeDocument/2006/relationships/slide" Target="slide17.xml"/><Relationship Id="rId5" Type="http://schemas.openxmlformats.org/officeDocument/2006/relationships/slide" Target="slide7.xml"/><Relationship Id="rId10" Type="http://schemas.openxmlformats.org/officeDocument/2006/relationships/slide" Target="slide15.xml"/><Relationship Id="rId4" Type="http://schemas.openxmlformats.org/officeDocument/2006/relationships/slide" Target="slide5.xml"/><Relationship Id="rId9" Type="http://schemas.openxmlformats.org/officeDocument/2006/relationships/slide" Target="slide14.xml"/><Relationship Id="rId14" Type="http://schemas.openxmlformats.org/officeDocument/2006/relationships/slide" Target="slide23.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Backdrop"/>
          <p:cNvSpPr/>
          <p:nvPr/>
        </p:nvSpPr>
        <p:spPr>
          <a:xfrm>
            <a:off x="8778240" y="-2194560"/>
            <a:ext cx="5943600" cy="5943600"/>
          </a:xfrm>
          <a:prstGeom prst="ellipse">
            <a:avLst/>
          </a:prstGeom>
          <a:solidFill>
            <a:srgbClr val="3A5FA6">
              <a:alpha val="60000"/>
            </a:srgbClr>
          </a:solidFill>
          <a:ln>
            <a:noFill/>
          </a:ln>
        </p:spPr>
        <p:txBody>
          <a:bodyPr rtlCol="0" anchor="ctr"/>
          <a:lstStyle/>
          <a:p>
            <a:pPr algn="ctr"/>
            <a:endParaRPr/>
          </a:p>
        </p:txBody>
      </p:sp>
      <p:sp>
        <p:nvSpPr>
          <p:cNvPr id="3" name="Backdrop"/>
          <p:cNvSpPr/>
          <p:nvPr/>
        </p:nvSpPr>
        <p:spPr>
          <a:xfrm>
            <a:off x="-2377440" y="4754880"/>
            <a:ext cx="4754880" cy="4754880"/>
          </a:xfrm>
          <a:prstGeom prst="ellipse">
            <a:avLst/>
          </a:prstGeom>
          <a:solidFill>
            <a:srgbClr val="3A5FA6">
              <a:alpha val="60000"/>
            </a:srgbClr>
          </a:solidFill>
          <a:ln>
            <a:noFill/>
          </a:ln>
        </p:spPr>
        <p:txBody>
          <a:bodyPr rtlCol="0" anchor="ctr"/>
          <a:lstStyle/>
          <a:p>
            <a:pPr algn="ctr"/>
            <a:endParaRPr/>
          </a:p>
        </p:txBody>
      </p:sp>
      <p:sp>
        <p:nvSpPr>
          <p:cNvPr id="4" name="TextBox 3"/>
          <p:cNvSpPr txBox="1"/>
          <p:nvPr/>
        </p:nvSpPr>
        <p:spPr>
          <a:xfrm>
            <a:off x="822960" y="640080"/>
            <a:ext cx="9144000" cy="365760"/>
          </a:xfrm>
          <a:prstGeom prst="rect">
            <a:avLst/>
          </a:prstGeom>
          <a:noFill/>
        </p:spPr>
        <p:txBody>
          <a:bodyPr wrap="square" lIns="45720" rIns="45720" anchor="ctr">
            <a:spAutoFit/>
          </a:bodyPr>
          <a:lstStyle/>
          <a:p>
            <a:pPr algn="l"/>
            <a:r>
              <a:rPr sz="1350" b="1" i="0" spc="250">
                <a:solidFill>
                  <a:srgbClr val="00E5D4"/>
                </a:solidFill>
                <a:latin typeface="Times New Roman"/>
                <a:ea typeface="Times New Roman"/>
                <a:cs typeface="Times New Roman"/>
              </a:rPr>
              <a:t>PROJECT PHASE 1 / AI&amp;DS</a:t>
            </a:r>
          </a:p>
        </p:txBody>
      </p:sp>
      <p:sp>
        <p:nvSpPr>
          <p:cNvPr id="5" name="Emblem"/>
          <p:cNvSpPr/>
          <p:nvPr/>
        </p:nvSpPr>
        <p:spPr>
          <a:xfrm>
            <a:off x="822960" y="1234440"/>
            <a:ext cx="777240" cy="777240"/>
          </a:xfrm>
          <a:prstGeom prst="ellipse">
            <a:avLst/>
          </a:prstGeom>
          <a:solidFill>
            <a:srgbClr val="3A5FA6"/>
          </a:solidFill>
          <a:ln w="12700">
            <a:solidFill>
              <a:srgbClr val="2C4C8C"/>
            </a:solidFill>
          </a:ln>
        </p:spPr>
        <p:txBody>
          <a:bodyPr rtlCol="0" anchor="ctr"/>
          <a:lstStyle/>
          <a:p>
            <a:pPr algn="ctr"/>
            <a:endParaRPr/>
          </a:p>
        </p:txBody>
      </p:sp>
      <p:sp>
        <p:nvSpPr>
          <p:cNvPr id="6" name="Emblem star"/>
          <p:cNvSpPr/>
          <p:nvPr/>
        </p:nvSpPr>
        <p:spPr>
          <a:xfrm>
            <a:off x="1005840" y="1417320"/>
            <a:ext cx="411480" cy="411480"/>
          </a:xfrm>
          <a:prstGeom prst="ellipse">
            <a:avLst/>
          </a:prstGeom>
          <a:noFill/>
          <a:ln w="28575">
            <a:solidFill>
              <a:srgbClr val="00E5D4"/>
            </a:solidFill>
          </a:ln>
        </p:spPr>
        <p:txBody>
          <a:bodyPr rtlCol="0" anchor="ctr"/>
          <a:lstStyle/>
          <a:p>
            <a:pPr algn="ctr"/>
            <a:endParaRPr/>
          </a:p>
        </p:txBody>
      </p:sp>
      <p:sp>
        <p:nvSpPr>
          <p:cNvPr id="7" name="Emblem planet"/>
          <p:cNvSpPr/>
          <p:nvPr/>
        </p:nvSpPr>
        <p:spPr>
          <a:xfrm>
            <a:off x="1252728" y="1572768"/>
            <a:ext cx="118872" cy="118872"/>
          </a:xfrm>
          <a:prstGeom prst="ellipse">
            <a:avLst/>
          </a:prstGeom>
          <a:solidFill>
            <a:srgbClr val="00E5D4"/>
          </a:solidFill>
          <a:ln>
            <a:noFill/>
          </a:ln>
        </p:spPr>
        <p:txBody>
          <a:bodyPr rtlCol="0" anchor="ctr"/>
          <a:lstStyle/>
          <a:p>
            <a:pPr algn="ctr"/>
            <a:endParaRPr/>
          </a:p>
        </p:txBody>
      </p:sp>
      <p:sp>
        <p:nvSpPr>
          <p:cNvPr id="8" name="Title"/>
          <p:cNvSpPr txBox="1"/>
          <p:nvPr/>
        </p:nvSpPr>
        <p:spPr>
          <a:xfrm>
            <a:off x="777240" y="2103120"/>
            <a:ext cx="10058400" cy="1005840"/>
          </a:xfrm>
          <a:prstGeom prst="rect">
            <a:avLst/>
          </a:prstGeom>
          <a:noFill/>
        </p:spPr>
        <p:txBody>
          <a:bodyPr wrap="square" lIns="45720" rIns="45720" anchor="ctr">
            <a:spAutoFit/>
          </a:bodyPr>
          <a:lstStyle/>
          <a:p>
            <a:pPr algn="l"/>
            <a:r>
              <a:rPr sz="5800" b="1" i="0" dirty="0" err="1">
                <a:solidFill>
                  <a:srgbClr val="FFFFFF"/>
                </a:solidFill>
                <a:latin typeface="Times New Roman"/>
                <a:ea typeface="Times New Roman"/>
                <a:cs typeface="Times New Roman"/>
              </a:rPr>
              <a:t>LuNaVision</a:t>
            </a:r>
            <a:r>
              <a:rPr sz="5800" b="1" i="0" dirty="0">
                <a:solidFill>
                  <a:srgbClr val="FFFFFF"/>
                </a:solidFill>
                <a:latin typeface="Times New Roman"/>
                <a:ea typeface="Times New Roman"/>
                <a:cs typeface="Times New Roman"/>
              </a:rPr>
              <a:t> AI</a:t>
            </a:r>
          </a:p>
        </p:txBody>
      </p:sp>
      <p:sp>
        <p:nvSpPr>
          <p:cNvPr id="9" name="Subtitle"/>
          <p:cNvSpPr txBox="1"/>
          <p:nvPr/>
        </p:nvSpPr>
        <p:spPr>
          <a:xfrm>
            <a:off x="822960" y="3108960"/>
            <a:ext cx="10424160" cy="731520"/>
          </a:xfrm>
          <a:prstGeom prst="rect">
            <a:avLst/>
          </a:prstGeom>
          <a:noFill/>
        </p:spPr>
        <p:txBody>
          <a:bodyPr wrap="square" lIns="45720" rIns="45720" anchor="ctr">
            <a:spAutoFit/>
          </a:bodyPr>
          <a:lstStyle/>
          <a:p>
            <a:pPr algn="l"/>
            <a:r>
              <a:rPr sz="1800" b="0" i="1" dirty="0">
                <a:solidFill>
                  <a:srgbClr val="D7E1F5"/>
                </a:solidFill>
                <a:latin typeface="Times New Roman"/>
                <a:ea typeface="Times New Roman"/>
                <a:cs typeface="Times New Roman"/>
              </a:rPr>
              <a:t>An Intelligent Multi-Agent Pipeline for Automated Exoplanet Discovery from TESS Observations</a:t>
            </a:r>
          </a:p>
        </p:txBody>
      </p:sp>
      <p:sp>
        <p:nvSpPr>
          <p:cNvPr id="10" name="Card"/>
          <p:cNvSpPr/>
          <p:nvPr/>
        </p:nvSpPr>
        <p:spPr>
          <a:xfrm>
            <a:off x="822960" y="4160520"/>
            <a:ext cx="5760720" cy="1783080"/>
          </a:xfrm>
          <a:prstGeom prst="roundRect">
            <a:avLst>
              <a:gd name="adj" fmla="val 4615"/>
            </a:avLst>
          </a:prstGeom>
          <a:solidFill>
            <a:srgbClr val="FFFFFF"/>
          </a:solidFill>
          <a:ln w="12700">
            <a:solidFill>
              <a:srgbClr val="2C4C8C"/>
            </a:solidFill>
          </a:ln>
        </p:spPr>
        <p:txBody>
          <a:bodyPr rtlCol="0" anchor="ctr"/>
          <a:lstStyle/>
          <a:p>
            <a:pPr algn="ctr"/>
            <a:endParaRPr/>
          </a:p>
        </p:txBody>
      </p:sp>
      <p:sp>
        <p:nvSpPr>
          <p:cNvPr id="11" name="TextBox 10"/>
          <p:cNvSpPr txBox="1"/>
          <p:nvPr/>
        </p:nvSpPr>
        <p:spPr>
          <a:xfrm>
            <a:off x="1051560" y="4297680"/>
            <a:ext cx="5303520" cy="274320"/>
          </a:xfrm>
          <a:prstGeom prst="rect">
            <a:avLst/>
          </a:prstGeom>
          <a:noFill/>
        </p:spPr>
        <p:txBody>
          <a:bodyPr wrap="square" lIns="45720" rIns="45720" anchor="ctr">
            <a:spAutoFit/>
          </a:bodyPr>
          <a:lstStyle/>
          <a:p>
            <a:pPr algn="l"/>
            <a:r>
              <a:rPr sz="1050" b="1" i="0" spc="150">
                <a:solidFill>
                  <a:srgbClr val="2F5296"/>
                </a:solidFill>
                <a:latin typeface="Times New Roman"/>
                <a:ea typeface="Times New Roman"/>
                <a:cs typeface="Times New Roman"/>
              </a:rPr>
              <a:t>PROJECT GUIDE</a:t>
            </a:r>
          </a:p>
        </p:txBody>
      </p:sp>
      <p:sp>
        <p:nvSpPr>
          <p:cNvPr id="12" name="TextBox 11"/>
          <p:cNvSpPr txBox="1"/>
          <p:nvPr/>
        </p:nvSpPr>
        <p:spPr>
          <a:xfrm>
            <a:off x="1051560" y="4598594"/>
            <a:ext cx="5303520" cy="330860"/>
          </a:xfrm>
          <a:prstGeom prst="rect">
            <a:avLst/>
          </a:prstGeom>
          <a:noFill/>
        </p:spPr>
        <p:txBody>
          <a:bodyPr wrap="square" lIns="45720" rIns="45720" anchor="ctr">
            <a:spAutoFit/>
          </a:bodyPr>
          <a:lstStyle/>
          <a:p>
            <a:r>
              <a:rPr sz="1550" b="1" i="0" dirty="0">
                <a:solidFill>
                  <a:srgbClr val="000000"/>
                </a:solidFill>
                <a:latin typeface="Times New Roman"/>
                <a:ea typeface="Times New Roman"/>
                <a:cs typeface="Times New Roman"/>
              </a:rPr>
              <a:t>•   Dr. S. Sasikala</a:t>
            </a:r>
            <a:r>
              <a:rPr lang="en-US" sz="1550" b="1" dirty="0">
                <a:solidFill>
                  <a:srgbClr val="000000"/>
                </a:solidFill>
                <a:latin typeface="Times New Roman"/>
                <a:ea typeface="Times New Roman"/>
                <a:cs typeface="Times New Roman"/>
              </a:rPr>
              <a:t>	</a:t>
            </a:r>
            <a:r>
              <a:rPr lang="en-IN" sz="1550" b="1" dirty="0">
                <a:solidFill>
                  <a:srgbClr val="000000"/>
                </a:solidFill>
                <a:ea typeface="Times New Roman"/>
                <a:cs typeface="Times New Roman"/>
              </a:rPr>
              <a:t> •   Mrs. M. </a:t>
            </a:r>
            <a:r>
              <a:rPr lang="en-IN" sz="1550" b="1" dirty="0" err="1">
                <a:solidFill>
                  <a:srgbClr val="000000"/>
                </a:solidFill>
                <a:ea typeface="Times New Roman"/>
                <a:cs typeface="Times New Roman"/>
              </a:rPr>
              <a:t>Bhavadharini</a:t>
            </a:r>
            <a:r>
              <a:rPr lang="en-IN" sz="1550" b="1" dirty="0">
                <a:solidFill>
                  <a:srgbClr val="000000"/>
                </a:solidFill>
                <a:ea typeface="Times New Roman"/>
                <a:cs typeface="Times New Roman"/>
              </a:rPr>
              <a:t> </a:t>
            </a:r>
            <a:endParaRPr sz="1550" b="1" i="0" dirty="0">
              <a:solidFill>
                <a:srgbClr val="000000"/>
              </a:solidFill>
              <a:latin typeface="Times New Roman"/>
              <a:ea typeface="Times New Roman"/>
              <a:cs typeface="Times New Roman"/>
            </a:endParaRPr>
          </a:p>
        </p:txBody>
      </p:sp>
      <p:sp>
        <p:nvSpPr>
          <p:cNvPr id="13" name="Divider"/>
          <p:cNvSpPr/>
          <p:nvPr/>
        </p:nvSpPr>
        <p:spPr>
          <a:xfrm>
            <a:off x="1051560" y="5047488"/>
            <a:ext cx="5303520" cy="10972"/>
          </a:xfrm>
          <a:prstGeom prst="rect">
            <a:avLst/>
          </a:prstGeom>
          <a:solidFill>
            <a:srgbClr val="4472C4"/>
          </a:solidFill>
          <a:ln>
            <a:noFill/>
          </a:ln>
        </p:spPr>
        <p:txBody>
          <a:bodyPr rtlCol="0" anchor="ctr"/>
          <a:lstStyle/>
          <a:p>
            <a:pPr algn="ctr"/>
            <a:endParaRPr/>
          </a:p>
        </p:txBody>
      </p:sp>
      <p:sp>
        <p:nvSpPr>
          <p:cNvPr id="14" name="TextBox 13"/>
          <p:cNvSpPr txBox="1"/>
          <p:nvPr/>
        </p:nvSpPr>
        <p:spPr>
          <a:xfrm>
            <a:off x="1051560" y="5138928"/>
            <a:ext cx="5303520" cy="274320"/>
          </a:xfrm>
          <a:prstGeom prst="rect">
            <a:avLst/>
          </a:prstGeom>
          <a:noFill/>
        </p:spPr>
        <p:txBody>
          <a:bodyPr wrap="square" lIns="45720" rIns="45720" anchor="ctr">
            <a:spAutoFit/>
          </a:bodyPr>
          <a:lstStyle/>
          <a:p>
            <a:pPr algn="l"/>
            <a:r>
              <a:rPr sz="1050" b="1" i="0" spc="150">
                <a:solidFill>
                  <a:srgbClr val="2F5296"/>
                </a:solidFill>
                <a:latin typeface="Times New Roman"/>
                <a:ea typeface="Times New Roman"/>
                <a:cs typeface="Times New Roman"/>
              </a:rPr>
              <a:t>TEAM MEMBERS</a:t>
            </a:r>
          </a:p>
        </p:txBody>
      </p:sp>
      <p:sp>
        <p:nvSpPr>
          <p:cNvPr id="15" name="TextBox 14"/>
          <p:cNvSpPr txBox="1"/>
          <p:nvPr/>
        </p:nvSpPr>
        <p:spPr>
          <a:xfrm>
            <a:off x="1051560" y="5451383"/>
            <a:ext cx="5303520" cy="307777"/>
          </a:xfrm>
          <a:prstGeom prst="rect">
            <a:avLst/>
          </a:prstGeom>
          <a:noFill/>
        </p:spPr>
        <p:txBody>
          <a:bodyPr wrap="square" lIns="45720" rIns="45720" anchor="ctr">
            <a:spAutoFit/>
          </a:bodyPr>
          <a:lstStyle/>
          <a:p>
            <a:r>
              <a:rPr lang="en-IN" sz="1400" dirty="0">
                <a:solidFill>
                  <a:srgbClr val="000000"/>
                </a:solidFill>
                <a:ea typeface="Times New Roman"/>
                <a:cs typeface="Times New Roman"/>
              </a:rPr>
              <a:t>•</a:t>
            </a:r>
            <a:r>
              <a:rPr lang="en-IN" sz="1400" b="1" dirty="0">
                <a:solidFill>
                  <a:srgbClr val="000000"/>
                </a:solidFill>
                <a:ea typeface="Times New Roman"/>
                <a:cs typeface="Times New Roman"/>
              </a:rPr>
              <a:t>  </a:t>
            </a:r>
            <a:r>
              <a:rPr sz="1350" b="0" i="0" dirty="0">
                <a:solidFill>
                  <a:srgbClr val="000000"/>
                </a:solidFill>
                <a:latin typeface="Times New Roman"/>
                <a:ea typeface="Times New Roman"/>
                <a:cs typeface="Times New Roman"/>
              </a:rPr>
              <a:t>B R Prasanna   •   M Sandeep   •   S Gokul</a:t>
            </a:r>
          </a:p>
        </p:txBody>
      </p:sp>
      <p:sp>
        <p:nvSpPr>
          <p:cNvPr id="16"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17"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PRESENTATION OUTLINE</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Agenda</a:t>
            </a:r>
          </a:p>
        </p:txBody>
      </p:sp>
      <p:sp>
        <p:nvSpPr>
          <p:cNvPr id="4" name="Agenda row">
            <a:hlinkClick r:id="rId2" action="ppaction://hlinksldjump"/>
          </p:cNvPr>
          <p:cNvSpPr/>
          <p:nvPr/>
        </p:nvSpPr>
        <p:spPr>
          <a:xfrm>
            <a:off x="548640" y="1417320"/>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5" name="Icon">
            <a:hlinkClick r:id="rId2" action="ppaction://hlinksldjump"/>
          </p:cNvPr>
          <p:cNvSpPr/>
          <p:nvPr/>
        </p:nvSpPr>
        <p:spPr>
          <a:xfrm>
            <a:off x="676656" y="1499616"/>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01</a:t>
            </a:r>
          </a:p>
        </p:txBody>
      </p:sp>
      <p:sp>
        <p:nvSpPr>
          <p:cNvPr id="6" name="Agenda link">
            <a:hlinkClick r:id="rId2" action="ppaction://hlinksldjump"/>
          </p:cNvPr>
          <p:cNvSpPr txBox="1"/>
          <p:nvPr/>
        </p:nvSpPr>
        <p:spPr>
          <a:xfrm>
            <a:off x="1133856" y="1444752"/>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Abstract</a:t>
            </a:r>
          </a:p>
        </p:txBody>
      </p:sp>
      <p:sp>
        <p:nvSpPr>
          <p:cNvPr id="7" name="Arrow">
            <a:hlinkClick r:id="rId2" action="ppaction://hlinksldjump"/>
          </p:cNvPr>
          <p:cNvSpPr/>
          <p:nvPr/>
        </p:nvSpPr>
        <p:spPr>
          <a:xfrm>
            <a:off x="5504688" y="1581912"/>
            <a:ext cx="237744" cy="182880"/>
          </a:xfrm>
          <a:prstGeom prst="rightArrow">
            <a:avLst/>
          </a:prstGeom>
          <a:solidFill>
            <a:srgbClr val="4472C4"/>
          </a:solidFill>
          <a:ln>
            <a:noFill/>
          </a:ln>
        </p:spPr>
        <p:txBody>
          <a:bodyPr rtlCol="0" anchor="ctr"/>
          <a:lstStyle/>
          <a:p>
            <a:pPr algn="ctr"/>
            <a:endParaRPr/>
          </a:p>
        </p:txBody>
      </p:sp>
      <p:sp>
        <p:nvSpPr>
          <p:cNvPr id="8" name="Agenda row">
            <a:hlinkClick r:id="rId3" action="ppaction://hlinksldjump"/>
          </p:cNvPr>
          <p:cNvSpPr/>
          <p:nvPr/>
        </p:nvSpPr>
        <p:spPr>
          <a:xfrm>
            <a:off x="548640" y="2020824"/>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9" name="Icon">
            <a:hlinkClick r:id="rId3" action="ppaction://hlinksldjump"/>
          </p:cNvPr>
          <p:cNvSpPr/>
          <p:nvPr/>
        </p:nvSpPr>
        <p:spPr>
          <a:xfrm>
            <a:off x="676656" y="2103120"/>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02</a:t>
            </a:r>
          </a:p>
        </p:txBody>
      </p:sp>
      <p:sp>
        <p:nvSpPr>
          <p:cNvPr id="10" name="Agenda link">
            <a:hlinkClick r:id="rId3" action="ppaction://hlinksldjump"/>
          </p:cNvPr>
          <p:cNvSpPr txBox="1"/>
          <p:nvPr/>
        </p:nvSpPr>
        <p:spPr>
          <a:xfrm>
            <a:off x="1133856" y="2048255"/>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Objectives</a:t>
            </a:r>
          </a:p>
        </p:txBody>
      </p:sp>
      <p:sp>
        <p:nvSpPr>
          <p:cNvPr id="11" name="Arrow">
            <a:hlinkClick r:id="rId3" action="ppaction://hlinksldjump"/>
          </p:cNvPr>
          <p:cNvSpPr/>
          <p:nvPr/>
        </p:nvSpPr>
        <p:spPr>
          <a:xfrm>
            <a:off x="5504688" y="2185416"/>
            <a:ext cx="237744" cy="182880"/>
          </a:xfrm>
          <a:prstGeom prst="rightArrow">
            <a:avLst/>
          </a:prstGeom>
          <a:solidFill>
            <a:srgbClr val="4472C4"/>
          </a:solidFill>
          <a:ln>
            <a:noFill/>
          </a:ln>
        </p:spPr>
        <p:txBody>
          <a:bodyPr rtlCol="0" anchor="ctr"/>
          <a:lstStyle/>
          <a:p>
            <a:pPr algn="ctr"/>
            <a:endParaRPr/>
          </a:p>
        </p:txBody>
      </p:sp>
      <p:sp>
        <p:nvSpPr>
          <p:cNvPr id="12" name="Agenda row">
            <a:hlinkClick r:id="rId4" action="ppaction://hlinksldjump"/>
          </p:cNvPr>
          <p:cNvSpPr/>
          <p:nvPr/>
        </p:nvSpPr>
        <p:spPr>
          <a:xfrm>
            <a:off x="548640" y="2624328"/>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13" name="Icon">
            <a:hlinkClick r:id="rId4" action="ppaction://hlinksldjump"/>
          </p:cNvPr>
          <p:cNvSpPr/>
          <p:nvPr/>
        </p:nvSpPr>
        <p:spPr>
          <a:xfrm>
            <a:off x="676656" y="2706624"/>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03</a:t>
            </a:r>
          </a:p>
        </p:txBody>
      </p:sp>
      <p:sp>
        <p:nvSpPr>
          <p:cNvPr id="14" name="Agenda link">
            <a:hlinkClick r:id="rId4" action="ppaction://hlinksldjump"/>
          </p:cNvPr>
          <p:cNvSpPr txBox="1"/>
          <p:nvPr/>
        </p:nvSpPr>
        <p:spPr>
          <a:xfrm>
            <a:off x="1133856" y="2651760"/>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Scope of the Project</a:t>
            </a:r>
          </a:p>
        </p:txBody>
      </p:sp>
      <p:sp>
        <p:nvSpPr>
          <p:cNvPr id="15" name="Arrow">
            <a:hlinkClick r:id="rId4" action="ppaction://hlinksldjump"/>
          </p:cNvPr>
          <p:cNvSpPr/>
          <p:nvPr/>
        </p:nvSpPr>
        <p:spPr>
          <a:xfrm>
            <a:off x="5504688" y="2788920"/>
            <a:ext cx="237744" cy="182880"/>
          </a:xfrm>
          <a:prstGeom prst="rightArrow">
            <a:avLst/>
          </a:prstGeom>
          <a:solidFill>
            <a:srgbClr val="4472C4"/>
          </a:solidFill>
          <a:ln>
            <a:noFill/>
          </a:ln>
        </p:spPr>
        <p:txBody>
          <a:bodyPr rtlCol="0" anchor="ctr"/>
          <a:lstStyle/>
          <a:p>
            <a:pPr algn="ctr"/>
            <a:endParaRPr/>
          </a:p>
        </p:txBody>
      </p:sp>
      <p:sp>
        <p:nvSpPr>
          <p:cNvPr id="16" name="Agenda row">
            <a:hlinkClick r:id="rId5" action="ppaction://hlinksldjump"/>
          </p:cNvPr>
          <p:cNvSpPr/>
          <p:nvPr/>
        </p:nvSpPr>
        <p:spPr>
          <a:xfrm>
            <a:off x="548640" y="3227832"/>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17" name="Icon">
            <a:hlinkClick r:id="rId5" action="ppaction://hlinksldjump"/>
          </p:cNvPr>
          <p:cNvSpPr/>
          <p:nvPr/>
        </p:nvSpPr>
        <p:spPr>
          <a:xfrm>
            <a:off x="676656" y="3310128"/>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04</a:t>
            </a:r>
          </a:p>
        </p:txBody>
      </p:sp>
      <p:sp>
        <p:nvSpPr>
          <p:cNvPr id="18" name="Agenda link">
            <a:hlinkClick r:id="rId5" action="ppaction://hlinksldjump"/>
          </p:cNvPr>
          <p:cNvSpPr txBox="1"/>
          <p:nvPr/>
        </p:nvSpPr>
        <p:spPr>
          <a:xfrm>
            <a:off x="1133856" y="3255264"/>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Existing System</a:t>
            </a:r>
          </a:p>
        </p:txBody>
      </p:sp>
      <p:sp>
        <p:nvSpPr>
          <p:cNvPr id="19" name="Arrow">
            <a:hlinkClick r:id="rId5" action="ppaction://hlinksldjump"/>
          </p:cNvPr>
          <p:cNvSpPr/>
          <p:nvPr/>
        </p:nvSpPr>
        <p:spPr>
          <a:xfrm>
            <a:off x="5504688" y="3392424"/>
            <a:ext cx="237744" cy="182880"/>
          </a:xfrm>
          <a:prstGeom prst="rightArrow">
            <a:avLst/>
          </a:prstGeom>
          <a:solidFill>
            <a:srgbClr val="4472C4"/>
          </a:solidFill>
          <a:ln>
            <a:noFill/>
          </a:ln>
        </p:spPr>
        <p:txBody>
          <a:bodyPr rtlCol="0" anchor="ctr"/>
          <a:lstStyle/>
          <a:p>
            <a:pPr algn="ctr"/>
            <a:endParaRPr/>
          </a:p>
        </p:txBody>
      </p:sp>
      <p:sp>
        <p:nvSpPr>
          <p:cNvPr id="20" name="Agenda row">
            <a:hlinkClick r:id="rId6" action="ppaction://hlinksldjump"/>
          </p:cNvPr>
          <p:cNvSpPr/>
          <p:nvPr/>
        </p:nvSpPr>
        <p:spPr>
          <a:xfrm>
            <a:off x="548640" y="3831336"/>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21" name="Icon">
            <a:hlinkClick r:id="rId6" action="ppaction://hlinksldjump"/>
          </p:cNvPr>
          <p:cNvSpPr/>
          <p:nvPr/>
        </p:nvSpPr>
        <p:spPr>
          <a:xfrm>
            <a:off x="676656" y="3913632"/>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05</a:t>
            </a:r>
          </a:p>
        </p:txBody>
      </p:sp>
      <p:sp>
        <p:nvSpPr>
          <p:cNvPr id="22" name="Agenda link">
            <a:hlinkClick r:id="rId6" action="ppaction://hlinksldjump"/>
          </p:cNvPr>
          <p:cNvSpPr txBox="1"/>
          <p:nvPr/>
        </p:nvSpPr>
        <p:spPr>
          <a:xfrm>
            <a:off x="1133856" y="3858768"/>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Proposed System</a:t>
            </a:r>
          </a:p>
        </p:txBody>
      </p:sp>
      <p:sp>
        <p:nvSpPr>
          <p:cNvPr id="23" name="Arrow">
            <a:hlinkClick r:id="rId6" action="ppaction://hlinksldjump"/>
          </p:cNvPr>
          <p:cNvSpPr/>
          <p:nvPr/>
        </p:nvSpPr>
        <p:spPr>
          <a:xfrm>
            <a:off x="5504688" y="3995928"/>
            <a:ext cx="237744" cy="182880"/>
          </a:xfrm>
          <a:prstGeom prst="rightArrow">
            <a:avLst/>
          </a:prstGeom>
          <a:solidFill>
            <a:srgbClr val="4472C4"/>
          </a:solidFill>
          <a:ln>
            <a:noFill/>
          </a:ln>
        </p:spPr>
        <p:txBody>
          <a:bodyPr rtlCol="0" anchor="ctr"/>
          <a:lstStyle/>
          <a:p>
            <a:pPr algn="ctr"/>
            <a:endParaRPr/>
          </a:p>
        </p:txBody>
      </p:sp>
      <p:sp>
        <p:nvSpPr>
          <p:cNvPr id="24" name="Agenda row">
            <a:hlinkClick r:id="rId7" action="ppaction://hlinksldjump"/>
          </p:cNvPr>
          <p:cNvSpPr/>
          <p:nvPr/>
        </p:nvSpPr>
        <p:spPr>
          <a:xfrm>
            <a:off x="548640" y="4434840"/>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25" name="Icon">
            <a:hlinkClick r:id="rId7" action="ppaction://hlinksldjump"/>
          </p:cNvPr>
          <p:cNvSpPr/>
          <p:nvPr/>
        </p:nvSpPr>
        <p:spPr>
          <a:xfrm>
            <a:off x="676656" y="4517136"/>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06</a:t>
            </a:r>
          </a:p>
        </p:txBody>
      </p:sp>
      <p:sp>
        <p:nvSpPr>
          <p:cNvPr id="26" name="Agenda link">
            <a:hlinkClick r:id="rId7" action="ppaction://hlinksldjump"/>
          </p:cNvPr>
          <p:cNvSpPr txBox="1"/>
          <p:nvPr/>
        </p:nvSpPr>
        <p:spPr>
          <a:xfrm>
            <a:off x="1133856" y="4462272"/>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Literature Survey</a:t>
            </a:r>
          </a:p>
        </p:txBody>
      </p:sp>
      <p:sp>
        <p:nvSpPr>
          <p:cNvPr id="27" name="Arrow">
            <a:hlinkClick r:id="rId7" action="ppaction://hlinksldjump"/>
          </p:cNvPr>
          <p:cNvSpPr/>
          <p:nvPr/>
        </p:nvSpPr>
        <p:spPr>
          <a:xfrm>
            <a:off x="5504688" y="4599432"/>
            <a:ext cx="237744" cy="182880"/>
          </a:xfrm>
          <a:prstGeom prst="rightArrow">
            <a:avLst/>
          </a:prstGeom>
          <a:solidFill>
            <a:srgbClr val="4472C4"/>
          </a:solidFill>
          <a:ln>
            <a:noFill/>
          </a:ln>
        </p:spPr>
        <p:txBody>
          <a:bodyPr rtlCol="0" anchor="ctr"/>
          <a:lstStyle/>
          <a:p>
            <a:pPr algn="ctr"/>
            <a:endParaRPr/>
          </a:p>
        </p:txBody>
      </p:sp>
      <p:sp>
        <p:nvSpPr>
          <p:cNvPr id="28" name="Agenda row">
            <a:hlinkClick r:id="rId8" action="ppaction://hlinksldjump"/>
          </p:cNvPr>
          <p:cNvSpPr/>
          <p:nvPr/>
        </p:nvSpPr>
        <p:spPr>
          <a:xfrm>
            <a:off x="548640" y="5038344"/>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29" name="Icon">
            <a:hlinkClick r:id="rId8" action="ppaction://hlinksldjump"/>
          </p:cNvPr>
          <p:cNvSpPr/>
          <p:nvPr/>
        </p:nvSpPr>
        <p:spPr>
          <a:xfrm>
            <a:off x="676656" y="5120640"/>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07</a:t>
            </a:r>
          </a:p>
        </p:txBody>
      </p:sp>
      <p:sp>
        <p:nvSpPr>
          <p:cNvPr id="30" name="Agenda link">
            <a:hlinkClick r:id="rId8" action="ppaction://hlinksldjump"/>
          </p:cNvPr>
          <p:cNvSpPr txBox="1"/>
          <p:nvPr/>
        </p:nvSpPr>
        <p:spPr>
          <a:xfrm>
            <a:off x="1133856" y="5065776"/>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Modules and Methodologies</a:t>
            </a:r>
          </a:p>
        </p:txBody>
      </p:sp>
      <p:sp>
        <p:nvSpPr>
          <p:cNvPr id="31" name="Arrow">
            <a:hlinkClick r:id="rId8" action="ppaction://hlinksldjump"/>
          </p:cNvPr>
          <p:cNvSpPr/>
          <p:nvPr/>
        </p:nvSpPr>
        <p:spPr>
          <a:xfrm>
            <a:off x="5504688" y="5202936"/>
            <a:ext cx="237744" cy="182880"/>
          </a:xfrm>
          <a:prstGeom prst="rightArrow">
            <a:avLst/>
          </a:prstGeom>
          <a:solidFill>
            <a:srgbClr val="4472C4"/>
          </a:solidFill>
          <a:ln>
            <a:noFill/>
          </a:ln>
        </p:spPr>
        <p:txBody>
          <a:bodyPr rtlCol="0" anchor="ctr"/>
          <a:lstStyle/>
          <a:p>
            <a:pPr algn="ctr"/>
            <a:endParaRPr/>
          </a:p>
        </p:txBody>
      </p:sp>
      <p:sp>
        <p:nvSpPr>
          <p:cNvPr id="32" name="Agenda row">
            <a:hlinkClick r:id="rId9" action="ppaction://hlinksldjump"/>
          </p:cNvPr>
          <p:cNvSpPr/>
          <p:nvPr/>
        </p:nvSpPr>
        <p:spPr>
          <a:xfrm>
            <a:off x="6217920" y="1417320"/>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33" name="Icon">
            <a:hlinkClick r:id="rId9" action="ppaction://hlinksldjump"/>
          </p:cNvPr>
          <p:cNvSpPr/>
          <p:nvPr/>
        </p:nvSpPr>
        <p:spPr>
          <a:xfrm>
            <a:off x="6345936" y="1499616"/>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08</a:t>
            </a:r>
          </a:p>
        </p:txBody>
      </p:sp>
      <p:sp>
        <p:nvSpPr>
          <p:cNvPr id="34" name="Agenda link">
            <a:hlinkClick r:id="rId9" action="ppaction://hlinksldjump"/>
          </p:cNvPr>
          <p:cNvSpPr txBox="1"/>
          <p:nvPr/>
        </p:nvSpPr>
        <p:spPr>
          <a:xfrm>
            <a:off x="6803136" y="1444752"/>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Architecture Diagram</a:t>
            </a:r>
          </a:p>
        </p:txBody>
      </p:sp>
      <p:sp>
        <p:nvSpPr>
          <p:cNvPr id="35" name="Arrow">
            <a:hlinkClick r:id="rId9" action="ppaction://hlinksldjump"/>
          </p:cNvPr>
          <p:cNvSpPr/>
          <p:nvPr/>
        </p:nvSpPr>
        <p:spPr>
          <a:xfrm>
            <a:off x="11173967" y="1581912"/>
            <a:ext cx="237744" cy="182880"/>
          </a:xfrm>
          <a:prstGeom prst="rightArrow">
            <a:avLst/>
          </a:prstGeom>
          <a:solidFill>
            <a:srgbClr val="4472C4"/>
          </a:solidFill>
          <a:ln>
            <a:noFill/>
          </a:ln>
        </p:spPr>
        <p:txBody>
          <a:bodyPr rtlCol="0" anchor="ctr"/>
          <a:lstStyle/>
          <a:p>
            <a:pPr algn="ctr"/>
            <a:endParaRPr/>
          </a:p>
        </p:txBody>
      </p:sp>
      <p:sp>
        <p:nvSpPr>
          <p:cNvPr id="36" name="Agenda row">
            <a:hlinkClick r:id="rId10" action="ppaction://hlinksldjump"/>
          </p:cNvPr>
          <p:cNvSpPr/>
          <p:nvPr/>
        </p:nvSpPr>
        <p:spPr>
          <a:xfrm>
            <a:off x="6217920" y="2020824"/>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37" name="Icon">
            <a:hlinkClick r:id="rId10" action="ppaction://hlinksldjump"/>
          </p:cNvPr>
          <p:cNvSpPr/>
          <p:nvPr/>
        </p:nvSpPr>
        <p:spPr>
          <a:xfrm>
            <a:off x="6345936" y="2103120"/>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09</a:t>
            </a:r>
          </a:p>
        </p:txBody>
      </p:sp>
      <p:sp>
        <p:nvSpPr>
          <p:cNvPr id="38" name="Agenda link">
            <a:hlinkClick r:id="rId10" action="ppaction://hlinksldjump"/>
          </p:cNvPr>
          <p:cNvSpPr txBox="1"/>
          <p:nvPr/>
        </p:nvSpPr>
        <p:spPr>
          <a:xfrm>
            <a:off x="6803136" y="2048255"/>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Module 1 — Orchestrator Agent</a:t>
            </a:r>
          </a:p>
        </p:txBody>
      </p:sp>
      <p:sp>
        <p:nvSpPr>
          <p:cNvPr id="39" name="Arrow">
            <a:hlinkClick r:id="rId10" action="ppaction://hlinksldjump"/>
          </p:cNvPr>
          <p:cNvSpPr/>
          <p:nvPr/>
        </p:nvSpPr>
        <p:spPr>
          <a:xfrm>
            <a:off x="11173967" y="2185416"/>
            <a:ext cx="237744" cy="182880"/>
          </a:xfrm>
          <a:prstGeom prst="rightArrow">
            <a:avLst/>
          </a:prstGeom>
          <a:solidFill>
            <a:srgbClr val="4472C4"/>
          </a:solidFill>
          <a:ln>
            <a:noFill/>
          </a:ln>
        </p:spPr>
        <p:txBody>
          <a:bodyPr rtlCol="0" anchor="ctr"/>
          <a:lstStyle/>
          <a:p>
            <a:pPr algn="ctr"/>
            <a:endParaRPr/>
          </a:p>
        </p:txBody>
      </p:sp>
      <p:sp>
        <p:nvSpPr>
          <p:cNvPr id="40" name="Agenda row">
            <a:hlinkClick r:id="rId11" action="ppaction://hlinksldjump"/>
          </p:cNvPr>
          <p:cNvSpPr/>
          <p:nvPr/>
        </p:nvSpPr>
        <p:spPr>
          <a:xfrm>
            <a:off x="6217920" y="2624328"/>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41" name="Icon">
            <a:hlinkClick r:id="rId11" action="ppaction://hlinksldjump"/>
          </p:cNvPr>
          <p:cNvSpPr/>
          <p:nvPr/>
        </p:nvSpPr>
        <p:spPr>
          <a:xfrm>
            <a:off x="6345936" y="2706624"/>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10</a:t>
            </a:r>
          </a:p>
        </p:txBody>
      </p:sp>
      <p:sp>
        <p:nvSpPr>
          <p:cNvPr id="42" name="Agenda link">
            <a:hlinkClick r:id="rId11" action="ppaction://hlinksldjump"/>
          </p:cNvPr>
          <p:cNvSpPr txBox="1"/>
          <p:nvPr/>
        </p:nvSpPr>
        <p:spPr>
          <a:xfrm>
            <a:off x="6803136" y="2651760"/>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Module 2 — Data Acquisition Agent</a:t>
            </a:r>
          </a:p>
        </p:txBody>
      </p:sp>
      <p:sp>
        <p:nvSpPr>
          <p:cNvPr id="43" name="Arrow">
            <a:hlinkClick r:id="rId11" action="ppaction://hlinksldjump"/>
          </p:cNvPr>
          <p:cNvSpPr/>
          <p:nvPr/>
        </p:nvSpPr>
        <p:spPr>
          <a:xfrm>
            <a:off x="11173967" y="2788920"/>
            <a:ext cx="237744" cy="182880"/>
          </a:xfrm>
          <a:prstGeom prst="rightArrow">
            <a:avLst/>
          </a:prstGeom>
          <a:solidFill>
            <a:srgbClr val="4472C4"/>
          </a:solidFill>
          <a:ln>
            <a:noFill/>
          </a:ln>
        </p:spPr>
        <p:txBody>
          <a:bodyPr rtlCol="0" anchor="ctr"/>
          <a:lstStyle/>
          <a:p>
            <a:pPr algn="ctr"/>
            <a:endParaRPr/>
          </a:p>
        </p:txBody>
      </p:sp>
      <p:sp>
        <p:nvSpPr>
          <p:cNvPr id="44" name="Agenda row">
            <a:hlinkClick r:id="rId12" action="ppaction://hlinksldjump"/>
          </p:cNvPr>
          <p:cNvSpPr/>
          <p:nvPr/>
        </p:nvSpPr>
        <p:spPr>
          <a:xfrm>
            <a:off x="6217920" y="3227832"/>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45" name="Icon">
            <a:hlinkClick r:id="rId12" action="ppaction://hlinksldjump"/>
          </p:cNvPr>
          <p:cNvSpPr/>
          <p:nvPr/>
        </p:nvSpPr>
        <p:spPr>
          <a:xfrm>
            <a:off x="6345936" y="3310128"/>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11</a:t>
            </a:r>
          </a:p>
        </p:txBody>
      </p:sp>
      <p:sp>
        <p:nvSpPr>
          <p:cNvPr id="46" name="Agenda link">
            <a:hlinkClick r:id="rId12" action="ppaction://hlinksldjump"/>
          </p:cNvPr>
          <p:cNvSpPr txBox="1"/>
          <p:nvPr/>
        </p:nvSpPr>
        <p:spPr>
          <a:xfrm>
            <a:off x="6803136" y="3255264"/>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Modules 3 &amp; 4 — Preprocessing &amp; Transit Detection Agents</a:t>
            </a:r>
          </a:p>
        </p:txBody>
      </p:sp>
      <p:sp>
        <p:nvSpPr>
          <p:cNvPr id="47" name="Arrow">
            <a:hlinkClick r:id="rId12" action="ppaction://hlinksldjump"/>
          </p:cNvPr>
          <p:cNvSpPr/>
          <p:nvPr/>
        </p:nvSpPr>
        <p:spPr>
          <a:xfrm>
            <a:off x="11173967" y="3392424"/>
            <a:ext cx="237744" cy="182880"/>
          </a:xfrm>
          <a:prstGeom prst="rightArrow">
            <a:avLst/>
          </a:prstGeom>
          <a:solidFill>
            <a:srgbClr val="4472C4"/>
          </a:solidFill>
          <a:ln>
            <a:noFill/>
          </a:ln>
        </p:spPr>
        <p:txBody>
          <a:bodyPr rtlCol="0" anchor="ctr"/>
          <a:lstStyle/>
          <a:p>
            <a:pPr algn="ctr"/>
            <a:endParaRPr/>
          </a:p>
        </p:txBody>
      </p:sp>
      <p:sp>
        <p:nvSpPr>
          <p:cNvPr id="48" name="Agenda row">
            <a:hlinkClick r:id="rId13" action="ppaction://hlinksldjump"/>
          </p:cNvPr>
          <p:cNvSpPr/>
          <p:nvPr/>
        </p:nvSpPr>
        <p:spPr>
          <a:xfrm>
            <a:off x="6217920" y="3831336"/>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49" name="Icon">
            <a:hlinkClick r:id="rId13" action="ppaction://hlinksldjump"/>
          </p:cNvPr>
          <p:cNvSpPr/>
          <p:nvPr/>
        </p:nvSpPr>
        <p:spPr>
          <a:xfrm>
            <a:off x="6345936" y="3913632"/>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12</a:t>
            </a:r>
          </a:p>
        </p:txBody>
      </p:sp>
      <p:sp>
        <p:nvSpPr>
          <p:cNvPr id="50" name="Agenda link">
            <a:hlinkClick r:id="rId13" action="ppaction://hlinksldjump"/>
          </p:cNvPr>
          <p:cNvSpPr txBox="1"/>
          <p:nvPr/>
        </p:nvSpPr>
        <p:spPr>
          <a:xfrm>
            <a:off x="6803136" y="3858768"/>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Module 5 — Feature Engineering Agent (GPU)</a:t>
            </a:r>
          </a:p>
        </p:txBody>
      </p:sp>
      <p:sp>
        <p:nvSpPr>
          <p:cNvPr id="51" name="Arrow">
            <a:hlinkClick r:id="rId13" action="ppaction://hlinksldjump"/>
          </p:cNvPr>
          <p:cNvSpPr/>
          <p:nvPr/>
        </p:nvSpPr>
        <p:spPr>
          <a:xfrm>
            <a:off x="11173967" y="3995928"/>
            <a:ext cx="237744" cy="182880"/>
          </a:xfrm>
          <a:prstGeom prst="rightArrow">
            <a:avLst/>
          </a:prstGeom>
          <a:solidFill>
            <a:srgbClr val="4472C4"/>
          </a:solidFill>
          <a:ln>
            <a:noFill/>
          </a:ln>
        </p:spPr>
        <p:txBody>
          <a:bodyPr rtlCol="0" anchor="ctr"/>
          <a:lstStyle/>
          <a:p>
            <a:pPr algn="ctr"/>
            <a:endParaRPr/>
          </a:p>
        </p:txBody>
      </p:sp>
      <p:sp>
        <p:nvSpPr>
          <p:cNvPr id="52" name="Agenda row">
            <a:hlinkClick r:id="rId14" action="ppaction://hlinksldjump"/>
          </p:cNvPr>
          <p:cNvSpPr/>
          <p:nvPr/>
        </p:nvSpPr>
        <p:spPr>
          <a:xfrm>
            <a:off x="6217920" y="4434840"/>
            <a:ext cx="5394960" cy="512064"/>
          </a:xfrm>
          <a:prstGeom prst="roundRect">
            <a:avLst>
              <a:gd name="adj" fmla="val 16071"/>
            </a:avLst>
          </a:prstGeom>
          <a:solidFill>
            <a:srgbClr val="FFFFFF"/>
          </a:solidFill>
          <a:ln w="12700">
            <a:solidFill>
              <a:srgbClr val="2C4C8C"/>
            </a:solidFill>
          </a:ln>
        </p:spPr>
        <p:txBody>
          <a:bodyPr rtlCol="0" anchor="ctr"/>
          <a:lstStyle/>
          <a:p>
            <a:pPr algn="ctr"/>
            <a:endParaRPr/>
          </a:p>
        </p:txBody>
      </p:sp>
      <p:sp>
        <p:nvSpPr>
          <p:cNvPr id="53" name="Icon">
            <a:hlinkClick r:id="rId14" action="ppaction://hlinksldjump"/>
          </p:cNvPr>
          <p:cNvSpPr/>
          <p:nvPr/>
        </p:nvSpPr>
        <p:spPr>
          <a:xfrm>
            <a:off x="6345936" y="4517136"/>
            <a:ext cx="347472" cy="347472"/>
          </a:xfrm>
          <a:prstGeom prst="ellipse">
            <a:avLst/>
          </a:prstGeom>
          <a:solidFill>
            <a:srgbClr val="2F5296"/>
          </a:solidFill>
          <a:ln w="12700">
            <a:solidFill>
              <a:srgbClr val="2C4C8C"/>
            </a:solidFill>
          </a:ln>
        </p:spPr>
        <p:txBody>
          <a:bodyPr wrap="square" lIns="0" tIns="0" rIns="0" bIns="0" rtlCol="0" anchor="ctr"/>
          <a:lstStyle/>
          <a:p>
            <a:pPr algn="ctr"/>
            <a:r>
              <a:rPr sz="1000" b="1" i="0">
                <a:solidFill>
                  <a:srgbClr val="00E5D4"/>
                </a:solidFill>
                <a:latin typeface="Times New Roman"/>
                <a:ea typeface="Times New Roman"/>
                <a:cs typeface="Times New Roman"/>
              </a:rPr>
              <a:t>13</a:t>
            </a:r>
          </a:p>
        </p:txBody>
      </p:sp>
      <p:sp>
        <p:nvSpPr>
          <p:cNvPr id="54" name="Agenda link">
            <a:hlinkClick r:id="rId14" action="ppaction://hlinksldjump"/>
          </p:cNvPr>
          <p:cNvSpPr txBox="1"/>
          <p:nvPr/>
        </p:nvSpPr>
        <p:spPr>
          <a:xfrm>
            <a:off x="6803136" y="4462272"/>
            <a:ext cx="4206240" cy="457200"/>
          </a:xfrm>
          <a:prstGeom prst="rect">
            <a:avLst/>
          </a:prstGeom>
          <a:noFill/>
        </p:spPr>
        <p:txBody>
          <a:bodyPr wrap="square" lIns="45720" rIns="45720" anchor="ctr">
            <a:spAutoFit/>
          </a:bodyPr>
          <a:lstStyle/>
          <a:p>
            <a:pPr algn="l"/>
            <a:r>
              <a:rPr sz="1300" b="1" i="0">
                <a:solidFill>
                  <a:srgbClr val="0563C1"/>
                </a:solidFill>
                <a:latin typeface="Times New Roman"/>
                <a:ea typeface="Times New Roman"/>
                <a:cs typeface="Times New Roman"/>
              </a:rPr>
              <a:t>Module 6 — Classification Agent</a:t>
            </a:r>
          </a:p>
        </p:txBody>
      </p:sp>
      <p:sp>
        <p:nvSpPr>
          <p:cNvPr id="55" name="Arrow">
            <a:hlinkClick r:id="rId14" action="ppaction://hlinksldjump"/>
          </p:cNvPr>
          <p:cNvSpPr/>
          <p:nvPr/>
        </p:nvSpPr>
        <p:spPr>
          <a:xfrm>
            <a:off x="11173967" y="4599432"/>
            <a:ext cx="237744" cy="182880"/>
          </a:xfrm>
          <a:prstGeom prst="rightArrow">
            <a:avLst/>
          </a:prstGeom>
          <a:solidFill>
            <a:srgbClr val="4472C4"/>
          </a:solidFill>
          <a:ln>
            <a:noFill/>
          </a:ln>
        </p:spPr>
        <p:txBody>
          <a:bodyPr rtlCol="0" anchor="ctr"/>
          <a:lstStyle/>
          <a:p>
            <a:pPr algn="ctr"/>
            <a:endParaRPr/>
          </a:p>
        </p:txBody>
      </p:sp>
      <p:sp>
        <p:nvSpPr>
          <p:cNvPr id="56"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57"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LUNAVISION AI</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Abstract</a:t>
            </a:r>
          </a:p>
        </p:txBody>
      </p:sp>
      <p:sp>
        <p:nvSpPr>
          <p:cNvPr id="4" name="Card"/>
          <p:cNvSpPr/>
          <p:nvPr/>
        </p:nvSpPr>
        <p:spPr>
          <a:xfrm>
            <a:off x="548640" y="1371600"/>
            <a:ext cx="11064240" cy="4315968"/>
          </a:xfrm>
          <a:prstGeom prst="roundRect">
            <a:avLst>
              <a:gd name="adj" fmla="val 1906"/>
            </a:avLst>
          </a:prstGeom>
          <a:solidFill>
            <a:srgbClr val="FFFFFF"/>
          </a:solidFill>
          <a:ln w="12700">
            <a:solidFill>
              <a:srgbClr val="2C4C8C"/>
            </a:solidFill>
          </a:ln>
        </p:spPr>
        <p:txBody>
          <a:bodyPr rtlCol="0" anchor="ctr"/>
          <a:lstStyle/>
          <a:p>
            <a:pPr algn="ctr"/>
            <a:endParaRPr/>
          </a:p>
        </p:txBody>
      </p:sp>
      <p:sp>
        <p:nvSpPr>
          <p:cNvPr id="5" name="Abstract"/>
          <p:cNvSpPr txBox="1"/>
          <p:nvPr/>
        </p:nvSpPr>
        <p:spPr>
          <a:xfrm>
            <a:off x="749808" y="1463040"/>
            <a:ext cx="10661904" cy="4133087"/>
          </a:xfrm>
          <a:prstGeom prst="rect">
            <a:avLst/>
          </a:prstGeom>
          <a:noFill/>
        </p:spPr>
        <p:txBody>
          <a:bodyPr wrap="square" lIns="45720" rIns="45720" anchor="ctr">
            <a:spAutoFit/>
          </a:bodyPr>
          <a:lstStyle/>
          <a:p>
            <a:pPr algn="just">
              <a:lnSpc>
                <a:spcPct val="112000"/>
              </a:lnSpc>
            </a:pPr>
            <a:r>
              <a:rPr sz="1450" b="0" i="0" dirty="0">
                <a:solidFill>
                  <a:srgbClr val="000000"/>
                </a:solidFill>
                <a:latin typeface="Times New Roman"/>
                <a:ea typeface="Times New Roman"/>
                <a:cs typeface="Times New Roman"/>
              </a:rPr>
              <a:t>The discovery of exoplanets has become a rapidly growing field in modern astronomy, providing valuable insights into planetary systems beyond our solar system. Space missions such as NASA's Transiting Exoplanet Survey Satellite (TESS) generate vast amounts of stellar light curve data, making manual analysis increasingly difficult. To address this challenge, researchers have applied various Machine Learning (ML) and Deep Learning (DL) techniques, including Random Forest, Support Vector Machine (SVM), Convolutional Neural Networks (CNN), Long Short-Term Memory (LSTM), and Transformer-based models, to identify planetary transit signals and distinguish them from noise and false positives. While these approaches have achieved promising results, they are typically designed for individual stages of the detection process and often require manual intervention for preprocessing, validation, and interpretation. This project proposes </a:t>
            </a:r>
            <a:r>
              <a:rPr sz="1450" b="0" i="0" dirty="0" err="1">
                <a:solidFill>
                  <a:srgbClr val="000000"/>
                </a:solidFill>
                <a:latin typeface="Times New Roman"/>
                <a:ea typeface="Times New Roman"/>
                <a:cs typeface="Times New Roman"/>
              </a:rPr>
              <a:t>LuNaVision</a:t>
            </a:r>
            <a:r>
              <a:rPr sz="1450" b="0" i="0" dirty="0">
                <a:solidFill>
                  <a:srgbClr val="000000"/>
                </a:solidFill>
                <a:latin typeface="Times New Roman"/>
                <a:ea typeface="Times New Roman"/>
                <a:cs typeface="Times New Roman"/>
              </a:rPr>
              <a:t> AI: An Intelligent Multi-Agent Pipeline for Automated Exoplanet Discovery from TESS Observations, a collaborative AI framework that automates the complete exoplanet detection workflow. The proposed system employs specialized AI agents for astronomical data acquisition, light curve preprocessing, noise reduction, transit detection, exoplanet classification, orbital parameter estimation, explainable decision-making, and automated scientific report generation. By integrating Multi-Agent Systems, Large Language Models (LLMs), Explainable Artificial Intelligence (XAI), Machine Learning, Deep Learning, and time-series analysis, </a:t>
            </a:r>
            <a:r>
              <a:rPr sz="1450" b="0" i="0" dirty="0" err="1">
                <a:solidFill>
                  <a:srgbClr val="000000"/>
                </a:solidFill>
                <a:latin typeface="Times New Roman"/>
                <a:ea typeface="Times New Roman"/>
                <a:cs typeface="Times New Roman"/>
              </a:rPr>
              <a:t>LuNaVision</a:t>
            </a:r>
            <a:r>
              <a:rPr sz="1450" b="0" i="0" dirty="0">
                <a:solidFill>
                  <a:srgbClr val="000000"/>
                </a:solidFill>
                <a:latin typeface="Times New Roman"/>
                <a:ea typeface="Times New Roman"/>
                <a:cs typeface="Times New Roman"/>
              </a:rPr>
              <a:t> AI provides a scalable, interpretable, and intelligent solution for processing noisy astronomical datasets. The framework aims to improve detection accuracy, reduce false positives, minimize manual effort, and accelerate exoplanet discovery through an autonomous and efficient scientific analysis pipeline.</a:t>
            </a:r>
          </a:p>
        </p:txBody>
      </p:sp>
      <p:sp>
        <p:nvSpPr>
          <p:cNvPr id="6" name="Badge"/>
          <p:cNvSpPr/>
          <p:nvPr/>
        </p:nvSpPr>
        <p:spPr>
          <a:xfrm>
            <a:off x="548640" y="5870448"/>
            <a:ext cx="1600200" cy="384048"/>
          </a:xfrm>
          <a:prstGeom prst="roundRect">
            <a:avLst>
              <a:gd name="adj" fmla="val 50000"/>
            </a:avLst>
          </a:prstGeom>
          <a:solidFill>
            <a:srgbClr val="2F5296"/>
          </a:solidFill>
          <a:ln>
            <a:noFill/>
          </a:ln>
        </p:spPr>
        <p:txBody>
          <a:bodyPr wrap="square" lIns="18288" tIns="18288" rIns="18288" bIns="18288" rtlCol="0" anchor="ctr"/>
          <a:lstStyle/>
          <a:p>
            <a:pPr algn="ctr"/>
            <a:r>
              <a:rPr sz="1100" b="1" i="0">
                <a:solidFill>
                  <a:srgbClr val="FFFFFF"/>
                </a:solidFill>
                <a:latin typeface="Times New Roman"/>
                <a:ea typeface="Times New Roman"/>
                <a:cs typeface="Times New Roman"/>
              </a:rPr>
              <a:t>Multi-Agent Systems</a:t>
            </a:r>
          </a:p>
        </p:txBody>
      </p:sp>
      <p:sp>
        <p:nvSpPr>
          <p:cNvPr id="7" name="Badge"/>
          <p:cNvSpPr/>
          <p:nvPr/>
        </p:nvSpPr>
        <p:spPr>
          <a:xfrm>
            <a:off x="2240280" y="5870448"/>
            <a:ext cx="2148840" cy="384048"/>
          </a:xfrm>
          <a:prstGeom prst="roundRect">
            <a:avLst>
              <a:gd name="adj" fmla="val 50000"/>
            </a:avLst>
          </a:prstGeom>
          <a:solidFill>
            <a:srgbClr val="2F5296"/>
          </a:solidFill>
          <a:ln>
            <a:noFill/>
          </a:ln>
        </p:spPr>
        <p:txBody>
          <a:bodyPr wrap="square" lIns="18288" tIns="18288" rIns="18288" bIns="18288" rtlCol="0" anchor="ctr"/>
          <a:lstStyle/>
          <a:p>
            <a:pPr algn="ctr"/>
            <a:r>
              <a:rPr sz="1100" b="1" i="0">
                <a:solidFill>
                  <a:srgbClr val="FFFFFF"/>
                </a:solidFill>
                <a:latin typeface="Times New Roman"/>
                <a:ea typeface="Times New Roman"/>
                <a:cs typeface="Times New Roman"/>
              </a:rPr>
              <a:t>Large Language Models (LLMs)</a:t>
            </a:r>
          </a:p>
        </p:txBody>
      </p:sp>
      <p:sp>
        <p:nvSpPr>
          <p:cNvPr id="8" name="Badge"/>
          <p:cNvSpPr/>
          <p:nvPr/>
        </p:nvSpPr>
        <p:spPr>
          <a:xfrm>
            <a:off x="4480560" y="5870448"/>
            <a:ext cx="2743200" cy="384048"/>
          </a:xfrm>
          <a:prstGeom prst="roundRect">
            <a:avLst>
              <a:gd name="adj" fmla="val 50000"/>
            </a:avLst>
          </a:prstGeom>
          <a:solidFill>
            <a:srgbClr val="2F5296"/>
          </a:solidFill>
          <a:ln>
            <a:noFill/>
          </a:ln>
        </p:spPr>
        <p:txBody>
          <a:bodyPr wrap="square" lIns="18288" tIns="18288" rIns="18288" bIns="18288" rtlCol="0" anchor="ctr"/>
          <a:lstStyle/>
          <a:p>
            <a:pPr algn="ctr"/>
            <a:r>
              <a:rPr sz="1100" b="1" i="0">
                <a:solidFill>
                  <a:srgbClr val="FFFFFF"/>
                </a:solidFill>
                <a:latin typeface="Times New Roman"/>
                <a:ea typeface="Times New Roman"/>
                <a:cs typeface="Times New Roman"/>
              </a:rPr>
              <a:t>Explainable Artificial Intelligence (XAI)</a:t>
            </a:r>
          </a:p>
        </p:txBody>
      </p:sp>
      <p:sp>
        <p:nvSpPr>
          <p:cNvPr id="9" name="Badge"/>
          <p:cNvSpPr/>
          <p:nvPr/>
        </p:nvSpPr>
        <p:spPr>
          <a:xfrm>
            <a:off x="7315200" y="5870448"/>
            <a:ext cx="1371600" cy="384048"/>
          </a:xfrm>
          <a:prstGeom prst="roundRect">
            <a:avLst>
              <a:gd name="adj" fmla="val 50000"/>
            </a:avLst>
          </a:prstGeom>
          <a:solidFill>
            <a:srgbClr val="2F5296"/>
          </a:solidFill>
          <a:ln>
            <a:noFill/>
          </a:ln>
        </p:spPr>
        <p:txBody>
          <a:bodyPr wrap="square" lIns="18288" tIns="18288" rIns="18288" bIns="18288" rtlCol="0" anchor="ctr"/>
          <a:lstStyle/>
          <a:p>
            <a:pPr algn="ctr"/>
            <a:r>
              <a:rPr sz="1100" b="1" i="0">
                <a:solidFill>
                  <a:srgbClr val="FFFFFF"/>
                </a:solidFill>
                <a:latin typeface="Times New Roman"/>
                <a:ea typeface="Times New Roman"/>
                <a:cs typeface="Times New Roman"/>
              </a:rPr>
              <a:t>Machine Learning</a:t>
            </a:r>
          </a:p>
        </p:txBody>
      </p:sp>
      <p:sp>
        <p:nvSpPr>
          <p:cNvPr id="10" name="Badge"/>
          <p:cNvSpPr/>
          <p:nvPr/>
        </p:nvSpPr>
        <p:spPr>
          <a:xfrm>
            <a:off x="8778240" y="5870448"/>
            <a:ext cx="1234440" cy="384048"/>
          </a:xfrm>
          <a:prstGeom prst="roundRect">
            <a:avLst>
              <a:gd name="adj" fmla="val 50000"/>
            </a:avLst>
          </a:prstGeom>
          <a:solidFill>
            <a:srgbClr val="2F5296"/>
          </a:solidFill>
          <a:ln>
            <a:noFill/>
          </a:ln>
        </p:spPr>
        <p:txBody>
          <a:bodyPr wrap="square" lIns="18288" tIns="18288" rIns="18288" bIns="18288" rtlCol="0" anchor="ctr"/>
          <a:lstStyle/>
          <a:p>
            <a:pPr algn="ctr"/>
            <a:r>
              <a:rPr sz="1100" b="1" i="0">
                <a:solidFill>
                  <a:srgbClr val="FFFFFF"/>
                </a:solidFill>
                <a:latin typeface="Times New Roman"/>
                <a:ea typeface="Times New Roman"/>
                <a:cs typeface="Times New Roman"/>
              </a:rPr>
              <a:t>Deep Learning</a:t>
            </a:r>
          </a:p>
        </p:txBody>
      </p:sp>
      <p:sp>
        <p:nvSpPr>
          <p:cNvPr id="11" name="Badge"/>
          <p:cNvSpPr/>
          <p:nvPr/>
        </p:nvSpPr>
        <p:spPr>
          <a:xfrm>
            <a:off x="10104120" y="5870448"/>
            <a:ext cx="1508760" cy="384048"/>
          </a:xfrm>
          <a:prstGeom prst="roundRect">
            <a:avLst>
              <a:gd name="adj" fmla="val 50000"/>
            </a:avLst>
          </a:prstGeom>
          <a:solidFill>
            <a:srgbClr val="2F5296"/>
          </a:solidFill>
          <a:ln>
            <a:noFill/>
          </a:ln>
        </p:spPr>
        <p:txBody>
          <a:bodyPr wrap="square" lIns="18288" tIns="18288" rIns="18288" bIns="18288" rtlCol="0" anchor="ctr"/>
          <a:lstStyle/>
          <a:p>
            <a:pPr algn="ctr"/>
            <a:r>
              <a:rPr sz="1100" b="1" i="0">
                <a:solidFill>
                  <a:srgbClr val="FFFFFF"/>
                </a:solidFill>
                <a:latin typeface="Times New Roman"/>
                <a:ea typeface="Times New Roman"/>
                <a:cs typeface="Times New Roman"/>
              </a:rPr>
              <a:t>Time-series analysis</a:t>
            </a:r>
          </a:p>
        </p:txBody>
      </p:sp>
      <p:sp>
        <p:nvSpPr>
          <p:cNvPr id="12"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13"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03</a:t>
            </a:r>
          </a:p>
        </p:txBody>
      </p:sp>
      <p:sp>
        <p:nvSpPr>
          <p:cNvPr id="14"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15"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16"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17"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18"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LUNAVISION AI</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Objectives</a:t>
            </a:r>
          </a:p>
        </p:txBody>
      </p:sp>
      <p:sp>
        <p:nvSpPr>
          <p:cNvPr id="4" name="Card"/>
          <p:cNvSpPr/>
          <p:nvPr/>
        </p:nvSpPr>
        <p:spPr>
          <a:xfrm>
            <a:off x="548640" y="1463040"/>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5" name="Icon"/>
          <p:cNvSpPr/>
          <p:nvPr/>
        </p:nvSpPr>
        <p:spPr>
          <a:xfrm>
            <a:off x="749808" y="1929384"/>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01</a:t>
            </a:r>
          </a:p>
        </p:txBody>
      </p:sp>
      <p:sp>
        <p:nvSpPr>
          <p:cNvPr id="6" name="Objective"/>
          <p:cNvSpPr txBox="1"/>
          <p:nvPr/>
        </p:nvSpPr>
        <p:spPr>
          <a:xfrm>
            <a:off x="1353312" y="1554480"/>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develop an AI-based multi-agent framework for automated exoplanet discovery.</a:t>
            </a:r>
          </a:p>
        </p:txBody>
      </p:sp>
      <p:sp>
        <p:nvSpPr>
          <p:cNvPr id="7" name="Card"/>
          <p:cNvSpPr/>
          <p:nvPr/>
        </p:nvSpPr>
        <p:spPr>
          <a:xfrm>
            <a:off x="4297679" y="1463040"/>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8" name="Icon"/>
          <p:cNvSpPr/>
          <p:nvPr/>
        </p:nvSpPr>
        <p:spPr>
          <a:xfrm>
            <a:off x="4498847" y="1929384"/>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02</a:t>
            </a:r>
          </a:p>
        </p:txBody>
      </p:sp>
      <p:sp>
        <p:nvSpPr>
          <p:cNvPr id="9" name="Objective"/>
          <p:cNvSpPr txBox="1"/>
          <p:nvPr/>
        </p:nvSpPr>
        <p:spPr>
          <a:xfrm>
            <a:off x="5102351" y="1554480"/>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automate TESS data acquisition and preprocessing.</a:t>
            </a:r>
          </a:p>
        </p:txBody>
      </p:sp>
      <p:sp>
        <p:nvSpPr>
          <p:cNvPr id="10" name="Card"/>
          <p:cNvSpPr/>
          <p:nvPr/>
        </p:nvSpPr>
        <p:spPr>
          <a:xfrm>
            <a:off x="8046719" y="1463040"/>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11" name="Icon"/>
          <p:cNvSpPr/>
          <p:nvPr/>
        </p:nvSpPr>
        <p:spPr>
          <a:xfrm>
            <a:off x="8247888" y="1929384"/>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03</a:t>
            </a:r>
          </a:p>
        </p:txBody>
      </p:sp>
      <p:sp>
        <p:nvSpPr>
          <p:cNvPr id="12" name="Objective"/>
          <p:cNvSpPr txBox="1"/>
          <p:nvPr/>
        </p:nvSpPr>
        <p:spPr>
          <a:xfrm>
            <a:off x="8851392" y="1554480"/>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reduce noise in stellar light curves.</a:t>
            </a:r>
          </a:p>
        </p:txBody>
      </p:sp>
      <p:sp>
        <p:nvSpPr>
          <p:cNvPr id="13" name="Card"/>
          <p:cNvSpPr/>
          <p:nvPr/>
        </p:nvSpPr>
        <p:spPr>
          <a:xfrm>
            <a:off x="548640" y="3035808"/>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749808" y="3502152"/>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04</a:t>
            </a:r>
          </a:p>
        </p:txBody>
      </p:sp>
      <p:sp>
        <p:nvSpPr>
          <p:cNvPr id="15" name="Objective"/>
          <p:cNvSpPr txBox="1"/>
          <p:nvPr/>
        </p:nvSpPr>
        <p:spPr>
          <a:xfrm>
            <a:off x="1353312" y="3127248"/>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detect potential planetary transit signals.</a:t>
            </a:r>
          </a:p>
        </p:txBody>
      </p:sp>
      <p:sp>
        <p:nvSpPr>
          <p:cNvPr id="16" name="Card"/>
          <p:cNvSpPr/>
          <p:nvPr/>
        </p:nvSpPr>
        <p:spPr>
          <a:xfrm>
            <a:off x="4297679" y="3035808"/>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17" name="Icon"/>
          <p:cNvSpPr/>
          <p:nvPr/>
        </p:nvSpPr>
        <p:spPr>
          <a:xfrm>
            <a:off x="4498847" y="3502152"/>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05</a:t>
            </a:r>
          </a:p>
        </p:txBody>
      </p:sp>
      <p:sp>
        <p:nvSpPr>
          <p:cNvPr id="18" name="Objective"/>
          <p:cNvSpPr txBox="1"/>
          <p:nvPr/>
        </p:nvSpPr>
        <p:spPr>
          <a:xfrm>
            <a:off x="5102351" y="3127248"/>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classify exoplanet candidates and false positives.</a:t>
            </a:r>
          </a:p>
        </p:txBody>
      </p:sp>
      <p:sp>
        <p:nvSpPr>
          <p:cNvPr id="19" name="Card"/>
          <p:cNvSpPr/>
          <p:nvPr/>
        </p:nvSpPr>
        <p:spPr>
          <a:xfrm>
            <a:off x="8046719" y="3035808"/>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20" name="Icon"/>
          <p:cNvSpPr/>
          <p:nvPr/>
        </p:nvSpPr>
        <p:spPr>
          <a:xfrm>
            <a:off x="8247888" y="3502152"/>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06</a:t>
            </a:r>
          </a:p>
        </p:txBody>
      </p:sp>
      <p:sp>
        <p:nvSpPr>
          <p:cNvPr id="21" name="Objective"/>
          <p:cNvSpPr txBox="1"/>
          <p:nvPr/>
        </p:nvSpPr>
        <p:spPr>
          <a:xfrm>
            <a:off x="8851392" y="3127248"/>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estimate orbital parameters.</a:t>
            </a:r>
          </a:p>
        </p:txBody>
      </p:sp>
      <p:sp>
        <p:nvSpPr>
          <p:cNvPr id="22" name="Card"/>
          <p:cNvSpPr/>
          <p:nvPr/>
        </p:nvSpPr>
        <p:spPr>
          <a:xfrm>
            <a:off x="548640" y="4608576"/>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23" name="Icon"/>
          <p:cNvSpPr/>
          <p:nvPr/>
        </p:nvSpPr>
        <p:spPr>
          <a:xfrm>
            <a:off x="749808" y="507492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07</a:t>
            </a:r>
          </a:p>
        </p:txBody>
      </p:sp>
      <p:sp>
        <p:nvSpPr>
          <p:cNvPr id="24" name="Objective"/>
          <p:cNvSpPr txBox="1"/>
          <p:nvPr/>
        </p:nvSpPr>
        <p:spPr>
          <a:xfrm>
            <a:off x="1353312" y="4700016"/>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provide Explainable AI (XAI) for decisions.</a:t>
            </a:r>
          </a:p>
        </p:txBody>
      </p:sp>
      <p:sp>
        <p:nvSpPr>
          <p:cNvPr id="25" name="Card"/>
          <p:cNvSpPr/>
          <p:nvPr/>
        </p:nvSpPr>
        <p:spPr>
          <a:xfrm>
            <a:off x="4297679" y="4608576"/>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26" name="Icon"/>
          <p:cNvSpPr/>
          <p:nvPr/>
        </p:nvSpPr>
        <p:spPr>
          <a:xfrm>
            <a:off x="4498847" y="507492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08</a:t>
            </a:r>
          </a:p>
        </p:txBody>
      </p:sp>
      <p:sp>
        <p:nvSpPr>
          <p:cNvPr id="27" name="Objective"/>
          <p:cNvSpPr txBox="1"/>
          <p:nvPr/>
        </p:nvSpPr>
        <p:spPr>
          <a:xfrm>
            <a:off x="5102351" y="4700016"/>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generate automated scientific reports.</a:t>
            </a:r>
          </a:p>
        </p:txBody>
      </p:sp>
      <p:sp>
        <p:nvSpPr>
          <p:cNvPr id="28" name="Card"/>
          <p:cNvSpPr/>
          <p:nvPr/>
        </p:nvSpPr>
        <p:spPr>
          <a:xfrm>
            <a:off x="8046719" y="4608576"/>
            <a:ext cx="3566160" cy="1389888"/>
          </a:xfrm>
          <a:prstGeom prst="roundRect">
            <a:avLst>
              <a:gd name="adj" fmla="val 5921"/>
            </a:avLst>
          </a:prstGeom>
          <a:solidFill>
            <a:srgbClr val="FFFFFF"/>
          </a:solidFill>
          <a:ln w="12700">
            <a:solidFill>
              <a:srgbClr val="2C4C8C"/>
            </a:solidFill>
          </a:ln>
        </p:spPr>
        <p:txBody>
          <a:bodyPr rtlCol="0" anchor="ctr"/>
          <a:lstStyle/>
          <a:p>
            <a:pPr algn="ctr"/>
            <a:endParaRPr/>
          </a:p>
        </p:txBody>
      </p:sp>
      <p:sp>
        <p:nvSpPr>
          <p:cNvPr id="29" name="Icon"/>
          <p:cNvSpPr/>
          <p:nvPr/>
        </p:nvSpPr>
        <p:spPr>
          <a:xfrm>
            <a:off x="8247888" y="507492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09</a:t>
            </a:r>
          </a:p>
        </p:txBody>
      </p:sp>
      <p:sp>
        <p:nvSpPr>
          <p:cNvPr id="30" name="Objective"/>
          <p:cNvSpPr txBox="1"/>
          <p:nvPr/>
        </p:nvSpPr>
        <p:spPr>
          <a:xfrm>
            <a:off x="8851392" y="4700016"/>
            <a:ext cx="2606040" cy="1207008"/>
          </a:xfrm>
          <a:prstGeom prst="rect">
            <a:avLst/>
          </a:prstGeom>
          <a:noFill/>
        </p:spPr>
        <p:txBody>
          <a:bodyPr wrap="square" lIns="45720" rIns="45720" anchor="ctr">
            <a:spAutoFit/>
          </a:bodyPr>
          <a:lstStyle/>
          <a:p>
            <a:pPr algn="l"/>
            <a:r>
              <a:rPr sz="1350" b="0" i="0">
                <a:solidFill>
                  <a:srgbClr val="000000"/>
                </a:solidFill>
                <a:latin typeface="Times New Roman"/>
                <a:ea typeface="Times New Roman"/>
                <a:cs typeface="Times New Roman"/>
              </a:rPr>
              <a:t>To reduce manual effort and improve scalability.</a:t>
            </a:r>
          </a:p>
        </p:txBody>
      </p:sp>
      <p:sp>
        <p:nvSpPr>
          <p:cNvPr id="31"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32"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04</a:t>
            </a:r>
          </a:p>
        </p:txBody>
      </p:sp>
      <p:sp>
        <p:nvSpPr>
          <p:cNvPr id="33"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34"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35"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36"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37"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SCOPE OF THE PROJECT</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Where It Is Used</a:t>
            </a:r>
          </a:p>
        </p:txBody>
      </p:sp>
      <p:sp>
        <p:nvSpPr>
          <p:cNvPr id="4" name="Row"/>
          <p:cNvSpPr/>
          <p:nvPr/>
        </p:nvSpPr>
        <p:spPr>
          <a:xfrm>
            <a:off x="548640" y="1463040"/>
            <a:ext cx="11064240" cy="786384"/>
          </a:xfrm>
          <a:prstGeom prst="roundRect">
            <a:avLst>
              <a:gd name="adj" fmla="val 10465"/>
            </a:avLst>
          </a:prstGeom>
          <a:solidFill>
            <a:srgbClr val="FFFFFF"/>
          </a:solidFill>
          <a:ln w="12700">
            <a:solidFill>
              <a:srgbClr val="2C4C8C"/>
            </a:solidFill>
          </a:ln>
        </p:spPr>
        <p:txBody>
          <a:bodyPr rtlCol="0" anchor="ctr"/>
          <a:lstStyle/>
          <a:p>
            <a:pPr algn="ctr"/>
            <a:endParaRPr/>
          </a:p>
        </p:txBody>
      </p:sp>
      <p:sp>
        <p:nvSpPr>
          <p:cNvPr id="5" name="Icon"/>
          <p:cNvSpPr/>
          <p:nvPr/>
        </p:nvSpPr>
        <p:spPr>
          <a:xfrm>
            <a:off x="694944" y="167335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6" name="RowText"/>
          <p:cNvSpPr txBox="1"/>
          <p:nvPr/>
        </p:nvSpPr>
        <p:spPr>
          <a:xfrm>
            <a:off x="1170432" y="1490472"/>
            <a:ext cx="10332719" cy="731520"/>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Astronomical Research</a:t>
            </a:r>
            <a:r>
              <a:rPr sz="1400" b="0" i="0">
                <a:solidFill>
                  <a:srgbClr val="000000"/>
                </a:solidFill>
                <a:latin typeface="Times New Roman"/>
                <a:ea typeface="Times New Roman"/>
                <a:cs typeface="Times New Roman"/>
              </a:rPr>
              <a:t>  –  Assist astronomers in analysing TESS observations.</a:t>
            </a:r>
          </a:p>
        </p:txBody>
      </p:sp>
      <p:sp>
        <p:nvSpPr>
          <p:cNvPr id="7" name="Row"/>
          <p:cNvSpPr/>
          <p:nvPr/>
        </p:nvSpPr>
        <p:spPr>
          <a:xfrm>
            <a:off x="548640" y="2377440"/>
            <a:ext cx="11064240" cy="786384"/>
          </a:xfrm>
          <a:prstGeom prst="roundRect">
            <a:avLst>
              <a:gd name="adj" fmla="val 10465"/>
            </a:avLst>
          </a:prstGeom>
          <a:solidFill>
            <a:srgbClr val="FFFFFF"/>
          </a:solidFill>
          <a:ln w="12700">
            <a:solidFill>
              <a:srgbClr val="2C4C8C"/>
            </a:solidFill>
          </a:ln>
        </p:spPr>
        <p:txBody>
          <a:bodyPr rtlCol="0" anchor="ctr"/>
          <a:lstStyle/>
          <a:p>
            <a:pPr algn="ctr"/>
            <a:endParaRPr/>
          </a:p>
        </p:txBody>
      </p:sp>
      <p:sp>
        <p:nvSpPr>
          <p:cNvPr id="8" name="Icon"/>
          <p:cNvSpPr/>
          <p:nvPr/>
        </p:nvSpPr>
        <p:spPr>
          <a:xfrm>
            <a:off x="694944" y="258775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9" name="RowText"/>
          <p:cNvSpPr txBox="1"/>
          <p:nvPr/>
        </p:nvSpPr>
        <p:spPr>
          <a:xfrm>
            <a:off x="1170432" y="2404872"/>
            <a:ext cx="10332719" cy="731520"/>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Exoplanet Discovery</a:t>
            </a:r>
            <a:r>
              <a:rPr sz="1400" b="0" i="0">
                <a:solidFill>
                  <a:srgbClr val="000000"/>
                </a:solidFill>
                <a:latin typeface="Times New Roman"/>
                <a:ea typeface="Times New Roman"/>
                <a:cs typeface="Times New Roman"/>
              </a:rPr>
              <a:t>  –  Identify potential planets from stellar light curves.</a:t>
            </a:r>
          </a:p>
        </p:txBody>
      </p:sp>
      <p:sp>
        <p:nvSpPr>
          <p:cNvPr id="10" name="Row"/>
          <p:cNvSpPr/>
          <p:nvPr/>
        </p:nvSpPr>
        <p:spPr>
          <a:xfrm>
            <a:off x="548640" y="3291840"/>
            <a:ext cx="11064240" cy="786384"/>
          </a:xfrm>
          <a:prstGeom prst="roundRect">
            <a:avLst>
              <a:gd name="adj" fmla="val 10465"/>
            </a:avLst>
          </a:prstGeom>
          <a:solidFill>
            <a:srgbClr val="FFFFFF"/>
          </a:solidFill>
          <a:ln w="12700">
            <a:solidFill>
              <a:srgbClr val="2C4C8C"/>
            </a:solidFill>
          </a:ln>
        </p:spPr>
        <p:txBody>
          <a:bodyPr rtlCol="0" anchor="ctr"/>
          <a:lstStyle/>
          <a:p>
            <a:pPr algn="ctr"/>
            <a:endParaRPr/>
          </a:p>
        </p:txBody>
      </p:sp>
      <p:sp>
        <p:nvSpPr>
          <p:cNvPr id="11" name="Icon"/>
          <p:cNvSpPr/>
          <p:nvPr/>
        </p:nvSpPr>
        <p:spPr>
          <a:xfrm>
            <a:off x="694944" y="350215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2" name="RowText"/>
          <p:cNvSpPr txBox="1"/>
          <p:nvPr/>
        </p:nvSpPr>
        <p:spPr>
          <a:xfrm>
            <a:off x="1170432" y="3319272"/>
            <a:ext cx="10332719" cy="731520"/>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Space Missions</a:t>
            </a:r>
            <a:r>
              <a:rPr sz="1400" b="0" i="0">
                <a:solidFill>
                  <a:srgbClr val="000000"/>
                </a:solidFill>
                <a:latin typeface="Times New Roman"/>
                <a:ea typeface="Times New Roman"/>
                <a:cs typeface="Times New Roman"/>
              </a:rPr>
              <a:t>  –  Support analysis of large-scale TESS datasets.</a:t>
            </a:r>
          </a:p>
        </p:txBody>
      </p:sp>
      <p:sp>
        <p:nvSpPr>
          <p:cNvPr id="13" name="Row"/>
          <p:cNvSpPr/>
          <p:nvPr/>
        </p:nvSpPr>
        <p:spPr>
          <a:xfrm>
            <a:off x="548640" y="4206240"/>
            <a:ext cx="11064240" cy="786384"/>
          </a:xfrm>
          <a:prstGeom prst="roundRect">
            <a:avLst>
              <a:gd name="adj" fmla="val 10465"/>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694944" y="441655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5" name="RowText"/>
          <p:cNvSpPr txBox="1"/>
          <p:nvPr/>
        </p:nvSpPr>
        <p:spPr>
          <a:xfrm>
            <a:off x="1170432" y="4233672"/>
            <a:ext cx="10332719" cy="731520"/>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Planetary System Studies</a:t>
            </a:r>
            <a:r>
              <a:rPr sz="1400" b="0" i="0">
                <a:solidFill>
                  <a:srgbClr val="000000"/>
                </a:solidFill>
                <a:latin typeface="Times New Roman"/>
                <a:ea typeface="Times New Roman"/>
                <a:cs typeface="Times New Roman"/>
              </a:rPr>
              <a:t>  –  Assist in studying planets beyond our Solar System.</a:t>
            </a:r>
          </a:p>
        </p:txBody>
      </p:sp>
      <p:sp>
        <p:nvSpPr>
          <p:cNvPr id="16" name="Row"/>
          <p:cNvSpPr/>
          <p:nvPr/>
        </p:nvSpPr>
        <p:spPr>
          <a:xfrm>
            <a:off x="548640" y="5120640"/>
            <a:ext cx="11064240" cy="786384"/>
          </a:xfrm>
          <a:prstGeom prst="roundRect">
            <a:avLst>
              <a:gd name="adj" fmla="val 10465"/>
            </a:avLst>
          </a:prstGeom>
          <a:solidFill>
            <a:srgbClr val="FFFFFF"/>
          </a:solidFill>
          <a:ln w="12700">
            <a:solidFill>
              <a:srgbClr val="2C4C8C"/>
            </a:solidFill>
          </a:ln>
        </p:spPr>
        <p:txBody>
          <a:bodyPr rtlCol="0" anchor="ctr"/>
          <a:lstStyle/>
          <a:p>
            <a:pPr algn="ctr"/>
            <a:endParaRPr/>
          </a:p>
        </p:txBody>
      </p:sp>
      <p:sp>
        <p:nvSpPr>
          <p:cNvPr id="17" name="Icon"/>
          <p:cNvSpPr/>
          <p:nvPr/>
        </p:nvSpPr>
        <p:spPr>
          <a:xfrm>
            <a:off x="694944" y="533095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8" name="RowText"/>
          <p:cNvSpPr txBox="1"/>
          <p:nvPr/>
        </p:nvSpPr>
        <p:spPr>
          <a:xfrm>
            <a:off x="1170432" y="5148072"/>
            <a:ext cx="10332719" cy="731520"/>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Scientific Data Analysis</a:t>
            </a:r>
            <a:r>
              <a:rPr sz="1400" b="0" i="0">
                <a:solidFill>
                  <a:srgbClr val="000000"/>
                </a:solidFill>
                <a:latin typeface="Times New Roman"/>
                <a:ea typeface="Times New Roman"/>
                <a:cs typeface="Times New Roman"/>
              </a:rPr>
              <a:t>  –  Automate processing of large and noisy astronomical datasets.</a:t>
            </a:r>
          </a:p>
        </p:txBody>
      </p:sp>
      <p:sp>
        <p:nvSpPr>
          <p:cNvPr id="19"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20"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05</a:t>
            </a:r>
          </a:p>
        </p:txBody>
      </p:sp>
      <p:sp>
        <p:nvSpPr>
          <p:cNvPr id="21"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22"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23"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24"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25"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SCOPE OF THE PROJECT</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Benefits</a:t>
            </a:r>
          </a:p>
        </p:txBody>
      </p:sp>
      <p:sp>
        <p:nvSpPr>
          <p:cNvPr id="4" name="Row"/>
          <p:cNvSpPr/>
          <p:nvPr/>
        </p:nvSpPr>
        <p:spPr>
          <a:xfrm>
            <a:off x="548640" y="1463040"/>
            <a:ext cx="6309360" cy="548640"/>
          </a:xfrm>
          <a:prstGeom prst="roundRect">
            <a:avLst>
              <a:gd name="adj" fmla="val 15000"/>
            </a:avLst>
          </a:prstGeom>
          <a:solidFill>
            <a:srgbClr val="FFFFFF"/>
          </a:solidFill>
          <a:ln w="12700">
            <a:solidFill>
              <a:srgbClr val="2C4C8C"/>
            </a:solidFill>
          </a:ln>
        </p:spPr>
        <p:txBody>
          <a:bodyPr rtlCol="0" anchor="ctr"/>
          <a:lstStyle/>
          <a:p>
            <a:pPr algn="ctr"/>
            <a:endParaRPr/>
          </a:p>
        </p:txBody>
      </p:sp>
      <p:sp>
        <p:nvSpPr>
          <p:cNvPr id="5" name="Icon"/>
          <p:cNvSpPr/>
          <p:nvPr/>
        </p:nvSpPr>
        <p:spPr>
          <a:xfrm>
            <a:off x="694944" y="15544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6" name="RowText"/>
          <p:cNvSpPr txBox="1"/>
          <p:nvPr/>
        </p:nvSpPr>
        <p:spPr>
          <a:xfrm>
            <a:off x="1170432" y="1490472"/>
            <a:ext cx="5577840" cy="49377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Automates the exoplanet detection workflow.</a:t>
            </a:r>
          </a:p>
        </p:txBody>
      </p:sp>
      <p:sp>
        <p:nvSpPr>
          <p:cNvPr id="7" name="Row"/>
          <p:cNvSpPr/>
          <p:nvPr/>
        </p:nvSpPr>
        <p:spPr>
          <a:xfrm>
            <a:off x="548640" y="2103120"/>
            <a:ext cx="6309360" cy="548640"/>
          </a:xfrm>
          <a:prstGeom prst="roundRect">
            <a:avLst>
              <a:gd name="adj" fmla="val 15000"/>
            </a:avLst>
          </a:prstGeom>
          <a:solidFill>
            <a:srgbClr val="FFFFFF"/>
          </a:solidFill>
          <a:ln w="12700">
            <a:solidFill>
              <a:srgbClr val="2C4C8C"/>
            </a:solidFill>
          </a:ln>
        </p:spPr>
        <p:txBody>
          <a:bodyPr rtlCol="0" anchor="ctr"/>
          <a:lstStyle/>
          <a:p>
            <a:pPr algn="ctr"/>
            <a:endParaRPr/>
          </a:p>
        </p:txBody>
      </p:sp>
      <p:sp>
        <p:nvSpPr>
          <p:cNvPr id="8" name="Icon"/>
          <p:cNvSpPr/>
          <p:nvPr/>
        </p:nvSpPr>
        <p:spPr>
          <a:xfrm>
            <a:off x="694944" y="219456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9" name="RowText"/>
          <p:cNvSpPr txBox="1"/>
          <p:nvPr/>
        </p:nvSpPr>
        <p:spPr>
          <a:xfrm>
            <a:off x="1170432" y="2130551"/>
            <a:ext cx="5577840" cy="49377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Reduces manual effort in data analysis.</a:t>
            </a:r>
          </a:p>
        </p:txBody>
      </p:sp>
      <p:sp>
        <p:nvSpPr>
          <p:cNvPr id="10" name="Row"/>
          <p:cNvSpPr/>
          <p:nvPr/>
        </p:nvSpPr>
        <p:spPr>
          <a:xfrm>
            <a:off x="548640" y="2743200"/>
            <a:ext cx="6309360" cy="548640"/>
          </a:xfrm>
          <a:prstGeom prst="roundRect">
            <a:avLst>
              <a:gd name="adj" fmla="val 15000"/>
            </a:avLst>
          </a:prstGeom>
          <a:solidFill>
            <a:srgbClr val="FFFFFF"/>
          </a:solidFill>
          <a:ln w="12700">
            <a:solidFill>
              <a:srgbClr val="2C4C8C"/>
            </a:solidFill>
          </a:ln>
        </p:spPr>
        <p:txBody>
          <a:bodyPr rtlCol="0" anchor="ctr"/>
          <a:lstStyle/>
          <a:p>
            <a:pPr algn="ctr"/>
            <a:endParaRPr/>
          </a:p>
        </p:txBody>
      </p:sp>
      <p:sp>
        <p:nvSpPr>
          <p:cNvPr id="11" name="Icon"/>
          <p:cNvSpPr/>
          <p:nvPr/>
        </p:nvSpPr>
        <p:spPr>
          <a:xfrm>
            <a:off x="694944" y="283464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2" name="RowText"/>
          <p:cNvSpPr txBox="1"/>
          <p:nvPr/>
        </p:nvSpPr>
        <p:spPr>
          <a:xfrm>
            <a:off x="1170432" y="2770632"/>
            <a:ext cx="5577840" cy="49377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Reduces false positives during candidate identification.</a:t>
            </a:r>
          </a:p>
        </p:txBody>
      </p:sp>
      <p:sp>
        <p:nvSpPr>
          <p:cNvPr id="13" name="Row"/>
          <p:cNvSpPr/>
          <p:nvPr/>
        </p:nvSpPr>
        <p:spPr>
          <a:xfrm>
            <a:off x="548640" y="3383279"/>
            <a:ext cx="6309360" cy="548640"/>
          </a:xfrm>
          <a:prstGeom prst="roundRect">
            <a:avLst>
              <a:gd name="adj" fmla="val 15000"/>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694944" y="347472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5" name="RowText"/>
          <p:cNvSpPr txBox="1"/>
          <p:nvPr/>
        </p:nvSpPr>
        <p:spPr>
          <a:xfrm>
            <a:off x="1170432" y="3410711"/>
            <a:ext cx="5577840" cy="49377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Handles large datasets efficiently.</a:t>
            </a:r>
          </a:p>
        </p:txBody>
      </p:sp>
      <p:sp>
        <p:nvSpPr>
          <p:cNvPr id="16" name="Row"/>
          <p:cNvSpPr/>
          <p:nvPr/>
        </p:nvSpPr>
        <p:spPr>
          <a:xfrm>
            <a:off x="548640" y="4023360"/>
            <a:ext cx="6309360" cy="548640"/>
          </a:xfrm>
          <a:prstGeom prst="roundRect">
            <a:avLst>
              <a:gd name="adj" fmla="val 15000"/>
            </a:avLst>
          </a:prstGeom>
          <a:solidFill>
            <a:srgbClr val="FFFFFF"/>
          </a:solidFill>
          <a:ln w="12700">
            <a:solidFill>
              <a:srgbClr val="2C4C8C"/>
            </a:solidFill>
          </a:ln>
        </p:spPr>
        <p:txBody>
          <a:bodyPr rtlCol="0" anchor="ctr"/>
          <a:lstStyle/>
          <a:p>
            <a:pPr algn="ctr"/>
            <a:endParaRPr/>
          </a:p>
        </p:txBody>
      </p:sp>
      <p:sp>
        <p:nvSpPr>
          <p:cNvPr id="17" name="Icon"/>
          <p:cNvSpPr/>
          <p:nvPr/>
        </p:nvSpPr>
        <p:spPr>
          <a:xfrm>
            <a:off x="694944" y="411480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8" name="RowText"/>
          <p:cNvSpPr txBox="1"/>
          <p:nvPr/>
        </p:nvSpPr>
        <p:spPr>
          <a:xfrm>
            <a:off x="1170432" y="4050792"/>
            <a:ext cx="5577840" cy="49377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Improves interpretability using XAI.</a:t>
            </a:r>
          </a:p>
        </p:txBody>
      </p:sp>
      <p:sp>
        <p:nvSpPr>
          <p:cNvPr id="19" name="Row"/>
          <p:cNvSpPr/>
          <p:nvPr/>
        </p:nvSpPr>
        <p:spPr>
          <a:xfrm>
            <a:off x="548640" y="4663440"/>
            <a:ext cx="6309360" cy="548640"/>
          </a:xfrm>
          <a:prstGeom prst="roundRect">
            <a:avLst>
              <a:gd name="adj" fmla="val 15000"/>
            </a:avLst>
          </a:prstGeom>
          <a:solidFill>
            <a:srgbClr val="FFFFFF"/>
          </a:solidFill>
          <a:ln w="12700">
            <a:solidFill>
              <a:srgbClr val="2C4C8C"/>
            </a:solidFill>
          </a:ln>
        </p:spPr>
        <p:txBody>
          <a:bodyPr rtlCol="0" anchor="ctr"/>
          <a:lstStyle/>
          <a:p>
            <a:pPr algn="ctr"/>
            <a:endParaRPr/>
          </a:p>
        </p:txBody>
      </p:sp>
      <p:sp>
        <p:nvSpPr>
          <p:cNvPr id="20" name="Icon"/>
          <p:cNvSpPr/>
          <p:nvPr/>
        </p:nvSpPr>
        <p:spPr>
          <a:xfrm>
            <a:off x="694944" y="4754879"/>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06</a:t>
            </a:r>
          </a:p>
        </p:txBody>
      </p:sp>
      <p:sp>
        <p:nvSpPr>
          <p:cNvPr id="21" name="RowText"/>
          <p:cNvSpPr txBox="1"/>
          <p:nvPr/>
        </p:nvSpPr>
        <p:spPr>
          <a:xfrm>
            <a:off x="1170432" y="4690872"/>
            <a:ext cx="5577840" cy="49377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Generates automated scientific reports.</a:t>
            </a:r>
          </a:p>
        </p:txBody>
      </p:sp>
      <p:sp>
        <p:nvSpPr>
          <p:cNvPr id="22" name="Row"/>
          <p:cNvSpPr/>
          <p:nvPr/>
        </p:nvSpPr>
        <p:spPr>
          <a:xfrm>
            <a:off x="548640" y="5303519"/>
            <a:ext cx="6309360" cy="548640"/>
          </a:xfrm>
          <a:prstGeom prst="roundRect">
            <a:avLst>
              <a:gd name="adj" fmla="val 15000"/>
            </a:avLst>
          </a:prstGeom>
          <a:solidFill>
            <a:srgbClr val="FFFFFF"/>
          </a:solidFill>
          <a:ln w="12700">
            <a:solidFill>
              <a:srgbClr val="2C4C8C"/>
            </a:solidFill>
          </a:ln>
        </p:spPr>
        <p:txBody>
          <a:bodyPr rtlCol="0" anchor="ctr"/>
          <a:lstStyle/>
          <a:p>
            <a:pPr algn="ctr"/>
            <a:endParaRPr/>
          </a:p>
        </p:txBody>
      </p:sp>
      <p:sp>
        <p:nvSpPr>
          <p:cNvPr id="23" name="Icon"/>
          <p:cNvSpPr/>
          <p:nvPr/>
        </p:nvSpPr>
        <p:spPr>
          <a:xfrm>
            <a:off x="694944" y="5394959"/>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07</a:t>
            </a:r>
          </a:p>
        </p:txBody>
      </p:sp>
      <p:sp>
        <p:nvSpPr>
          <p:cNvPr id="24" name="RowText"/>
          <p:cNvSpPr txBox="1"/>
          <p:nvPr/>
        </p:nvSpPr>
        <p:spPr>
          <a:xfrm>
            <a:off x="1170432" y="5330951"/>
            <a:ext cx="5577840" cy="49377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Accelerates exoplanet discovery.</a:t>
            </a:r>
          </a:p>
        </p:txBody>
      </p:sp>
      <p:sp>
        <p:nvSpPr>
          <p:cNvPr id="25" name="Card"/>
          <p:cNvSpPr/>
          <p:nvPr/>
        </p:nvSpPr>
        <p:spPr>
          <a:xfrm>
            <a:off x="7086600" y="1463040"/>
            <a:ext cx="4526280" cy="4389120"/>
          </a:xfrm>
          <a:prstGeom prst="roundRect">
            <a:avLst>
              <a:gd name="adj" fmla="val 1875"/>
            </a:avLst>
          </a:prstGeom>
          <a:solidFill>
            <a:srgbClr val="FFFFFF"/>
          </a:solidFill>
          <a:ln w="12700">
            <a:solidFill>
              <a:srgbClr val="2C4C8C"/>
            </a:solidFill>
          </a:ln>
        </p:spPr>
        <p:txBody>
          <a:bodyPr rtlCol="0" anchor="ctr"/>
          <a:lstStyle/>
          <a:p>
            <a:pPr algn="ctr"/>
            <a:endParaRPr/>
          </a:p>
        </p:txBody>
      </p:sp>
      <p:sp>
        <p:nvSpPr>
          <p:cNvPr id="26" name="Icon"/>
          <p:cNvSpPr/>
          <p:nvPr/>
        </p:nvSpPr>
        <p:spPr>
          <a:xfrm>
            <a:off x="7287768" y="1664208"/>
            <a:ext cx="457200" cy="457200"/>
          </a:xfrm>
          <a:prstGeom prst="ellipse">
            <a:avLst/>
          </a:prstGeom>
          <a:solidFill>
            <a:srgbClr val="2F529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1</a:t>
            </a:r>
          </a:p>
        </p:txBody>
      </p:sp>
      <p:sp>
        <p:nvSpPr>
          <p:cNvPr id="27" name="TextBox 26"/>
          <p:cNvSpPr txBox="1"/>
          <p:nvPr/>
        </p:nvSpPr>
        <p:spPr>
          <a:xfrm>
            <a:off x="7863840" y="1627632"/>
            <a:ext cx="3566160" cy="530352"/>
          </a:xfrm>
          <a:prstGeom prst="rect">
            <a:avLst/>
          </a:prstGeom>
          <a:noFill/>
        </p:spPr>
        <p:txBody>
          <a:bodyPr wrap="square" lIns="45720" rIns="45720" anchor="ctr">
            <a:spAutoFit/>
          </a:bodyPr>
          <a:lstStyle/>
          <a:p>
            <a:pPr algn="l"/>
            <a:r>
              <a:rPr sz="1500" b="1" i="0">
                <a:solidFill>
                  <a:srgbClr val="000000"/>
                </a:solidFill>
                <a:latin typeface="Times New Roman"/>
                <a:ea typeface="Times New Roman"/>
                <a:cs typeface="Times New Roman"/>
              </a:rPr>
              <a:t>One-line Scope</a:t>
            </a:r>
          </a:p>
        </p:txBody>
      </p:sp>
      <p:sp>
        <p:nvSpPr>
          <p:cNvPr id="28" name="Scope"/>
          <p:cNvSpPr txBox="1"/>
          <p:nvPr/>
        </p:nvSpPr>
        <p:spPr>
          <a:xfrm>
            <a:off x="7287768" y="2331720"/>
            <a:ext cx="4114800" cy="3383280"/>
          </a:xfrm>
          <a:prstGeom prst="rect">
            <a:avLst/>
          </a:prstGeom>
          <a:noFill/>
        </p:spPr>
        <p:txBody>
          <a:bodyPr wrap="square" lIns="45720" rIns="45720" anchor="t">
            <a:spAutoFit/>
          </a:bodyPr>
          <a:lstStyle/>
          <a:p>
            <a:pPr algn="l">
              <a:lnSpc>
                <a:spcPct val="115000"/>
              </a:lnSpc>
            </a:pPr>
            <a:r>
              <a:rPr sz="1550" b="0" i="0">
                <a:solidFill>
                  <a:srgbClr val="000000"/>
                </a:solidFill>
                <a:latin typeface="Times New Roman"/>
                <a:ea typeface="Times New Roman"/>
                <a:cs typeface="Times New Roman"/>
              </a:rPr>
              <a:t>LuNaVision AI can be used as an intelligent assistance system for astronomers and space-research applications to automatically analyse TESS observations and identify potential exoplanet candidates.</a:t>
            </a:r>
          </a:p>
        </p:txBody>
      </p:sp>
      <p:sp>
        <p:nvSpPr>
          <p:cNvPr id="29"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30"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06</a:t>
            </a:r>
          </a:p>
        </p:txBody>
      </p:sp>
      <p:sp>
        <p:nvSpPr>
          <p:cNvPr id="31"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32"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33"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34"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35"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EXISTING SYSTEM</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A CNN-Based Ensemble Model for Exoplanet Detection</a:t>
            </a:r>
          </a:p>
        </p:txBody>
      </p:sp>
      <p:sp>
        <p:nvSpPr>
          <p:cNvPr id="4" name="Card"/>
          <p:cNvSpPr/>
          <p:nvPr/>
        </p:nvSpPr>
        <p:spPr>
          <a:xfrm>
            <a:off x="548640" y="1417320"/>
            <a:ext cx="5760720" cy="2212848"/>
          </a:xfrm>
          <a:prstGeom prst="roundRect">
            <a:avLst>
              <a:gd name="adj" fmla="val 3719"/>
            </a:avLst>
          </a:prstGeom>
          <a:solidFill>
            <a:srgbClr val="FFFFFF"/>
          </a:solidFill>
          <a:ln w="12700">
            <a:solidFill>
              <a:srgbClr val="2C4C8C"/>
            </a:solidFill>
          </a:ln>
        </p:spPr>
        <p:txBody>
          <a:bodyPr rtlCol="0" anchor="ctr"/>
          <a:lstStyle/>
          <a:p>
            <a:pPr algn="ctr"/>
            <a:endParaRPr/>
          </a:p>
        </p:txBody>
      </p:sp>
      <p:sp>
        <p:nvSpPr>
          <p:cNvPr id="5" name="TextBox 4"/>
          <p:cNvSpPr txBox="1"/>
          <p:nvPr/>
        </p:nvSpPr>
        <p:spPr>
          <a:xfrm>
            <a:off x="731520" y="1481328"/>
            <a:ext cx="5394960" cy="310896"/>
          </a:xfrm>
          <a:prstGeom prst="rect">
            <a:avLst/>
          </a:prstGeom>
          <a:noFill/>
        </p:spPr>
        <p:txBody>
          <a:bodyPr wrap="square" lIns="45720" rIns="45720" anchor="ctr">
            <a:spAutoFit/>
          </a:bodyPr>
          <a:lstStyle/>
          <a:p>
            <a:pPr algn="l"/>
            <a:r>
              <a:rPr sz="1050" b="1" i="0" spc="150">
                <a:solidFill>
                  <a:srgbClr val="2F5296"/>
                </a:solidFill>
                <a:latin typeface="Times New Roman"/>
                <a:ea typeface="Times New Roman"/>
                <a:cs typeface="Times New Roman"/>
              </a:rPr>
              <a:t>EXISTING APPROACH</a:t>
            </a:r>
          </a:p>
        </p:txBody>
      </p:sp>
      <p:sp>
        <p:nvSpPr>
          <p:cNvPr id="6" name="TextBox 5"/>
          <p:cNvSpPr txBox="1"/>
          <p:nvPr/>
        </p:nvSpPr>
        <p:spPr>
          <a:xfrm>
            <a:off x="731520" y="1810512"/>
            <a:ext cx="5440680" cy="1773936"/>
          </a:xfrm>
          <a:prstGeom prst="rect">
            <a:avLst/>
          </a:prstGeom>
          <a:noFill/>
        </p:spPr>
        <p:txBody>
          <a:bodyPr wrap="square" lIns="45720" rIns="45720" anchor="t">
            <a:spAutoFit/>
          </a:bodyPr>
          <a:lstStyle/>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Uses stellar flux (light intensity) for exoplanet detection.</a:t>
            </a:r>
          </a:p>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Applies multiple Machine Learning and Deep Learning models.</a:t>
            </a:r>
          </a:p>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Uses CNN-based ensemble learning for classification.</a:t>
            </a:r>
          </a:p>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Evaluates models using Accuracy, Precision, Sensitivity and Specificity.</a:t>
            </a:r>
          </a:p>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The proposed Ensemble-CNN achieved 99.62% accuracy in the study.</a:t>
            </a:r>
          </a:p>
        </p:txBody>
      </p:sp>
      <p:sp>
        <p:nvSpPr>
          <p:cNvPr id="7" name="Card"/>
          <p:cNvSpPr/>
          <p:nvPr/>
        </p:nvSpPr>
        <p:spPr>
          <a:xfrm>
            <a:off x="6492240" y="1417320"/>
            <a:ext cx="5120640" cy="2212848"/>
          </a:xfrm>
          <a:prstGeom prst="roundRect">
            <a:avLst>
              <a:gd name="adj" fmla="val 3719"/>
            </a:avLst>
          </a:prstGeom>
          <a:solidFill>
            <a:srgbClr val="FFFFFF"/>
          </a:solidFill>
          <a:ln w="12700">
            <a:solidFill>
              <a:srgbClr val="2C4C8C"/>
            </a:solidFill>
          </a:ln>
        </p:spPr>
        <p:txBody>
          <a:bodyPr rtlCol="0" anchor="ctr"/>
          <a:lstStyle/>
          <a:p>
            <a:pPr algn="ctr"/>
            <a:endParaRPr/>
          </a:p>
        </p:txBody>
      </p:sp>
      <p:sp>
        <p:nvSpPr>
          <p:cNvPr id="8" name="TextBox 7"/>
          <p:cNvSpPr txBox="1"/>
          <p:nvPr/>
        </p:nvSpPr>
        <p:spPr>
          <a:xfrm>
            <a:off x="6675120" y="1481328"/>
            <a:ext cx="4754880" cy="310896"/>
          </a:xfrm>
          <a:prstGeom prst="rect">
            <a:avLst/>
          </a:prstGeom>
          <a:noFill/>
        </p:spPr>
        <p:txBody>
          <a:bodyPr wrap="square" lIns="45720" rIns="45720" anchor="ctr">
            <a:spAutoFit/>
          </a:bodyPr>
          <a:lstStyle/>
          <a:p>
            <a:pPr algn="l"/>
            <a:r>
              <a:rPr sz="1050" b="1" i="0" spc="150">
                <a:solidFill>
                  <a:srgbClr val="2F5296"/>
                </a:solidFill>
                <a:latin typeface="Times New Roman"/>
                <a:ea typeface="Times New Roman"/>
                <a:cs typeface="Times New Roman"/>
              </a:rPr>
              <a:t>LIMITATIONS</a:t>
            </a:r>
          </a:p>
        </p:txBody>
      </p:sp>
      <p:sp>
        <p:nvSpPr>
          <p:cNvPr id="9" name="TextBox 8"/>
          <p:cNvSpPr txBox="1"/>
          <p:nvPr/>
        </p:nvSpPr>
        <p:spPr>
          <a:xfrm>
            <a:off x="6675120" y="1810512"/>
            <a:ext cx="4800600" cy="1773936"/>
          </a:xfrm>
          <a:prstGeom prst="rect">
            <a:avLst/>
          </a:prstGeom>
          <a:noFill/>
        </p:spPr>
        <p:txBody>
          <a:bodyPr wrap="square" lIns="45720" rIns="45720" anchor="t">
            <a:spAutoFit/>
          </a:bodyPr>
          <a:lstStyle/>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Mainly focuses on exoplanet classification.</a:t>
            </a:r>
          </a:p>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Does not provide a complete automated end-to-end discovery pipeline.</a:t>
            </a:r>
          </a:p>
          <a:p>
            <a:pPr marL="182880" indent="-182880" algn="l">
              <a:spcAft>
                <a:spcPts val="400"/>
              </a:spcAft>
              <a:buClr>
                <a:srgbClr val="2F5296"/>
              </a:buClr>
              <a:buFont typeface="Times New Roman"/>
              <a:buChar char="•"/>
            </a:pPr>
            <a:r>
              <a:rPr sz="1400" b="0" i="0">
                <a:solidFill>
                  <a:srgbClr val="000000"/>
                </a:solidFill>
                <a:latin typeface="Times New Roman"/>
                <a:ea typeface="Times New Roman"/>
                <a:cs typeface="Times New Roman"/>
              </a:rPr>
              <a:t>Does not cover all stages such as data acquisition, orbital parameter estimation, XAI and automated scientific reporting.</a:t>
            </a:r>
          </a:p>
        </p:txBody>
      </p:sp>
      <p:sp>
        <p:nvSpPr>
          <p:cNvPr id="10" name="Label"/>
          <p:cNvSpPr txBox="1"/>
          <p:nvPr/>
        </p:nvSpPr>
        <p:spPr>
          <a:xfrm>
            <a:off x="548640" y="3749039"/>
            <a:ext cx="54864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EXISTING SYSTEM WORKFLOW</a:t>
            </a:r>
          </a:p>
        </p:txBody>
      </p:sp>
      <p:sp>
        <p:nvSpPr>
          <p:cNvPr id="11" name="Card"/>
          <p:cNvSpPr/>
          <p:nvPr/>
        </p:nvSpPr>
        <p:spPr>
          <a:xfrm>
            <a:off x="548640" y="4069080"/>
            <a:ext cx="1920240" cy="713232"/>
          </a:xfrm>
          <a:prstGeom prst="roundRect">
            <a:avLst>
              <a:gd name="adj" fmla="val 11538"/>
            </a:avLst>
          </a:prstGeom>
          <a:solidFill>
            <a:srgbClr val="FFFFFF"/>
          </a:solidFill>
          <a:ln w="12700">
            <a:solidFill>
              <a:srgbClr val="2C4C8C"/>
            </a:solidFill>
          </a:ln>
        </p:spPr>
        <p:txBody>
          <a:bodyPr wrap="square" lIns="45720" rIns="45720" rtlCol="0" anchor="ctr"/>
          <a:lstStyle/>
          <a:p>
            <a:pPr algn="ctr"/>
            <a:r>
              <a:rPr sz="1250" b="1" i="0">
                <a:solidFill>
                  <a:srgbClr val="000000"/>
                </a:solidFill>
                <a:latin typeface="Times New Roman"/>
                <a:ea typeface="Times New Roman"/>
                <a:cs typeface="Times New Roman"/>
              </a:rPr>
              <a:t>Stellar Light Intensity</a:t>
            </a:r>
          </a:p>
        </p:txBody>
      </p:sp>
      <p:sp>
        <p:nvSpPr>
          <p:cNvPr id="12" name="Arrow"/>
          <p:cNvSpPr/>
          <p:nvPr/>
        </p:nvSpPr>
        <p:spPr>
          <a:xfrm>
            <a:off x="2532888" y="4315968"/>
            <a:ext cx="237744" cy="219456"/>
          </a:xfrm>
          <a:prstGeom prst="rightArrow">
            <a:avLst/>
          </a:prstGeom>
          <a:solidFill>
            <a:srgbClr val="FFFFFF"/>
          </a:solidFill>
          <a:ln>
            <a:noFill/>
          </a:ln>
        </p:spPr>
        <p:txBody>
          <a:bodyPr rtlCol="0" anchor="ctr"/>
          <a:lstStyle/>
          <a:p>
            <a:pPr algn="ctr"/>
            <a:endParaRPr/>
          </a:p>
        </p:txBody>
      </p:sp>
      <p:sp>
        <p:nvSpPr>
          <p:cNvPr id="13" name="Card"/>
          <p:cNvSpPr/>
          <p:nvPr/>
        </p:nvSpPr>
        <p:spPr>
          <a:xfrm>
            <a:off x="2834640" y="4069080"/>
            <a:ext cx="1920240" cy="713232"/>
          </a:xfrm>
          <a:prstGeom prst="roundRect">
            <a:avLst>
              <a:gd name="adj" fmla="val 11538"/>
            </a:avLst>
          </a:prstGeom>
          <a:solidFill>
            <a:srgbClr val="FFFFFF"/>
          </a:solidFill>
          <a:ln w="12700">
            <a:solidFill>
              <a:srgbClr val="2C4C8C"/>
            </a:solidFill>
          </a:ln>
        </p:spPr>
        <p:txBody>
          <a:bodyPr wrap="square" lIns="45720" rIns="45720" rtlCol="0" anchor="ctr"/>
          <a:lstStyle/>
          <a:p>
            <a:pPr algn="ctr"/>
            <a:r>
              <a:rPr sz="1250" b="1" i="0">
                <a:solidFill>
                  <a:srgbClr val="000000"/>
                </a:solidFill>
                <a:latin typeface="Times New Roman"/>
                <a:ea typeface="Times New Roman"/>
                <a:cs typeface="Times New Roman"/>
              </a:rPr>
              <a:t>Data Processing</a:t>
            </a:r>
          </a:p>
        </p:txBody>
      </p:sp>
      <p:sp>
        <p:nvSpPr>
          <p:cNvPr id="14" name="Arrow"/>
          <p:cNvSpPr/>
          <p:nvPr/>
        </p:nvSpPr>
        <p:spPr>
          <a:xfrm>
            <a:off x="4818888" y="4315968"/>
            <a:ext cx="237744" cy="219456"/>
          </a:xfrm>
          <a:prstGeom prst="rightArrow">
            <a:avLst/>
          </a:prstGeom>
          <a:solidFill>
            <a:srgbClr val="FFFFFF"/>
          </a:solidFill>
          <a:ln>
            <a:noFill/>
          </a:ln>
        </p:spPr>
        <p:txBody>
          <a:bodyPr rtlCol="0" anchor="ctr"/>
          <a:lstStyle/>
          <a:p>
            <a:pPr algn="ctr"/>
            <a:endParaRPr/>
          </a:p>
        </p:txBody>
      </p:sp>
      <p:sp>
        <p:nvSpPr>
          <p:cNvPr id="15" name="Card"/>
          <p:cNvSpPr/>
          <p:nvPr/>
        </p:nvSpPr>
        <p:spPr>
          <a:xfrm>
            <a:off x="5120640" y="4069080"/>
            <a:ext cx="1920240" cy="713232"/>
          </a:xfrm>
          <a:prstGeom prst="roundRect">
            <a:avLst>
              <a:gd name="adj" fmla="val 11538"/>
            </a:avLst>
          </a:prstGeom>
          <a:solidFill>
            <a:srgbClr val="FFFFFF"/>
          </a:solidFill>
          <a:ln w="12700">
            <a:solidFill>
              <a:srgbClr val="2C4C8C"/>
            </a:solidFill>
          </a:ln>
        </p:spPr>
        <p:txBody>
          <a:bodyPr wrap="square" lIns="45720" rIns="45720" rtlCol="0" anchor="ctr"/>
          <a:lstStyle/>
          <a:p>
            <a:pPr algn="ctr"/>
            <a:r>
              <a:rPr sz="1250" b="1" i="0">
                <a:solidFill>
                  <a:srgbClr val="000000"/>
                </a:solidFill>
                <a:latin typeface="Times New Roman"/>
                <a:ea typeface="Times New Roman"/>
                <a:cs typeface="Times New Roman"/>
              </a:rPr>
              <a:t>ML/DL Models</a:t>
            </a:r>
          </a:p>
        </p:txBody>
      </p:sp>
      <p:sp>
        <p:nvSpPr>
          <p:cNvPr id="16" name="Arrow"/>
          <p:cNvSpPr/>
          <p:nvPr/>
        </p:nvSpPr>
        <p:spPr>
          <a:xfrm>
            <a:off x="7104888" y="4315968"/>
            <a:ext cx="237744" cy="219456"/>
          </a:xfrm>
          <a:prstGeom prst="rightArrow">
            <a:avLst/>
          </a:prstGeom>
          <a:solidFill>
            <a:srgbClr val="FFFFFF"/>
          </a:solidFill>
          <a:ln>
            <a:noFill/>
          </a:ln>
        </p:spPr>
        <p:txBody>
          <a:bodyPr rtlCol="0" anchor="ctr"/>
          <a:lstStyle/>
          <a:p>
            <a:pPr algn="ctr"/>
            <a:endParaRPr/>
          </a:p>
        </p:txBody>
      </p:sp>
      <p:sp>
        <p:nvSpPr>
          <p:cNvPr id="17" name="Card"/>
          <p:cNvSpPr/>
          <p:nvPr/>
        </p:nvSpPr>
        <p:spPr>
          <a:xfrm>
            <a:off x="7406640" y="4069080"/>
            <a:ext cx="1920240" cy="713232"/>
          </a:xfrm>
          <a:prstGeom prst="roundRect">
            <a:avLst>
              <a:gd name="adj" fmla="val 11538"/>
            </a:avLst>
          </a:prstGeom>
          <a:solidFill>
            <a:srgbClr val="FFFFFF"/>
          </a:solidFill>
          <a:ln w="12700">
            <a:solidFill>
              <a:srgbClr val="2C4C8C"/>
            </a:solidFill>
          </a:ln>
        </p:spPr>
        <p:txBody>
          <a:bodyPr wrap="square" lIns="45720" rIns="45720" rtlCol="0" anchor="ctr"/>
          <a:lstStyle/>
          <a:p>
            <a:pPr algn="ctr"/>
            <a:r>
              <a:rPr sz="1250" b="1" i="0">
                <a:solidFill>
                  <a:srgbClr val="000000"/>
                </a:solidFill>
                <a:latin typeface="Times New Roman"/>
                <a:ea typeface="Times New Roman"/>
                <a:cs typeface="Times New Roman"/>
              </a:rPr>
              <a:t>Ensemble-CNN</a:t>
            </a:r>
          </a:p>
        </p:txBody>
      </p:sp>
      <p:sp>
        <p:nvSpPr>
          <p:cNvPr id="18" name="Arrow"/>
          <p:cNvSpPr/>
          <p:nvPr/>
        </p:nvSpPr>
        <p:spPr>
          <a:xfrm>
            <a:off x="9390888" y="4315968"/>
            <a:ext cx="237744" cy="219456"/>
          </a:xfrm>
          <a:prstGeom prst="rightArrow">
            <a:avLst/>
          </a:prstGeom>
          <a:solidFill>
            <a:srgbClr val="FFFFFF"/>
          </a:solidFill>
          <a:ln>
            <a:noFill/>
          </a:ln>
        </p:spPr>
        <p:txBody>
          <a:bodyPr rtlCol="0" anchor="ctr"/>
          <a:lstStyle/>
          <a:p>
            <a:pPr algn="ctr"/>
            <a:endParaRPr/>
          </a:p>
        </p:txBody>
      </p:sp>
      <p:sp>
        <p:nvSpPr>
          <p:cNvPr id="19" name="Card"/>
          <p:cNvSpPr/>
          <p:nvPr/>
        </p:nvSpPr>
        <p:spPr>
          <a:xfrm>
            <a:off x="9692640" y="4069080"/>
            <a:ext cx="1920240" cy="713232"/>
          </a:xfrm>
          <a:prstGeom prst="roundRect">
            <a:avLst>
              <a:gd name="adj" fmla="val 11538"/>
            </a:avLst>
          </a:prstGeom>
          <a:solidFill>
            <a:srgbClr val="2F5296"/>
          </a:solidFill>
          <a:ln w="12700">
            <a:solidFill>
              <a:srgbClr val="2C4C8C"/>
            </a:solidFill>
          </a:ln>
        </p:spPr>
        <p:txBody>
          <a:bodyPr wrap="square" lIns="45720" rIns="45720" rtlCol="0" anchor="ctr"/>
          <a:lstStyle/>
          <a:p>
            <a:pPr algn="ctr"/>
            <a:r>
              <a:rPr sz="1250" b="1" i="0">
                <a:solidFill>
                  <a:srgbClr val="FFFFFF"/>
                </a:solidFill>
                <a:latin typeface="Times New Roman"/>
                <a:ea typeface="Times New Roman"/>
                <a:cs typeface="Times New Roman"/>
              </a:rPr>
              <a:t>Exoplanet Classification</a:t>
            </a:r>
          </a:p>
        </p:txBody>
      </p:sp>
      <p:sp>
        <p:nvSpPr>
          <p:cNvPr id="20" name="Card"/>
          <p:cNvSpPr/>
          <p:nvPr/>
        </p:nvSpPr>
        <p:spPr>
          <a:xfrm>
            <a:off x="548640" y="5029200"/>
            <a:ext cx="11064240" cy="1051560"/>
          </a:xfrm>
          <a:prstGeom prst="roundRect">
            <a:avLst>
              <a:gd name="adj" fmla="val 7826"/>
            </a:avLst>
          </a:prstGeom>
          <a:solidFill>
            <a:srgbClr val="FFFFFF"/>
          </a:solidFill>
          <a:ln w="12700">
            <a:solidFill>
              <a:srgbClr val="2C4C8C"/>
            </a:solidFill>
          </a:ln>
        </p:spPr>
        <p:txBody>
          <a:bodyPr rtlCol="0" anchor="ctr"/>
          <a:lstStyle/>
          <a:p>
            <a:pPr algn="ctr"/>
            <a:endParaRPr/>
          </a:p>
        </p:txBody>
      </p:sp>
      <p:sp>
        <p:nvSpPr>
          <p:cNvPr id="21" name="Badge"/>
          <p:cNvSpPr/>
          <p:nvPr/>
        </p:nvSpPr>
        <p:spPr>
          <a:xfrm>
            <a:off x="749808" y="5385816"/>
            <a:ext cx="1188720" cy="329184"/>
          </a:xfrm>
          <a:prstGeom prst="roundRect">
            <a:avLst>
              <a:gd name="adj" fmla="val 50000"/>
            </a:avLst>
          </a:prstGeom>
          <a:solidFill>
            <a:srgbClr val="FF7A5C"/>
          </a:solidFill>
          <a:ln>
            <a:noFill/>
          </a:ln>
        </p:spPr>
        <p:txBody>
          <a:bodyPr wrap="square" lIns="18288" tIns="18288" rIns="18288" bIns="18288" rtlCol="0" anchor="ctr"/>
          <a:lstStyle/>
          <a:p>
            <a:pPr algn="ctr"/>
            <a:r>
              <a:rPr sz="1000" b="1" i="0" spc="120">
                <a:solidFill>
                  <a:srgbClr val="FFFFFF"/>
                </a:solidFill>
                <a:latin typeface="Times New Roman"/>
                <a:ea typeface="Times New Roman"/>
                <a:cs typeface="Times New Roman"/>
              </a:rPr>
              <a:t>PROBLEM</a:t>
            </a:r>
          </a:p>
        </p:txBody>
      </p:sp>
      <p:sp>
        <p:nvSpPr>
          <p:cNvPr id="22" name="TextBox 21"/>
          <p:cNvSpPr txBox="1"/>
          <p:nvPr/>
        </p:nvSpPr>
        <p:spPr>
          <a:xfrm>
            <a:off x="2103120" y="5074920"/>
            <a:ext cx="9326880" cy="960120"/>
          </a:xfrm>
          <a:prstGeom prst="rect">
            <a:avLst/>
          </a:prstGeom>
          <a:noFill/>
        </p:spPr>
        <p:txBody>
          <a:bodyPr wrap="square" lIns="45720" rIns="45720" anchor="ctr">
            <a:spAutoFit/>
          </a:bodyPr>
          <a:lstStyle/>
          <a:p>
            <a:pPr algn="l"/>
            <a:r>
              <a:rPr sz="1500" b="1" i="0">
                <a:solidFill>
                  <a:srgbClr val="000000"/>
                </a:solidFill>
                <a:latin typeface="Times New Roman"/>
                <a:ea typeface="Times New Roman"/>
                <a:cs typeface="Times New Roman"/>
              </a:rPr>
              <a:t>Need for an automated, scalable, and interpretable end-to-end exoplanet discovery pipeline.</a:t>
            </a:r>
          </a:p>
        </p:txBody>
      </p:sp>
      <p:sp>
        <p:nvSpPr>
          <p:cNvPr id="23"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24"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07</a:t>
            </a:r>
          </a:p>
        </p:txBody>
      </p:sp>
      <p:sp>
        <p:nvSpPr>
          <p:cNvPr id="25"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26"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27"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28"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29"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PROPOSED SYSTEM</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LuNaVision AI</a:t>
            </a:r>
          </a:p>
        </p:txBody>
      </p:sp>
      <p:sp>
        <p:nvSpPr>
          <p:cNvPr id="4" name="TextBox 3"/>
          <p:cNvSpPr txBox="1"/>
          <p:nvPr/>
        </p:nvSpPr>
        <p:spPr>
          <a:xfrm>
            <a:off x="548640" y="1207008"/>
            <a:ext cx="11064240" cy="457200"/>
          </a:xfrm>
          <a:prstGeom prst="rect">
            <a:avLst/>
          </a:prstGeom>
          <a:noFill/>
        </p:spPr>
        <p:txBody>
          <a:bodyPr wrap="square" lIns="45720" rIns="45720" anchor="ctr">
            <a:spAutoFit/>
          </a:bodyPr>
          <a:lstStyle/>
          <a:p>
            <a:pPr algn="l"/>
            <a:r>
              <a:rPr sz="1450" b="0" i="0">
                <a:solidFill>
                  <a:srgbClr val="D7E1F5"/>
                </a:solidFill>
                <a:latin typeface="Times New Roman"/>
                <a:ea typeface="Times New Roman"/>
                <a:cs typeface="Times New Roman"/>
              </a:rPr>
              <a:t>An intelligent multi-agent pipeline that automates the complete exoplanet discovery workflow.</a:t>
            </a:r>
          </a:p>
        </p:txBody>
      </p:sp>
      <p:sp>
        <p:nvSpPr>
          <p:cNvPr id="5" name="Label"/>
          <p:cNvSpPr txBox="1"/>
          <p:nvPr/>
        </p:nvSpPr>
        <p:spPr>
          <a:xfrm>
            <a:off x="548640" y="1874519"/>
            <a:ext cx="54864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WORKFLOW</a:t>
            </a:r>
          </a:p>
        </p:txBody>
      </p:sp>
      <p:sp>
        <p:nvSpPr>
          <p:cNvPr id="6" name="Card"/>
          <p:cNvSpPr/>
          <p:nvPr/>
        </p:nvSpPr>
        <p:spPr>
          <a:xfrm>
            <a:off x="548640" y="2240280"/>
            <a:ext cx="1371600" cy="3383280"/>
          </a:xfrm>
          <a:prstGeom prst="roundRect">
            <a:avLst>
              <a:gd name="adj" fmla="val 6000"/>
            </a:avLst>
          </a:prstGeom>
          <a:solidFill>
            <a:srgbClr val="FFFFFF"/>
          </a:solidFill>
          <a:ln w="12700">
            <a:solidFill>
              <a:srgbClr val="2C4C8C"/>
            </a:solidFill>
          </a:ln>
        </p:spPr>
        <p:txBody>
          <a:bodyPr rtlCol="0" anchor="ctr"/>
          <a:lstStyle/>
          <a:p>
            <a:pPr algn="ctr"/>
            <a:endParaRPr/>
          </a:p>
        </p:txBody>
      </p:sp>
      <p:sp>
        <p:nvSpPr>
          <p:cNvPr id="7" name="Icon"/>
          <p:cNvSpPr/>
          <p:nvPr/>
        </p:nvSpPr>
        <p:spPr>
          <a:xfrm>
            <a:off x="950976" y="2606040"/>
            <a:ext cx="566928" cy="566928"/>
          </a:xfrm>
          <a:prstGeom prst="ellipse">
            <a:avLst/>
          </a:prstGeom>
          <a:solidFill>
            <a:srgbClr val="2F529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01</a:t>
            </a:r>
          </a:p>
        </p:txBody>
      </p:sp>
      <p:sp>
        <p:nvSpPr>
          <p:cNvPr id="8" name="Step"/>
          <p:cNvSpPr txBox="1"/>
          <p:nvPr/>
        </p:nvSpPr>
        <p:spPr>
          <a:xfrm>
            <a:off x="594360" y="3429000"/>
            <a:ext cx="1280160" cy="2011680"/>
          </a:xfrm>
          <a:prstGeom prst="rect">
            <a:avLst/>
          </a:prstGeom>
          <a:noFill/>
        </p:spPr>
        <p:txBody>
          <a:bodyPr wrap="square" lIns="45720" rIns="45720" anchor="t">
            <a:spAutoFit/>
          </a:bodyPr>
          <a:lstStyle/>
          <a:p>
            <a:pPr algn="ctr"/>
            <a:r>
              <a:rPr sz="1400" b="1" i="0">
                <a:solidFill>
                  <a:srgbClr val="000000"/>
                </a:solidFill>
                <a:latin typeface="Times New Roman"/>
                <a:ea typeface="Times New Roman"/>
                <a:cs typeface="Times New Roman"/>
              </a:rPr>
              <a:t>TESS Data</a:t>
            </a:r>
          </a:p>
        </p:txBody>
      </p:sp>
      <p:sp>
        <p:nvSpPr>
          <p:cNvPr id="9" name="Arrow"/>
          <p:cNvSpPr/>
          <p:nvPr/>
        </p:nvSpPr>
        <p:spPr>
          <a:xfrm>
            <a:off x="1952244" y="3822191"/>
            <a:ext cx="182880" cy="219456"/>
          </a:xfrm>
          <a:prstGeom prst="rightArrow">
            <a:avLst/>
          </a:prstGeom>
          <a:solidFill>
            <a:srgbClr val="FFFFFF"/>
          </a:solidFill>
          <a:ln>
            <a:noFill/>
          </a:ln>
        </p:spPr>
        <p:txBody>
          <a:bodyPr rtlCol="0" anchor="ctr"/>
          <a:lstStyle/>
          <a:p>
            <a:pPr algn="ctr"/>
            <a:endParaRPr/>
          </a:p>
        </p:txBody>
      </p:sp>
      <p:sp>
        <p:nvSpPr>
          <p:cNvPr id="10" name="Card"/>
          <p:cNvSpPr/>
          <p:nvPr/>
        </p:nvSpPr>
        <p:spPr>
          <a:xfrm>
            <a:off x="2164110" y="2240280"/>
            <a:ext cx="1371600" cy="3383280"/>
          </a:xfrm>
          <a:prstGeom prst="roundRect">
            <a:avLst>
              <a:gd name="adj" fmla="val 6000"/>
            </a:avLst>
          </a:prstGeom>
          <a:solidFill>
            <a:srgbClr val="FFFFFF"/>
          </a:solidFill>
          <a:ln w="12700">
            <a:solidFill>
              <a:srgbClr val="2C4C8C"/>
            </a:solidFill>
          </a:ln>
        </p:spPr>
        <p:txBody>
          <a:bodyPr rtlCol="0" anchor="ctr"/>
          <a:lstStyle/>
          <a:p>
            <a:pPr algn="ctr"/>
            <a:endParaRPr/>
          </a:p>
        </p:txBody>
      </p:sp>
      <p:sp>
        <p:nvSpPr>
          <p:cNvPr id="11" name="Icon"/>
          <p:cNvSpPr/>
          <p:nvPr/>
        </p:nvSpPr>
        <p:spPr>
          <a:xfrm>
            <a:off x="2566446" y="2606040"/>
            <a:ext cx="566928" cy="566928"/>
          </a:xfrm>
          <a:prstGeom prst="ellipse">
            <a:avLst/>
          </a:prstGeom>
          <a:solidFill>
            <a:srgbClr val="2F529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02</a:t>
            </a:r>
          </a:p>
        </p:txBody>
      </p:sp>
      <p:sp>
        <p:nvSpPr>
          <p:cNvPr id="12" name="Step"/>
          <p:cNvSpPr txBox="1"/>
          <p:nvPr/>
        </p:nvSpPr>
        <p:spPr>
          <a:xfrm>
            <a:off x="2209830" y="3429000"/>
            <a:ext cx="1280160" cy="2011680"/>
          </a:xfrm>
          <a:prstGeom prst="rect">
            <a:avLst/>
          </a:prstGeom>
          <a:noFill/>
        </p:spPr>
        <p:txBody>
          <a:bodyPr wrap="square" lIns="45720" rIns="45720" anchor="t">
            <a:spAutoFit/>
          </a:bodyPr>
          <a:lstStyle/>
          <a:p>
            <a:pPr algn="ctr"/>
            <a:r>
              <a:rPr sz="1400" b="1" i="0">
                <a:solidFill>
                  <a:srgbClr val="000000"/>
                </a:solidFill>
                <a:latin typeface="Times New Roman"/>
                <a:ea typeface="Times New Roman"/>
                <a:cs typeface="Times New Roman"/>
              </a:rPr>
              <a:t>Preprocessing &amp; Noise Reduction</a:t>
            </a:r>
          </a:p>
        </p:txBody>
      </p:sp>
      <p:sp>
        <p:nvSpPr>
          <p:cNvPr id="13" name="Arrow"/>
          <p:cNvSpPr/>
          <p:nvPr/>
        </p:nvSpPr>
        <p:spPr>
          <a:xfrm>
            <a:off x="3567714" y="3822191"/>
            <a:ext cx="182880" cy="219456"/>
          </a:xfrm>
          <a:prstGeom prst="rightArrow">
            <a:avLst/>
          </a:prstGeom>
          <a:solidFill>
            <a:srgbClr val="FFFFFF"/>
          </a:solidFill>
          <a:ln>
            <a:noFill/>
          </a:ln>
        </p:spPr>
        <p:txBody>
          <a:bodyPr rtlCol="0" anchor="ctr"/>
          <a:lstStyle/>
          <a:p>
            <a:pPr algn="ctr"/>
            <a:endParaRPr/>
          </a:p>
        </p:txBody>
      </p:sp>
      <p:sp>
        <p:nvSpPr>
          <p:cNvPr id="14" name="Card"/>
          <p:cNvSpPr/>
          <p:nvPr/>
        </p:nvSpPr>
        <p:spPr>
          <a:xfrm>
            <a:off x="3779580" y="2240280"/>
            <a:ext cx="1371600" cy="3383280"/>
          </a:xfrm>
          <a:prstGeom prst="roundRect">
            <a:avLst>
              <a:gd name="adj" fmla="val 6000"/>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4181916" y="2606040"/>
            <a:ext cx="566928" cy="566928"/>
          </a:xfrm>
          <a:prstGeom prst="ellipse">
            <a:avLst/>
          </a:prstGeom>
          <a:solidFill>
            <a:srgbClr val="2F529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03</a:t>
            </a:r>
          </a:p>
        </p:txBody>
      </p:sp>
      <p:sp>
        <p:nvSpPr>
          <p:cNvPr id="16" name="Step"/>
          <p:cNvSpPr txBox="1"/>
          <p:nvPr/>
        </p:nvSpPr>
        <p:spPr>
          <a:xfrm>
            <a:off x="3825300" y="3429000"/>
            <a:ext cx="1280160" cy="2011680"/>
          </a:xfrm>
          <a:prstGeom prst="rect">
            <a:avLst/>
          </a:prstGeom>
          <a:noFill/>
        </p:spPr>
        <p:txBody>
          <a:bodyPr wrap="square" lIns="45720" rIns="45720" anchor="t">
            <a:spAutoFit/>
          </a:bodyPr>
          <a:lstStyle/>
          <a:p>
            <a:pPr algn="ctr"/>
            <a:r>
              <a:rPr sz="1400" b="1" i="0">
                <a:solidFill>
                  <a:srgbClr val="000000"/>
                </a:solidFill>
                <a:latin typeface="Times New Roman"/>
                <a:ea typeface="Times New Roman"/>
                <a:cs typeface="Times New Roman"/>
              </a:rPr>
              <a:t>Transit Detection</a:t>
            </a:r>
          </a:p>
        </p:txBody>
      </p:sp>
      <p:sp>
        <p:nvSpPr>
          <p:cNvPr id="17" name="Arrow"/>
          <p:cNvSpPr/>
          <p:nvPr/>
        </p:nvSpPr>
        <p:spPr>
          <a:xfrm>
            <a:off x="5183184" y="3822191"/>
            <a:ext cx="182880" cy="219456"/>
          </a:xfrm>
          <a:prstGeom prst="rightArrow">
            <a:avLst/>
          </a:prstGeom>
          <a:solidFill>
            <a:srgbClr val="FFFFFF"/>
          </a:solidFill>
          <a:ln>
            <a:noFill/>
          </a:ln>
        </p:spPr>
        <p:txBody>
          <a:bodyPr rtlCol="0" anchor="ctr"/>
          <a:lstStyle/>
          <a:p>
            <a:pPr algn="ctr"/>
            <a:endParaRPr/>
          </a:p>
        </p:txBody>
      </p:sp>
      <p:sp>
        <p:nvSpPr>
          <p:cNvPr id="18" name="Card"/>
          <p:cNvSpPr/>
          <p:nvPr/>
        </p:nvSpPr>
        <p:spPr>
          <a:xfrm>
            <a:off x="5395051" y="2240280"/>
            <a:ext cx="1371600" cy="3383280"/>
          </a:xfrm>
          <a:prstGeom prst="roundRect">
            <a:avLst>
              <a:gd name="adj" fmla="val 6000"/>
            </a:avLst>
          </a:prstGeom>
          <a:solidFill>
            <a:srgbClr val="FFFFFF"/>
          </a:solidFill>
          <a:ln w="12700">
            <a:solidFill>
              <a:srgbClr val="2C4C8C"/>
            </a:solidFill>
          </a:ln>
        </p:spPr>
        <p:txBody>
          <a:bodyPr rtlCol="0" anchor="ctr"/>
          <a:lstStyle/>
          <a:p>
            <a:pPr algn="ctr"/>
            <a:endParaRPr/>
          </a:p>
        </p:txBody>
      </p:sp>
      <p:sp>
        <p:nvSpPr>
          <p:cNvPr id="19" name="Icon"/>
          <p:cNvSpPr/>
          <p:nvPr/>
        </p:nvSpPr>
        <p:spPr>
          <a:xfrm>
            <a:off x="5797387" y="2606040"/>
            <a:ext cx="566928" cy="566928"/>
          </a:xfrm>
          <a:prstGeom prst="ellipse">
            <a:avLst/>
          </a:prstGeom>
          <a:solidFill>
            <a:srgbClr val="2F529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04</a:t>
            </a:r>
          </a:p>
        </p:txBody>
      </p:sp>
      <p:sp>
        <p:nvSpPr>
          <p:cNvPr id="20" name="Step"/>
          <p:cNvSpPr txBox="1"/>
          <p:nvPr/>
        </p:nvSpPr>
        <p:spPr>
          <a:xfrm>
            <a:off x="5440771" y="3429000"/>
            <a:ext cx="1280160" cy="2011680"/>
          </a:xfrm>
          <a:prstGeom prst="rect">
            <a:avLst/>
          </a:prstGeom>
          <a:noFill/>
        </p:spPr>
        <p:txBody>
          <a:bodyPr wrap="square" lIns="45720" rIns="45720" anchor="t">
            <a:spAutoFit/>
          </a:bodyPr>
          <a:lstStyle/>
          <a:p>
            <a:pPr algn="ctr"/>
            <a:r>
              <a:rPr sz="1400" b="1" i="0">
                <a:solidFill>
                  <a:srgbClr val="000000"/>
                </a:solidFill>
                <a:latin typeface="Times New Roman"/>
                <a:ea typeface="Times New Roman"/>
                <a:cs typeface="Times New Roman"/>
              </a:rPr>
              <a:t>Exoplanet Classification</a:t>
            </a:r>
          </a:p>
        </p:txBody>
      </p:sp>
      <p:sp>
        <p:nvSpPr>
          <p:cNvPr id="21" name="Arrow"/>
          <p:cNvSpPr/>
          <p:nvPr/>
        </p:nvSpPr>
        <p:spPr>
          <a:xfrm>
            <a:off x="6798655" y="3822191"/>
            <a:ext cx="182880" cy="219456"/>
          </a:xfrm>
          <a:prstGeom prst="rightArrow">
            <a:avLst/>
          </a:prstGeom>
          <a:solidFill>
            <a:srgbClr val="FFFFFF"/>
          </a:solidFill>
          <a:ln>
            <a:noFill/>
          </a:ln>
        </p:spPr>
        <p:txBody>
          <a:bodyPr rtlCol="0" anchor="ctr"/>
          <a:lstStyle/>
          <a:p>
            <a:pPr algn="ctr"/>
            <a:endParaRPr/>
          </a:p>
        </p:txBody>
      </p:sp>
      <p:sp>
        <p:nvSpPr>
          <p:cNvPr id="22" name="Card"/>
          <p:cNvSpPr/>
          <p:nvPr/>
        </p:nvSpPr>
        <p:spPr>
          <a:xfrm>
            <a:off x="7010521" y="2240280"/>
            <a:ext cx="1371600" cy="3383280"/>
          </a:xfrm>
          <a:prstGeom prst="roundRect">
            <a:avLst>
              <a:gd name="adj" fmla="val 6000"/>
            </a:avLst>
          </a:prstGeom>
          <a:solidFill>
            <a:srgbClr val="FFFFFF"/>
          </a:solidFill>
          <a:ln w="12700">
            <a:solidFill>
              <a:srgbClr val="2C4C8C"/>
            </a:solidFill>
          </a:ln>
        </p:spPr>
        <p:txBody>
          <a:bodyPr rtlCol="0" anchor="ctr"/>
          <a:lstStyle/>
          <a:p>
            <a:pPr algn="ctr"/>
            <a:endParaRPr/>
          </a:p>
        </p:txBody>
      </p:sp>
      <p:sp>
        <p:nvSpPr>
          <p:cNvPr id="23" name="Icon"/>
          <p:cNvSpPr/>
          <p:nvPr/>
        </p:nvSpPr>
        <p:spPr>
          <a:xfrm>
            <a:off x="7412857" y="2606040"/>
            <a:ext cx="566928" cy="566928"/>
          </a:xfrm>
          <a:prstGeom prst="ellipse">
            <a:avLst/>
          </a:prstGeom>
          <a:solidFill>
            <a:srgbClr val="2F529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05</a:t>
            </a:r>
          </a:p>
        </p:txBody>
      </p:sp>
      <p:sp>
        <p:nvSpPr>
          <p:cNvPr id="24" name="Step"/>
          <p:cNvSpPr txBox="1"/>
          <p:nvPr/>
        </p:nvSpPr>
        <p:spPr>
          <a:xfrm>
            <a:off x="7056241" y="3429000"/>
            <a:ext cx="1280160" cy="2011680"/>
          </a:xfrm>
          <a:prstGeom prst="rect">
            <a:avLst/>
          </a:prstGeom>
          <a:noFill/>
        </p:spPr>
        <p:txBody>
          <a:bodyPr wrap="square" lIns="45720" rIns="45720" anchor="t">
            <a:spAutoFit/>
          </a:bodyPr>
          <a:lstStyle/>
          <a:p>
            <a:pPr algn="ctr"/>
            <a:r>
              <a:rPr sz="1400" b="1" i="0">
                <a:solidFill>
                  <a:srgbClr val="000000"/>
                </a:solidFill>
                <a:latin typeface="Times New Roman"/>
                <a:ea typeface="Times New Roman"/>
                <a:cs typeface="Times New Roman"/>
              </a:rPr>
              <a:t>Orbital Parameter Estimation</a:t>
            </a:r>
          </a:p>
        </p:txBody>
      </p:sp>
      <p:sp>
        <p:nvSpPr>
          <p:cNvPr id="25" name="Arrow"/>
          <p:cNvSpPr/>
          <p:nvPr/>
        </p:nvSpPr>
        <p:spPr>
          <a:xfrm>
            <a:off x="8414125" y="3822191"/>
            <a:ext cx="182880" cy="219456"/>
          </a:xfrm>
          <a:prstGeom prst="rightArrow">
            <a:avLst/>
          </a:prstGeom>
          <a:solidFill>
            <a:srgbClr val="FFFFFF"/>
          </a:solidFill>
          <a:ln>
            <a:noFill/>
          </a:ln>
        </p:spPr>
        <p:txBody>
          <a:bodyPr rtlCol="0" anchor="ctr"/>
          <a:lstStyle/>
          <a:p>
            <a:pPr algn="ctr"/>
            <a:endParaRPr/>
          </a:p>
        </p:txBody>
      </p:sp>
      <p:sp>
        <p:nvSpPr>
          <p:cNvPr id="26" name="Card"/>
          <p:cNvSpPr/>
          <p:nvPr/>
        </p:nvSpPr>
        <p:spPr>
          <a:xfrm>
            <a:off x="8625992" y="2240280"/>
            <a:ext cx="1371600" cy="3383280"/>
          </a:xfrm>
          <a:prstGeom prst="roundRect">
            <a:avLst>
              <a:gd name="adj" fmla="val 6000"/>
            </a:avLst>
          </a:prstGeom>
          <a:solidFill>
            <a:srgbClr val="FFFFFF"/>
          </a:solidFill>
          <a:ln w="12700">
            <a:solidFill>
              <a:srgbClr val="2C4C8C"/>
            </a:solidFill>
          </a:ln>
        </p:spPr>
        <p:txBody>
          <a:bodyPr rtlCol="0" anchor="ctr"/>
          <a:lstStyle/>
          <a:p>
            <a:pPr algn="ctr"/>
            <a:endParaRPr/>
          </a:p>
        </p:txBody>
      </p:sp>
      <p:sp>
        <p:nvSpPr>
          <p:cNvPr id="27" name="Icon"/>
          <p:cNvSpPr/>
          <p:nvPr/>
        </p:nvSpPr>
        <p:spPr>
          <a:xfrm>
            <a:off x="9028328" y="2606040"/>
            <a:ext cx="566928" cy="566928"/>
          </a:xfrm>
          <a:prstGeom prst="ellipse">
            <a:avLst/>
          </a:prstGeom>
          <a:solidFill>
            <a:srgbClr val="2F529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06</a:t>
            </a:r>
          </a:p>
        </p:txBody>
      </p:sp>
      <p:sp>
        <p:nvSpPr>
          <p:cNvPr id="28" name="Step"/>
          <p:cNvSpPr txBox="1"/>
          <p:nvPr/>
        </p:nvSpPr>
        <p:spPr>
          <a:xfrm>
            <a:off x="8671712" y="3429000"/>
            <a:ext cx="1280160" cy="2011680"/>
          </a:xfrm>
          <a:prstGeom prst="rect">
            <a:avLst/>
          </a:prstGeom>
          <a:noFill/>
        </p:spPr>
        <p:txBody>
          <a:bodyPr wrap="square" lIns="45720" rIns="45720" anchor="t">
            <a:spAutoFit/>
          </a:bodyPr>
          <a:lstStyle/>
          <a:p>
            <a:pPr algn="ctr"/>
            <a:r>
              <a:rPr sz="1400" b="1" i="0">
                <a:solidFill>
                  <a:srgbClr val="000000"/>
                </a:solidFill>
                <a:latin typeface="Times New Roman"/>
                <a:ea typeface="Times New Roman"/>
                <a:cs typeface="Times New Roman"/>
              </a:rPr>
              <a:t>XAI Interpretation</a:t>
            </a:r>
          </a:p>
        </p:txBody>
      </p:sp>
      <p:sp>
        <p:nvSpPr>
          <p:cNvPr id="29" name="Arrow"/>
          <p:cNvSpPr/>
          <p:nvPr/>
        </p:nvSpPr>
        <p:spPr>
          <a:xfrm>
            <a:off x="10029596" y="3822191"/>
            <a:ext cx="182880" cy="219456"/>
          </a:xfrm>
          <a:prstGeom prst="rightArrow">
            <a:avLst/>
          </a:prstGeom>
          <a:solidFill>
            <a:srgbClr val="FFFFFF"/>
          </a:solidFill>
          <a:ln>
            <a:noFill/>
          </a:ln>
        </p:spPr>
        <p:txBody>
          <a:bodyPr rtlCol="0" anchor="ctr"/>
          <a:lstStyle/>
          <a:p>
            <a:pPr algn="ctr"/>
            <a:endParaRPr/>
          </a:p>
        </p:txBody>
      </p:sp>
      <p:sp>
        <p:nvSpPr>
          <p:cNvPr id="30" name="Card"/>
          <p:cNvSpPr/>
          <p:nvPr/>
        </p:nvSpPr>
        <p:spPr>
          <a:xfrm>
            <a:off x="10241462" y="2240280"/>
            <a:ext cx="1371600" cy="3383280"/>
          </a:xfrm>
          <a:prstGeom prst="roundRect">
            <a:avLst>
              <a:gd name="adj" fmla="val 6000"/>
            </a:avLst>
          </a:prstGeom>
          <a:solidFill>
            <a:srgbClr val="2F5296"/>
          </a:solidFill>
          <a:ln w="12700">
            <a:solidFill>
              <a:srgbClr val="2C4C8C"/>
            </a:solidFill>
          </a:ln>
        </p:spPr>
        <p:txBody>
          <a:bodyPr rtlCol="0" anchor="ctr"/>
          <a:lstStyle/>
          <a:p>
            <a:pPr algn="ctr"/>
            <a:endParaRPr/>
          </a:p>
        </p:txBody>
      </p:sp>
      <p:sp>
        <p:nvSpPr>
          <p:cNvPr id="31" name="Icon"/>
          <p:cNvSpPr/>
          <p:nvPr/>
        </p:nvSpPr>
        <p:spPr>
          <a:xfrm>
            <a:off x="10643798" y="2606040"/>
            <a:ext cx="566928" cy="566928"/>
          </a:xfrm>
          <a:prstGeom prst="ellipse">
            <a:avLst/>
          </a:prstGeom>
          <a:solidFill>
            <a:srgbClr val="3A5FA6"/>
          </a:solidFill>
          <a:ln w="12700">
            <a:solidFill>
              <a:srgbClr val="2C4C8C"/>
            </a:solidFill>
          </a:ln>
        </p:spPr>
        <p:txBody>
          <a:bodyPr wrap="square" lIns="0" tIns="0" rIns="0" bIns="0" rtlCol="0" anchor="ctr"/>
          <a:lstStyle/>
          <a:p>
            <a:pPr algn="ctr"/>
            <a:r>
              <a:rPr sz="1300" b="1" i="0">
                <a:solidFill>
                  <a:srgbClr val="00E5D4"/>
                </a:solidFill>
                <a:latin typeface="Times New Roman"/>
                <a:ea typeface="Times New Roman"/>
                <a:cs typeface="Times New Roman"/>
              </a:rPr>
              <a:t>07</a:t>
            </a:r>
          </a:p>
        </p:txBody>
      </p:sp>
      <p:sp>
        <p:nvSpPr>
          <p:cNvPr id="32" name="Step"/>
          <p:cNvSpPr txBox="1"/>
          <p:nvPr/>
        </p:nvSpPr>
        <p:spPr>
          <a:xfrm>
            <a:off x="10287182" y="3429000"/>
            <a:ext cx="1280160" cy="2011680"/>
          </a:xfrm>
          <a:prstGeom prst="rect">
            <a:avLst/>
          </a:prstGeom>
          <a:noFill/>
        </p:spPr>
        <p:txBody>
          <a:bodyPr wrap="square" lIns="45720" rIns="45720" anchor="t">
            <a:spAutoFit/>
          </a:bodyPr>
          <a:lstStyle/>
          <a:p>
            <a:pPr algn="ctr"/>
            <a:r>
              <a:rPr sz="1400" b="1" i="0">
                <a:solidFill>
                  <a:srgbClr val="FFFFFF"/>
                </a:solidFill>
                <a:latin typeface="Times New Roman"/>
                <a:ea typeface="Times New Roman"/>
                <a:cs typeface="Times New Roman"/>
              </a:rPr>
              <a:t>Scientific Report</a:t>
            </a:r>
          </a:p>
        </p:txBody>
      </p:sp>
      <p:sp>
        <p:nvSpPr>
          <p:cNvPr id="33"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34"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08</a:t>
            </a:r>
          </a:p>
        </p:txBody>
      </p:sp>
      <p:sp>
        <p:nvSpPr>
          <p:cNvPr id="35"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36"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37"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38"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39"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PROPOSED SYSTEM</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Key Technologies &amp; Advantages</a:t>
            </a:r>
          </a:p>
        </p:txBody>
      </p:sp>
      <p:sp>
        <p:nvSpPr>
          <p:cNvPr id="4" name="Label"/>
          <p:cNvSpPr txBox="1"/>
          <p:nvPr/>
        </p:nvSpPr>
        <p:spPr>
          <a:xfrm>
            <a:off x="548640" y="1371600"/>
            <a:ext cx="4572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KEY TECHNOLOGIES</a:t>
            </a:r>
          </a:p>
        </p:txBody>
      </p:sp>
      <p:sp>
        <p:nvSpPr>
          <p:cNvPr id="5" name="Row"/>
          <p:cNvSpPr/>
          <p:nvPr/>
        </p:nvSpPr>
        <p:spPr>
          <a:xfrm>
            <a:off x="548640" y="1719072"/>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6" name="Icon"/>
          <p:cNvSpPr/>
          <p:nvPr/>
        </p:nvSpPr>
        <p:spPr>
          <a:xfrm>
            <a:off x="694944" y="190195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7" name="RowText"/>
          <p:cNvSpPr txBox="1"/>
          <p:nvPr/>
        </p:nvSpPr>
        <p:spPr>
          <a:xfrm>
            <a:off x="1170432" y="1746504"/>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Multi-Agent Systems</a:t>
            </a:r>
          </a:p>
        </p:txBody>
      </p:sp>
      <p:sp>
        <p:nvSpPr>
          <p:cNvPr id="8" name="Row"/>
          <p:cNvSpPr/>
          <p:nvPr/>
        </p:nvSpPr>
        <p:spPr>
          <a:xfrm>
            <a:off x="548640" y="2578608"/>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694944" y="276148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0" name="RowText"/>
          <p:cNvSpPr txBox="1"/>
          <p:nvPr/>
        </p:nvSpPr>
        <p:spPr>
          <a:xfrm>
            <a:off x="1170432" y="2606039"/>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ML &amp; Deep Learning</a:t>
            </a:r>
          </a:p>
        </p:txBody>
      </p:sp>
      <p:sp>
        <p:nvSpPr>
          <p:cNvPr id="11" name="Row"/>
          <p:cNvSpPr/>
          <p:nvPr/>
        </p:nvSpPr>
        <p:spPr>
          <a:xfrm>
            <a:off x="548640" y="3438144"/>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694944" y="3621024"/>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3" name="RowText"/>
          <p:cNvSpPr txBox="1"/>
          <p:nvPr/>
        </p:nvSpPr>
        <p:spPr>
          <a:xfrm>
            <a:off x="1170432" y="3465575"/>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LLMs</a:t>
            </a:r>
          </a:p>
        </p:txBody>
      </p:sp>
      <p:sp>
        <p:nvSpPr>
          <p:cNvPr id="14" name="Row"/>
          <p:cNvSpPr/>
          <p:nvPr/>
        </p:nvSpPr>
        <p:spPr>
          <a:xfrm>
            <a:off x="548640" y="4297679"/>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694944" y="4480559"/>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6" name="RowText"/>
          <p:cNvSpPr txBox="1"/>
          <p:nvPr/>
        </p:nvSpPr>
        <p:spPr>
          <a:xfrm>
            <a:off x="1170432" y="4325112"/>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XAI</a:t>
            </a:r>
          </a:p>
        </p:txBody>
      </p:sp>
      <p:sp>
        <p:nvSpPr>
          <p:cNvPr id="17" name="Row"/>
          <p:cNvSpPr/>
          <p:nvPr/>
        </p:nvSpPr>
        <p:spPr>
          <a:xfrm>
            <a:off x="548640" y="5157216"/>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18" name="Icon"/>
          <p:cNvSpPr/>
          <p:nvPr/>
        </p:nvSpPr>
        <p:spPr>
          <a:xfrm>
            <a:off x="694944" y="534009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9" name="RowText"/>
          <p:cNvSpPr txBox="1"/>
          <p:nvPr/>
        </p:nvSpPr>
        <p:spPr>
          <a:xfrm>
            <a:off x="1170432" y="5184648"/>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Time-Series Analysis</a:t>
            </a:r>
          </a:p>
        </p:txBody>
      </p:sp>
      <p:sp>
        <p:nvSpPr>
          <p:cNvPr id="20" name="Label"/>
          <p:cNvSpPr txBox="1"/>
          <p:nvPr/>
        </p:nvSpPr>
        <p:spPr>
          <a:xfrm>
            <a:off x="6172200" y="1371600"/>
            <a:ext cx="4572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ADVANTAGES</a:t>
            </a:r>
          </a:p>
        </p:txBody>
      </p:sp>
      <p:sp>
        <p:nvSpPr>
          <p:cNvPr id="21" name="Row"/>
          <p:cNvSpPr/>
          <p:nvPr/>
        </p:nvSpPr>
        <p:spPr>
          <a:xfrm>
            <a:off x="6172200" y="1719072"/>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22" name="Icon"/>
          <p:cNvSpPr/>
          <p:nvPr/>
        </p:nvSpPr>
        <p:spPr>
          <a:xfrm>
            <a:off x="6318504" y="190195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23" name="RowText"/>
          <p:cNvSpPr txBox="1"/>
          <p:nvPr/>
        </p:nvSpPr>
        <p:spPr>
          <a:xfrm>
            <a:off x="6793992" y="1746504"/>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End-to-end automation</a:t>
            </a:r>
          </a:p>
        </p:txBody>
      </p:sp>
      <p:sp>
        <p:nvSpPr>
          <p:cNvPr id="24" name="Row"/>
          <p:cNvSpPr/>
          <p:nvPr/>
        </p:nvSpPr>
        <p:spPr>
          <a:xfrm>
            <a:off x="6172200" y="2578608"/>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25" name="Icon"/>
          <p:cNvSpPr/>
          <p:nvPr/>
        </p:nvSpPr>
        <p:spPr>
          <a:xfrm>
            <a:off x="6318504" y="276148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26" name="RowText"/>
          <p:cNvSpPr txBox="1"/>
          <p:nvPr/>
        </p:nvSpPr>
        <p:spPr>
          <a:xfrm>
            <a:off x="6793992" y="2606039"/>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Reduced manual effort</a:t>
            </a:r>
          </a:p>
        </p:txBody>
      </p:sp>
      <p:sp>
        <p:nvSpPr>
          <p:cNvPr id="27" name="Row"/>
          <p:cNvSpPr/>
          <p:nvPr/>
        </p:nvSpPr>
        <p:spPr>
          <a:xfrm>
            <a:off x="6172200" y="3438144"/>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28" name="Icon"/>
          <p:cNvSpPr/>
          <p:nvPr/>
        </p:nvSpPr>
        <p:spPr>
          <a:xfrm>
            <a:off x="6318504" y="3621024"/>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29" name="RowText"/>
          <p:cNvSpPr txBox="1"/>
          <p:nvPr/>
        </p:nvSpPr>
        <p:spPr>
          <a:xfrm>
            <a:off x="6793992" y="3465575"/>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Fewer false positives</a:t>
            </a:r>
          </a:p>
        </p:txBody>
      </p:sp>
      <p:sp>
        <p:nvSpPr>
          <p:cNvPr id="30" name="Row"/>
          <p:cNvSpPr/>
          <p:nvPr/>
        </p:nvSpPr>
        <p:spPr>
          <a:xfrm>
            <a:off x="6172200" y="4297679"/>
            <a:ext cx="5440680" cy="731520"/>
          </a:xfrm>
          <a:prstGeom prst="roundRect">
            <a:avLst>
              <a:gd name="adj" fmla="val 11249"/>
            </a:avLst>
          </a:prstGeom>
          <a:solidFill>
            <a:srgbClr val="FFFFFF"/>
          </a:solidFill>
          <a:ln w="12700">
            <a:solidFill>
              <a:srgbClr val="2C4C8C"/>
            </a:solidFill>
          </a:ln>
        </p:spPr>
        <p:txBody>
          <a:bodyPr rtlCol="0" anchor="ctr"/>
          <a:lstStyle/>
          <a:p>
            <a:pPr algn="ctr"/>
            <a:endParaRPr/>
          </a:p>
        </p:txBody>
      </p:sp>
      <p:sp>
        <p:nvSpPr>
          <p:cNvPr id="31" name="Icon"/>
          <p:cNvSpPr/>
          <p:nvPr/>
        </p:nvSpPr>
        <p:spPr>
          <a:xfrm>
            <a:off x="6318504" y="4480559"/>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32" name="RowText"/>
          <p:cNvSpPr txBox="1"/>
          <p:nvPr/>
        </p:nvSpPr>
        <p:spPr>
          <a:xfrm>
            <a:off x="6793992" y="4325112"/>
            <a:ext cx="4709160" cy="676656"/>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Scalable &amp; interpretable</a:t>
            </a:r>
          </a:p>
        </p:txBody>
      </p:sp>
      <p:sp>
        <p:nvSpPr>
          <p:cNvPr id="33"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34"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09</a:t>
            </a:r>
          </a:p>
        </p:txBody>
      </p:sp>
      <p:sp>
        <p:nvSpPr>
          <p:cNvPr id="35"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36"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37"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38"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39"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LITERATURE SURVEY  —  PART 1 OF 2</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Review of Prior Work</a:t>
            </a:r>
          </a:p>
        </p:txBody>
      </p:sp>
      <p:graphicFrame>
        <p:nvGraphicFramePr>
          <p:cNvPr id="4" name="Table 3"/>
          <p:cNvGraphicFramePr>
            <a:graphicFrameLocks noGrp="1"/>
          </p:cNvGraphicFramePr>
          <p:nvPr/>
        </p:nvGraphicFramePr>
        <p:xfrm>
          <a:off x="457200" y="1371600"/>
          <a:ext cx="11292840" cy="5059680"/>
        </p:xfrm>
        <a:graphic>
          <a:graphicData uri="http://schemas.openxmlformats.org/drawingml/2006/table">
            <a:tbl>
              <a:tblPr/>
              <a:tblGrid>
                <a:gridCol w="65836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3456432">
                  <a:extLst>
                    <a:ext uri="{9D8B030D-6E8A-4147-A177-3AD203B41FA5}">
                      <a16:colId xmlns:a16="http://schemas.microsoft.com/office/drawing/2014/main" val="20006"/>
                    </a:ext>
                  </a:extLst>
                </a:gridCol>
              </a:tblGrid>
              <a:tr h="411480">
                <a:tc>
                  <a:txBody>
                    <a:bodyPr/>
                    <a:lstStyle/>
                    <a:p>
                      <a:pPr algn="l"/>
                      <a:r>
                        <a:rPr sz="1300" b="1" i="0">
                          <a:solidFill>
                            <a:srgbClr val="4472C4"/>
                          </a:solidFill>
                          <a:latin typeface="Times New Roman"/>
                          <a:ea typeface="Times New Roman"/>
                          <a:cs typeface="Times New Roman"/>
                        </a:rPr>
                        <a:t>S.No</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Title</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Authors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Journal Name</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Year</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Methodology Used</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Pros and Cons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extLst>
                  <a:ext uri="{0D108BD9-81ED-4DB2-BD59-A6C34878D82A}">
                    <a16:rowId xmlns:a16="http://schemas.microsoft.com/office/drawing/2014/main" val="10000"/>
                  </a:ext>
                </a:extLst>
              </a:tr>
              <a:tr h="1143000">
                <a:tc>
                  <a:txBody>
                    <a:bodyPr/>
                    <a:lstStyle/>
                    <a:p>
                      <a:pPr algn="ctr"/>
                      <a:r>
                        <a:rPr sz="1200" b="0" i="0">
                          <a:solidFill>
                            <a:srgbClr val="FFFFFF"/>
                          </a:solidFill>
                          <a:latin typeface="Times New Roman"/>
                          <a:ea typeface="Times New Roman"/>
                          <a:cs typeface="Times New Roman"/>
                        </a:rPr>
                        <a:t>1</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Exoplanet Imaging via Differentiable Rendering</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Brandon Y. Feng, Rodrigo Ferrer-Chávez, Aviad Levis, William T. Freeman, Jason J. Wang</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International Journal of Data Science and Analytics (Springer)</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2025</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Differentiable Rendering</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Better contrast; improves faint-planet detection; uses wavefront data.</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High complexity; simulation-based; depends on wavefront data.</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1"/>
                  </a:ext>
                </a:extLst>
              </a:tr>
              <a:tr h="1143000">
                <a:tc>
                  <a:txBody>
                    <a:bodyPr/>
                    <a:lstStyle/>
                    <a:p>
                      <a:pPr algn="ctr"/>
                      <a:r>
                        <a:rPr sz="1200" b="0" i="0">
                          <a:solidFill>
                            <a:srgbClr val="FFFFFF"/>
                          </a:solidFill>
                          <a:latin typeface="Times New Roman"/>
                          <a:ea typeface="Times New Roman"/>
                          <a:cs typeface="Times New Roman"/>
                        </a:rPr>
                        <a:t>2</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Feature extraction for exoplanet detection</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Pimentel J, Amorim J, Rudzicz</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International Journal of Data Science and Analytics (Springer)</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2024</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Feature Extraction</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Uses multiple feature domains; strong classification performance; reduces dataset bias through cross-validation.</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Depends on preprocessing; requires feature engineering; feature importance needs further analysis.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2"/>
                  </a:ext>
                </a:extLst>
              </a:tr>
              <a:tr h="1143000">
                <a:tc>
                  <a:txBody>
                    <a:bodyPr/>
                    <a:lstStyle/>
                    <a:p>
                      <a:pPr algn="ctr"/>
                      <a:r>
                        <a:rPr sz="1200" b="0" i="0">
                          <a:solidFill>
                            <a:srgbClr val="FFFFFF"/>
                          </a:solidFill>
                          <a:latin typeface="Times New Roman"/>
                          <a:ea typeface="Times New Roman"/>
                          <a:cs typeface="Times New Roman"/>
                        </a:rPr>
                        <a:t>3</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Light intensity of stars for exoplanet detection</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Jara-Maldonado, M. et al</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IEEE Region 10 Symposium (TENSYMP)</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2022</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KNN + SMOTE</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High accuracy; handles class imbalance; works with limited observations.</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Limited dataset; performance decreases with less data; mainly classification-focused.</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3"/>
                  </a:ext>
                </a:extLst>
              </a:tr>
              <a:tr h="1143000">
                <a:tc>
                  <a:txBody>
                    <a:bodyPr/>
                    <a:lstStyle/>
                    <a:p>
                      <a:pPr algn="ctr"/>
                      <a:r>
                        <a:rPr sz="1200" b="0" i="0">
                          <a:solidFill>
                            <a:srgbClr val="FFFFFF"/>
                          </a:solidFill>
                          <a:latin typeface="Times New Roman"/>
                          <a:ea typeface="Times New Roman"/>
                          <a:cs typeface="Times New Roman"/>
                        </a:rPr>
                        <a:t>4</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Identifying Exoplanets with Deep Learning IV: Removing stellar activity signals from RV data using neural networks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de Beurs Z.L. et al</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The Astronomical Journal (IOP / AAS)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2022</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Neural Networks + Linear Regression</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Removes stellar activity signals; improves RV quality; validated with real observations.</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Requires spectral information; generalization needs further testing; RV-focused.</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4"/>
                  </a:ext>
                </a:extLst>
              </a:tr>
            </a:tbl>
          </a:graphicData>
        </a:graphic>
      </p:graphicFrame>
      <p:sp>
        <p:nvSpPr>
          <p:cNvPr id="5"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6"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10</a:t>
            </a:r>
          </a:p>
        </p:txBody>
      </p:sp>
      <p:sp>
        <p:nvSpPr>
          <p:cNvPr id="7"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8"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9"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10"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11"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LITERATURE SURVEY  —  PART 2 OF 2</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Review of Prior Work</a:t>
            </a:r>
          </a:p>
        </p:txBody>
      </p:sp>
      <p:graphicFrame>
        <p:nvGraphicFramePr>
          <p:cNvPr id="4" name="Table 3"/>
          <p:cNvGraphicFramePr>
            <a:graphicFrameLocks noGrp="1"/>
          </p:cNvGraphicFramePr>
          <p:nvPr/>
        </p:nvGraphicFramePr>
        <p:xfrm>
          <a:off x="457200" y="1371600"/>
          <a:ext cx="11292840" cy="5059680"/>
        </p:xfrm>
        <a:graphic>
          <a:graphicData uri="http://schemas.openxmlformats.org/drawingml/2006/table">
            <a:tbl>
              <a:tblPr/>
              <a:tblGrid>
                <a:gridCol w="65836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3456432">
                  <a:extLst>
                    <a:ext uri="{9D8B030D-6E8A-4147-A177-3AD203B41FA5}">
                      <a16:colId xmlns:a16="http://schemas.microsoft.com/office/drawing/2014/main" val="20006"/>
                    </a:ext>
                  </a:extLst>
                </a:gridCol>
              </a:tblGrid>
              <a:tr h="411480">
                <a:tc>
                  <a:txBody>
                    <a:bodyPr/>
                    <a:lstStyle/>
                    <a:p>
                      <a:pPr algn="l"/>
                      <a:r>
                        <a:rPr sz="1300" b="1" i="0">
                          <a:solidFill>
                            <a:srgbClr val="4472C4"/>
                          </a:solidFill>
                          <a:latin typeface="Times New Roman"/>
                          <a:ea typeface="Times New Roman"/>
                          <a:cs typeface="Times New Roman"/>
                        </a:rPr>
                        <a:t>S.No</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Title</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Authors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Journal Name</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Year</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Methodology Used</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tc>
                  <a:txBody>
                    <a:bodyPr/>
                    <a:lstStyle/>
                    <a:p>
                      <a:pPr algn="l"/>
                      <a:r>
                        <a:rPr sz="1300" b="1" i="0">
                          <a:solidFill>
                            <a:srgbClr val="4472C4"/>
                          </a:solidFill>
                          <a:latin typeface="Times New Roman"/>
                          <a:ea typeface="Times New Roman"/>
                          <a:cs typeface="Times New Roman"/>
                        </a:rPr>
                        <a:t>Pros and Cons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00E5D4"/>
                    </a:solidFill>
                  </a:tcPr>
                </a:tc>
                <a:extLst>
                  <a:ext uri="{0D108BD9-81ED-4DB2-BD59-A6C34878D82A}">
                    <a16:rowId xmlns:a16="http://schemas.microsoft.com/office/drawing/2014/main" val="10000"/>
                  </a:ext>
                </a:extLst>
              </a:tr>
              <a:tr h="1143000">
                <a:tc>
                  <a:txBody>
                    <a:bodyPr/>
                    <a:lstStyle/>
                    <a:p>
                      <a:pPr algn="ctr"/>
                      <a:r>
                        <a:rPr sz="1200" b="0" i="0">
                          <a:solidFill>
                            <a:srgbClr val="FFFFFF"/>
                          </a:solidFill>
                          <a:latin typeface="Times New Roman"/>
                          <a:ea typeface="Times New Roman"/>
                          <a:cs typeface="Times New Roman"/>
                        </a:rPr>
                        <a:t>5</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A CNN-based ensemble model for exoplanet detection.</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Priyadarshini I, Puri V</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Earth Science Informatics (Springer)</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2021</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Ensemble-CNN</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High detection accuracy; improves model performance; combines multiple models.</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Higher complexity; increased computational cost; mainly classification-focused.</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1"/>
                  </a:ext>
                </a:extLst>
              </a:tr>
              <a:tr h="1143000">
                <a:tc>
                  <a:txBody>
                    <a:bodyPr/>
                    <a:lstStyle/>
                    <a:p>
                      <a:pPr algn="ctr"/>
                      <a:r>
                        <a:rPr sz="1200" b="0" i="0">
                          <a:solidFill>
                            <a:srgbClr val="FFFFFF"/>
                          </a:solidFill>
                          <a:latin typeface="Times New Roman"/>
                          <a:ea typeface="Times New Roman"/>
                          <a:cs typeface="Times New Roman"/>
                        </a:rPr>
                        <a:t>6</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Scientific domain knowledge &amp; deep learning</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Ansdell, M. et al</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The Astrophysical Journal Letters (IOP / AAS)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2018</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Domain-Informed DL</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Improves accuracy and recall; better detection of low-SNR transits; supports smaller models.</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Needs additional input data; requires centroid information; risk of overfitting.</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2"/>
                  </a:ext>
                </a:extLst>
              </a:tr>
              <a:tr h="1143000">
                <a:tc>
                  <a:txBody>
                    <a:bodyPr/>
                    <a:lstStyle/>
                    <a:p>
                      <a:pPr algn="ctr"/>
                      <a:r>
                        <a:rPr sz="1200" b="0" i="0">
                          <a:solidFill>
                            <a:srgbClr val="FFFFFF"/>
                          </a:solidFill>
                          <a:latin typeface="Times New Roman"/>
                          <a:ea typeface="Times New Roman"/>
                          <a:cs typeface="Times New Roman"/>
                        </a:rPr>
                        <a:t>7</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Discovering new worlds: signal processing methods for RV exoplanet detection. IEEE Signal Process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Khan, M.S., Jenkins, J., Yoma, N.B</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IEEE Signal Processing Magazine (Vol. 34, pp.104–115)</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2017</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Signal Processing</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Improves signal-to-noise ratio; provides statistical methods; useful for weak signals.</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Mainly RV-focused; relies on signal-processing techniques; not an automated AI pipeline.</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3"/>
                  </a:ext>
                </a:extLst>
              </a:tr>
              <a:tr h="1143000">
                <a:tc>
                  <a:txBody>
                    <a:bodyPr/>
                    <a:lstStyle/>
                    <a:p>
                      <a:pPr algn="ctr"/>
                      <a:r>
                        <a:rPr sz="1200" b="0" i="0">
                          <a:solidFill>
                            <a:srgbClr val="FFFFFF"/>
                          </a:solidFill>
                          <a:latin typeface="Times New Roman"/>
                          <a:ea typeface="Times New Roman"/>
                          <a:cs typeface="Times New Roman"/>
                        </a:rPr>
                        <a:t>8</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Exoplanet detection methods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Wright, J.T., Gaudi, B.S</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Book chapter — Planets, Stars and Stellar Systems, Vol. 3 (Springer Netherlands); also on arXiv (2012)</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ctr"/>
                      <a:r>
                        <a:rPr sz="1200" b="0" i="0">
                          <a:solidFill>
                            <a:srgbClr val="FFFFFF"/>
                          </a:solidFill>
                          <a:latin typeface="Times New Roman"/>
                          <a:ea typeface="Times New Roman"/>
                          <a:cs typeface="Times New Roman"/>
                        </a:rPr>
                        <a:t>2012</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r>
                        <a:rPr sz="1150" b="0" i="0">
                          <a:solidFill>
                            <a:srgbClr val="FFFFFF"/>
                          </a:solidFill>
                          <a:latin typeface="Times New Roman"/>
                          <a:ea typeface="Times New Roman"/>
                          <a:cs typeface="Times New Roman"/>
                        </a:rPr>
                        <a:t>Detection Methods Review</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tc>
                  <a:txBody>
                    <a:bodyPr/>
                    <a:lstStyle/>
                    <a:p>
                      <a:pPr algn="l">
                        <a:spcAft>
                          <a:spcPts val="300"/>
                        </a:spcAft>
                      </a:pPr>
                      <a:r>
                        <a:rPr sz="1100" b="1" i="0">
                          <a:solidFill>
                            <a:srgbClr val="00E5D4"/>
                          </a:solidFill>
                          <a:latin typeface="Times New Roman"/>
                          <a:ea typeface="Times New Roman"/>
                          <a:cs typeface="Times New Roman"/>
                        </a:rPr>
                        <a:t>Pros: </a:t>
                      </a:r>
                      <a:r>
                        <a:rPr sz="1100" b="0" i="0">
                          <a:solidFill>
                            <a:srgbClr val="FFFFFF"/>
                          </a:solidFill>
                          <a:latin typeface="Times New Roman"/>
                          <a:ea typeface="Times New Roman"/>
                          <a:cs typeface="Times New Roman"/>
                        </a:rPr>
                        <a:t>Covers major detection methods; explains detection requirements; compares method sensitivity.</a:t>
                      </a:r>
                    </a:p>
                    <a:p>
                      <a:pPr algn="l"/>
                      <a:r>
                        <a:rPr sz="1100" b="1" i="0">
                          <a:solidFill>
                            <a:srgbClr val="00E5D4"/>
                          </a:solidFill>
                          <a:latin typeface="Times New Roman"/>
                          <a:ea typeface="Times New Roman"/>
                          <a:cs typeface="Times New Roman"/>
                        </a:rPr>
                        <a:t>Cons: </a:t>
                      </a:r>
                      <a:r>
                        <a:rPr sz="1100" b="0" i="0">
                          <a:solidFill>
                            <a:srgbClr val="FFFFFF"/>
                          </a:solidFill>
                          <a:latin typeface="Times New Roman"/>
                          <a:ea typeface="Times New Roman"/>
                          <a:cs typeface="Times New Roman"/>
                        </a:rPr>
                        <a:t>Broad review; less focus on AI/ML; does not provide a new detection model.</a:t>
                      </a:r>
                    </a:p>
                  </a:txBody>
                  <a:tcPr>
                    <a:lnL w="6480">
                      <a:solidFill>
                        <a:srgbClr val="2C4C8C"/>
                      </a:solidFill>
                      <a:prstDash val="solid"/>
                    </a:lnL>
                    <a:lnR w="6480">
                      <a:solidFill>
                        <a:srgbClr val="2C4C8C"/>
                      </a:solidFill>
                      <a:prstDash val="solid"/>
                    </a:lnR>
                    <a:lnT w="6480">
                      <a:solidFill>
                        <a:srgbClr val="2C4C8C"/>
                      </a:solidFill>
                      <a:prstDash val="solid"/>
                    </a:lnT>
                    <a:lnB w="6480">
                      <a:solidFill>
                        <a:srgbClr val="2C4C8C"/>
                      </a:solidFill>
                      <a:prstDash val="solid"/>
                    </a:lnB>
                    <a:solidFill>
                      <a:srgbClr val="2F5296"/>
                    </a:solidFill>
                  </a:tcPr>
                </a:tc>
                <a:extLst>
                  <a:ext uri="{0D108BD9-81ED-4DB2-BD59-A6C34878D82A}">
                    <a16:rowId xmlns:a16="http://schemas.microsoft.com/office/drawing/2014/main" val="10004"/>
                  </a:ext>
                </a:extLst>
              </a:tr>
            </a:tbl>
          </a:graphicData>
        </a:graphic>
      </p:graphicFrame>
      <p:sp>
        <p:nvSpPr>
          <p:cNvPr id="5"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6"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11</a:t>
            </a:r>
          </a:p>
        </p:txBody>
      </p:sp>
      <p:sp>
        <p:nvSpPr>
          <p:cNvPr id="7"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8"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9"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10"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11"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MODULES AND METHODOLOGIES</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dirty="0">
                <a:solidFill>
                  <a:srgbClr val="FFFFFF"/>
                </a:solidFill>
                <a:latin typeface="Times New Roman"/>
                <a:ea typeface="Times New Roman"/>
                <a:cs typeface="Times New Roman"/>
              </a:rPr>
              <a:t>Modules</a:t>
            </a:r>
          </a:p>
        </p:txBody>
      </p:sp>
      <p:sp>
        <p:nvSpPr>
          <p:cNvPr id="4" name="Badge"/>
          <p:cNvSpPr/>
          <p:nvPr/>
        </p:nvSpPr>
        <p:spPr>
          <a:xfrm>
            <a:off x="9646920" y="768096"/>
            <a:ext cx="1417320" cy="329184"/>
          </a:xfrm>
          <a:prstGeom prst="roundRect">
            <a:avLst>
              <a:gd name="adj" fmla="val 50000"/>
            </a:avLst>
          </a:prstGeom>
          <a:solidFill>
            <a:srgbClr val="FF7A5C"/>
          </a:solidFill>
          <a:ln>
            <a:noFill/>
          </a:ln>
        </p:spPr>
        <p:txBody>
          <a:bodyPr wrap="square" lIns="18288" tIns="18288" rIns="18288" bIns="18288" rtlCol="0" anchor="ctr"/>
          <a:lstStyle/>
          <a:p>
            <a:pPr algn="ctr"/>
            <a:r>
              <a:rPr sz="1000" b="1" i="0" spc="120">
                <a:solidFill>
                  <a:srgbClr val="FFFFFF"/>
                </a:solidFill>
                <a:latin typeface="Times New Roman"/>
                <a:ea typeface="Times New Roman"/>
                <a:cs typeface="Times New Roman"/>
              </a:rPr>
              <a:t>9 AGENTS</a:t>
            </a:r>
          </a:p>
        </p:txBody>
      </p:sp>
      <p:sp>
        <p:nvSpPr>
          <p:cNvPr id="5" name="Card"/>
          <p:cNvSpPr/>
          <p:nvPr/>
        </p:nvSpPr>
        <p:spPr>
          <a:xfrm>
            <a:off x="548640" y="141732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6" name="Icon"/>
          <p:cNvSpPr/>
          <p:nvPr/>
        </p:nvSpPr>
        <p:spPr>
          <a:xfrm>
            <a:off x="731520" y="160020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01</a:t>
            </a:r>
          </a:p>
        </p:txBody>
      </p:sp>
      <p:sp>
        <p:nvSpPr>
          <p:cNvPr id="7" name="CardTitle"/>
          <p:cNvSpPr txBox="1"/>
          <p:nvPr/>
        </p:nvSpPr>
        <p:spPr>
          <a:xfrm>
            <a:off x="1298448" y="154533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Orchestrator Agent</a:t>
            </a:r>
          </a:p>
        </p:txBody>
      </p:sp>
      <p:sp>
        <p:nvSpPr>
          <p:cNvPr id="8" name="CardBody"/>
          <p:cNvSpPr txBox="1"/>
          <p:nvPr/>
        </p:nvSpPr>
        <p:spPr>
          <a:xfrm>
            <a:off x="731520" y="216712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Coordinates every stage and logs the full pipeline run.</a:t>
            </a:r>
          </a:p>
        </p:txBody>
      </p:sp>
      <p:sp>
        <p:nvSpPr>
          <p:cNvPr id="9" name="Card"/>
          <p:cNvSpPr/>
          <p:nvPr/>
        </p:nvSpPr>
        <p:spPr>
          <a:xfrm>
            <a:off x="4297679" y="141732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10" name="Icon"/>
          <p:cNvSpPr/>
          <p:nvPr/>
        </p:nvSpPr>
        <p:spPr>
          <a:xfrm>
            <a:off x="4480559" y="160020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02</a:t>
            </a:r>
          </a:p>
        </p:txBody>
      </p:sp>
      <p:sp>
        <p:nvSpPr>
          <p:cNvPr id="11" name="CardTitle"/>
          <p:cNvSpPr txBox="1"/>
          <p:nvPr/>
        </p:nvSpPr>
        <p:spPr>
          <a:xfrm>
            <a:off x="5047488" y="154533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Data Acquisition Agent</a:t>
            </a:r>
          </a:p>
        </p:txBody>
      </p:sp>
      <p:sp>
        <p:nvSpPr>
          <p:cNvPr id="12" name="CardBody"/>
          <p:cNvSpPr txBox="1"/>
          <p:nvPr/>
        </p:nvSpPr>
        <p:spPr>
          <a:xfrm>
            <a:off x="4480559" y="216712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Downloads TESS FITS light curves and reference catalogs.</a:t>
            </a:r>
          </a:p>
        </p:txBody>
      </p:sp>
      <p:sp>
        <p:nvSpPr>
          <p:cNvPr id="13" name="Card"/>
          <p:cNvSpPr/>
          <p:nvPr/>
        </p:nvSpPr>
        <p:spPr>
          <a:xfrm>
            <a:off x="8046719" y="141732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8229599" y="160020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03</a:t>
            </a:r>
          </a:p>
        </p:txBody>
      </p:sp>
      <p:sp>
        <p:nvSpPr>
          <p:cNvPr id="15" name="CardTitle"/>
          <p:cNvSpPr txBox="1"/>
          <p:nvPr/>
        </p:nvSpPr>
        <p:spPr>
          <a:xfrm>
            <a:off x="8796528" y="154533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Preprocessing Agent</a:t>
            </a:r>
          </a:p>
        </p:txBody>
      </p:sp>
      <p:sp>
        <p:nvSpPr>
          <p:cNvPr id="16" name="CardBody"/>
          <p:cNvSpPr txBox="1"/>
          <p:nvPr/>
        </p:nvSpPr>
        <p:spPr>
          <a:xfrm>
            <a:off x="8229599" y="216712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Cleans, normalizes and detrends every light curve.</a:t>
            </a:r>
          </a:p>
        </p:txBody>
      </p:sp>
      <p:sp>
        <p:nvSpPr>
          <p:cNvPr id="17" name="Card"/>
          <p:cNvSpPr/>
          <p:nvPr/>
        </p:nvSpPr>
        <p:spPr>
          <a:xfrm>
            <a:off x="548640" y="306324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18" name="Icon"/>
          <p:cNvSpPr/>
          <p:nvPr/>
        </p:nvSpPr>
        <p:spPr>
          <a:xfrm>
            <a:off x="731520" y="324612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04</a:t>
            </a:r>
          </a:p>
        </p:txBody>
      </p:sp>
      <p:sp>
        <p:nvSpPr>
          <p:cNvPr id="19" name="CardTitle"/>
          <p:cNvSpPr txBox="1"/>
          <p:nvPr/>
        </p:nvSpPr>
        <p:spPr>
          <a:xfrm>
            <a:off x="1298448" y="319125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Transit Detection Agent</a:t>
            </a:r>
          </a:p>
        </p:txBody>
      </p:sp>
      <p:sp>
        <p:nvSpPr>
          <p:cNvPr id="20" name="CardBody"/>
          <p:cNvSpPr txBox="1"/>
          <p:nvPr/>
        </p:nvSpPr>
        <p:spPr>
          <a:xfrm>
            <a:off x="731520" y="381304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Runs a BLS / TLS search to find repeating dip signals.</a:t>
            </a:r>
          </a:p>
        </p:txBody>
      </p:sp>
      <p:sp>
        <p:nvSpPr>
          <p:cNvPr id="21" name="Card"/>
          <p:cNvSpPr/>
          <p:nvPr/>
        </p:nvSpPr>
        <p:spPr>
          <a:xfrm>
            <a:off x="4297679" y="306324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22" name="Icon"/>
          <p:cNvSpPr/>
          <p:nvPr/>
        </p:nvSpPr>
        <p:spPr>
          <a:xfrm>
            <a:off x="4480559" y="324612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05</a:t>
            </a:r>
          </a:p>
        </p:txBody>
      </p:sp>
      <p:sp>
        <p:nvSpPr>
          <p:cNvPr id="23" name="CardTitle"/>
          <p:cNvSpPr txBox="1"/>
          <p:nvPr/>
        </p:nvSpPr>
        <p:spPr>
          <a:xfrm>
            <a:off x="5047488" y="319125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Feature Engineering Agent (GPU)</a:t>
            </a:r>
          </a:p>
        </p:txBody>
      </p:sp>
      <p:sp>
        <p:nvSpPr>
          <p:cNvPr id="24" name="CardBody"/>
          <p:cNvSpPr txBox="1"/>
          <p:nvPr/>
        </p:nvSpPr>
        <p:spPr>
          <a:xfrm>
            <a:off x="4480559" y="381304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Extracts 35+ features using CuPy / PyTorch acceleration.</a:t>
            </a:r>
          </a:p>
        </p:txBody>
      </p:sp>
      <p:sp>
        <p:nvSpPr>
          <p:cNvPr id="25" name="Card"/>
          <p:cNvSpPr/>
          <p:nvPr/>
        </p:nvSpPr>
        <p:spPr>
          <a:xfrm>
            <a:off x="8046719" y="306324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26" name="Icon"/>
          <p:cNvSpPr/>
          <p:nvPr/>
        </p:nvSpPr>
        <p:spPr>
          <a:xfrm>
            <a:off x="8229599" y="324612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06</a:t>
            </a:r>
          </a:p>
        </p:txBody>
      </p:sp>
      <p:sp>
        <p:nvSpPr>
          <p:cNvPr id="27" name="CardTitle"/>
          <p:cNvSpPr txBox="1"/>
          <p:nvPr/>
        </p:nvSpPr>
        <p:spPr>
          <a:xfrm>
            <a:off x="8796528" y="319125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Classification Agent</a:t>
            </a:r>
          </a:p>
        </p:txBody>
      </p:sp>
      <p:sp>
        <p:nvSpPr>
          <p:cNvPr id="28" name="CardBody"/>
          <p:cNvSpPr txBox="1"/>
          <p:nvPr/>
        </p:nvSpPr>
        <p:spPr>
          <a:xfrm>
            <a:off x="8229599" y="381304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Ensemble ML model assigns a calibrated planet probability.</a:t>
            </a:r>
          </a:p>
        </p:txBody>
      </p:sp>
      <p:sp>
        <p:nvSpPr>
          <p:cNvPr id="29" name="Card"/>
          <p:cNvSpPr/>
          <p:nvPr/>
        </p:nvSpPr>
        <p:spPr>
          <a:xfrm>
            <a:off x="548640" y="470916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30" name="Icon"/>
          <p:cNvSpPr/>
          <p:nvPr/>
        </p:nvSpPr>
        <p:spPr>
          <a:xfrm>
            <a:off x="731520" y="489204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07</a:t>
            </a:r>
          </a:p>
        </p:txBody>
      </p:sp>
      <p:sp>
        <p:nvSpPr>
          <p:cNvPr id="31" name="CardTitle"/>
          <p:cNvSpPr txBox="1"/>
          <p:nvPr/>
        </p:nvSpPr>
        <p:spPr>
          <a:xfrm>
            <a:off x="1298448" y="483717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Parameter Fitting Agent</a:t>
            </a:r>
          </a:p>
        </p:txBody>
      </p:sp>
      <p:sp>
        <p:nvSpPr>
          <p:cNvPr id="32" name="CardBody"/>
          <p:cNvSpPr txBox="1"/>
          <p:nvPr/>
        </p:nvSpPr>
        <p:spPr>
          <a:xfrm>
            <a:off x="731520" y="545896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Estimates orbital parameters via batman + emcee MCMC.</a:t>
            </a:r>
          </a:p>
        </p:txBody>
      </p:sp>
      <p:sp>
        <p:nvSpPr>
          <p:cNvPr id="33" name="Card"/>
          <p:cNvSpPr/>
          <p:nvPr/>
        </p:nvSpPr>
        <p:spPr>
          <a:xfrm>
            <a:off x="4297679" y="470916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34" name="Icon"/>
          <p:cNvSpPr/>
          <p:nvPr/>
        </p:nvSpPr>
        <p:spPr>
          <a:xfrm>
            <a:off x="4480559" y="489204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08</a:t>
            </a:r>
          </a:p>
        </p:txBody>
      </p:sp>
      <p:sp>
        <p:nvSpPr>
          <p:cNvPr id="35" name="CardTitle"/>
          <p:cNvSpPr txBox="1"/>
          <p:nvPr/>
        </p:nvSpPr>
        <p:spPr>
          <a:xfrm>
            <a:off x="5047488" y="483717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Active Learning Agent</a:t>
            </a:r>
          </a:p>
        </p:txBody>
      </p:sp>
      <p:sp>
        <p:nvSpPr>
          <p:cNvPr id="36" name="CardBody"/>
          <p:cNvSpPr txBox="1"/>
          <p:nvPr/>
        </p:nvSpPr>
        <p:spPr>
          <a:xfrm>
            <a:off x="4480559" y="545896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Sends unsure candidates to a human and retrains on new labels.</a:t>
            </a:r>
          </a:p>
        </p:txBody>
      </p:sp>
      <p:sp>
        <p:nvSpPr>
          <p:cNvPr id="37" name="Card"/>
          <p:cNvSpPr/>
          <p:nvPr/>
        </p:nvSpPr>
        <p:spPr>
          <a:xfrm>
            <a:off x="8046719" y="4709160"/>
            <a:ext cx="3566160" cy="1481328"/>
          </a:xfrm>
          <a:prstGeom prst="roundRect">
            <a:avLst>
              <a:gd name="adj" fmla="val 5555"/>
            </a:avLst>
          </a:prstGeom>
          <a:solidFill>
            <a:srgbClr val="FFFFFF"/>
          </a:solidFill>
          <a:ln w="12700">
            <a:solidFill>
              <a:srgbClr val="2C4C8C"/>
            </a:solidFill>
          </a:ln>
        </p:spPr>
        <p:txBody>
          <a:bodyPr rtlCol="0" anchor="ctr"/>
          <a:lstStyle/>
          <a:p>
            <a:pPr algn="ctr"/>
            <a:endParaRPr/>
          </a:p>
        </p:txBody>
      </p:sp>
      <p:sp>
        <p:nvSpPr>
          <p:cNvPr id="38" name="Icon"/>
          <p:cNvSpPr/>
          <p:nvPr/>
        </p:nvSpPr>
        <p:spPr>
          <a:xfrm>
            <a:off x="8229599" y="4892040"/>
            <a:ext cx="457200" cy="457200"/>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09</a:t>
            </a:r>
          </a:p>
        </p:txBody>
      </p:sp>
      <p:sp>
        <p:nvSpPr>
          <p:cNvPr id="39" name="CardTitle"/>
          <p:cNvSpPr txBox="1"/>
          <p:nvPr/>
        </p:nvSpPr>
        <p:spPr>
          <a:xfrm>
            <a:off x="8796528" y="4837176"/>
            <a:ext cx="2670048" cy="566928"/>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Reporting Agent</a:t>
            </a:r>
          </a:p>
        </p:txBody>
      </p:sp>
      <p:sp>
        <p:nvSpPr>
          <p:cNvPr id="40" name="CardBody"/>
          <p:cNvSpPr txBox="1"/>
          <p:nvPr/>
        </p:nvSpPr>
        <p:spPr>
          <a:xfrm>
            <a:off x="8229599" y="5458968"/>
            <a:ext cx="3200400" cy="640080"/>
          </a:xfrm>
          <a:prstGeom prst="rect">
            <a:avLst/>
          </a:prstGeom>
          <a:noFill/>
        </p:spPr>
        <p:txBody>
          <a:bodyPr wrap="square" lIns="45720" rIns="45720" anchor="t">
            <a:spAutoFit/>
          </a:bodyPr>
          <a:lstStyle/>
          <a:p>
            <a:pPr algn="l"/>
            <a:r>
              <a:rPr sz="1300" b="0" i="0">
                <a:solidFill>
                  <a:srgbClr val="000000"/>
                </a:solidFill>
                <a:latin typeface="Times New Roman"/>
                <a:ea typeface="Times New Roman"/>
                <a:cs typeface="Times New Roman"/>
              </a:rPr>
              <a:t>Generates plots, the candidate catalog and the final report.</a:t>
            </a:r>
          </a:p>
        </p:txBody>
      </p:sp>
      <p:sp>
        <p:nvSpPr>
          <p:cNvPr id="41"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42"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12</a:t>
            </a:r>
          </a:p>
        </p:txBody>
      </p:sp>
      <p:sp>
        <p:nvSpPr>
          <p:cNvPr id="43"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44"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45"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46"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47"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MODULES AND METHODOLOGIES</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Methodology</a:t>
            </a:r>
          </a:p>
        </p:txBody>
      </p:sp>
      <p:sp>
        <p:nvSpPr>
          <p:cNvPr id="4" name="Card"/>
          <p:cNvSpPr/>
          <p:nvPr/>
        </p:nvSpPr>
        <p:spPr>
          <a:xfrm>
            <a:off x="548640" y="1463040"/>
            <a:ext cx="2423160" cy="1097280"/>
          </a:xfrm>
          <a:prstGeom prst="roundRect">
            <a:avLst>
              <a:gd name="adj" fmla="val 7500"/>
            </a:avLst>
          </a:prstGeom>
          <a:solidFill>
            <a:srgbClr val="FFFFFF"/>
          </a:solidFill>
          <a:ln w="12700">
            <a:solidFill>
              <a:srgbClr val="2C4C8C"/>
            </a:solidFill>
          </a:ln>
        </p:spPr>
        <p:txBody>
          <a:bodyPr rtlCol="0" anchor="ctr"/>
          <a:lstStyle/>
          <a:p>
            <a:pPr algn="ctr"/>
            <a:endParaRPr/>
          </a:p>
        </p:txBody>
      </p:sp>
      <p:sp>
        <p:nvSpPr>
          <p:cNvPr id="5" name="Icon"/>
          <p:cNvSpPr/>
          <p:nvPr/>
        </p:nvSpPr>
        <p:spPr>
          <a:xfrm>
            <a:off x="713232" y="1792224"/>
            <a:ext cx="438912" cy="43891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01</a:t>
            </a:r>
          </a:p>
        </p:txBody>
      </p:sp>
      <p:sp>
        <p:nvSpPr>
          <p:cNvPr id="6" name="TextBox 5"/>
          <p:cNvSpPr txBox="1"/>
          <p:nvPr/>
        </p:nvSpPr>
        <p:spPr>
          <a:xfrm>
            <a:off x="1243584" y="1517904"/>
            <a:ext cx="1636776" cy="987552"/>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TESS Data</a:t>
            </a:r>
          </a:p>
        </p:txBody>
      </p:sp>
      <p:sp>
        <p:nvSpPr>
          <p:cNvPr id="7" name="Card"/>
          <p:cNvSpPr/>
          <p:nvPr/>
        </p:nvSpPr>
        <p:spPr>
          <a:xfrm>
            <a:off x="3429000" y="1463040"/>
            <a:ext cx="2423160" cy="1097280"/>
          </a:xfrm>
          <a:prstGeom prst="roundRect">
            <a:avLst>
              <a:gd name="adj" fmla="val 7500"/>
            </a:avLst>
          </a:prstGeom>
          <a:solidFill>
            <a:srgbClr val="FFFFFF"/>
          </a:solidFill>
          <a:ln w="12700">
            <a:solidFill>
              <a:srgbClr val="2C4C8C"/>
            </a:solidFill>
          </a:ln>
        </p:spPr>
        <p:txBody>
          <a:bodyPr rtlCol="0" anchor="ctr"/>
          <a:lstStyle/>
          <a:p>
            <a:pPr algn="ctr"/>
            <a:endParaRPr/>
          </a:p>
        </p:txBody>
      </p:sp>
      <p:sp>
        <p:nvSpPr>
          <p:cNvPr id="8" name="Icon"/>
          <p:cNvSpPr/>
          <p:nvPr/>
        </p:nvSpPr>
        <p:spPr>
          <a:xfrm>
            <a:off x="3593592" y="1792224"/>
            <a:ext cx="438912" cy="43891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02</a:t>
            </a:r>
          </a:p>
        </p:txBody>
      </p:sp>
      <p:sp>
        <p:nvSpPr>
          <p:cNvPr id="9" name="TextBox 8"/>
          <p:cNvSpPr txBox="1"/>
          <p:nvPr/>
        </p:nvSpPr>
        <p:spPr>
          <a:xfrm>
            <a:off x="4123944" y="1517904"/>
            <a:ext cx="1636776" cy="987552"/>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Acquire</a:t>
            </a:r>
          </a:p>
        </p:txBody>
      </p:sp>
      <p:sp>
        <p:nvSpPr>
          <p:cNvPr id="10" name="Card"/>
          <p:cNvSpPr/>
          <p:nvPr/>
        </p:nvSpPr>
        <p:spPr>
          <a:xfrm>
            <a:off x="6309359" y="1463040"/>
            <a:ext cx="2423160" cy="1097280"/>
          </a:xfrm>
          <a:prstGeom prst="roundRect">
            <a:avLst>
              <a:gd name="adj" fmla="val 7500"/>
            </a:avLst>
          </a:prstGeom>
          <a:solidFill>
            <a:srgbClr val="FFFFFF"/>
          </a:solidFill>
          <a:ln w="12700">
            <a:solidFill>
              <a:srgbClr val="2C4C8C"/>
            </a:solidFill>
          </a:ln>
        </p:spPr>
        <p:txBody>
          <a:bodyPr rtlCol="0" anchor="ctr"/>
          <a:lstStyle/>
          <a:p>
            <a:pPr algn="ctr"/>
            <a:endParaRPr/>
          </a:p>
        </p:txBody>
      </p:sp>
      <p:sp>
        <p:nvSpPr>
          <p:cNvPr id="11" name="Icon"/>
          <p:cNvSpPr/>
          <p:nvPr/>
        </p:nvSpPr>
        <p:spPr>
          <a:xfrm>
            <a:off x="6473951" y="1792224"/>
            <a:ext cx="438912" cy="43891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03</a:t>
            </a:r>
          </a:p>
        </p:txBody>
      </p:sp>
      <p:sp>
        <p:nvSpPr>
          <p:cNvPr id="12" name="TextBox 11"/>
          <p:cNvSpPr txBox="1"/>
          <p:nvPr/>
        </p:nvSpPr>
        <p:spPr>
          <a:xfrm>
            <a:off x="7004303" y="1517904"/>
            <a:ext cx="1636776" cy="987552"/>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Preprocess &amp; Detrend</a:t>
            </a:r>
          </a:p>
        </p:txBody>
      </p:sp>
      <p:sp>
        <p:nvSpPr>
          <p:cNvPr id="13" name="Card"/>
          <p:cNvSpPr/>
          <p:nvPr/>
        </p:nvSpPr>
        <p:spPr>
          <a:xfrm>
            <a:off x="9189719" y="1463040"/>
            <a:ext cx="2423160" cy="1097280"/>
          </a:xfrm>
          <a:prstGeom prst="roundRect">
            <a:avLst>
              <a:gd name="adj" fmla="val 7500"/>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9354311" y="1792224"/>
            <a:ext cx="438912" cy="43891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04</a:t>
            </a:r>
          </a:p>
        </p:txBody>
      </p:sp>
      <p:sp>
        <p:nvSpPr>
          <p:cNvPr id="15" name="TextBox 14"/>
          <p:cNvSpPr txBox="1"/>
          <p:nvPr/>
        </p:nvSpPr>
        <p:spPr>
          <a:xfrm>
            <a:off x="9884663" y="1517904"/>
            <a:ext cx="1636776" cy="987552"/>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BLS/TLS Detect</a:t>
            </a:r>
          </a:p>
        </p:txBody>
      </p:sp>
      <p:sp>
        <p:nvSpPr>
          <p:cNvPr id="16" name="Card"/>
          <p:cNvSpPr/>
          <p:nvPr/>
        </p:nvSpPr>
        <p:spPr>
          <a:xfrm>
            <a:off x="9189719" y="3154680"/>
            <a:ext cx="2423160" cy="1097280"/>
          </a:xfrm>
          <a:prstGeom prst="roundRect">
            <a:avLst>
              <a:gd name="adj" fmla="val 7500"/>
            </a:avLst>
          </a:prstGeom>
          <a:solidFill>
            <a:srgbClr val="FFFFFF"/>
          </a:solidFill>
          <a:ln w="12700">
            <a:solidFill>
              <a:srgbClr val="2C4C8C"/>
            </a:solidFill>
          </a:ln>
        </p:spPr>
        <p:txBody>
          <a:bodyPr rtlCol="0" anchor="ctr"/>
          <a:lstStyle/>
          <a:p>
            <a:pPr algn="ctr"/>
            <a:endParaRPr/>
          </a:p>
        </p:txBody>
      </p:sp>
      <p:sp>
        <p:nvSpPr>
          <p:cNvPr id="17" name="Icon"/>
          <p:cNvSpPr/>
          <p:nvPr/>
        </p:nvSpPr>
        <p:spPr>
          <a:xfrm>
            <a:off x="9354311" y="3483864"/>
            <a:ext cx="438912" cy="43891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05</a:t>
            </a:r>
          </a:p>
        </p:txBody>
      </p:sp>
      <p:sp>
        <p:nvSpPr>
          <p:cNvPr id="18" name="TextBox 17"/>
          <p:cNvSpPr txBox="1"/>
          <p:nvPr/>
        </p:nvSpPr>
        <p:spPr>
          <a:xfrm>
            <a:off x="9884663" y="3209544"/>
            <a:ext cx="1636776" cy="987552"/>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GPU Feature Extraction</a:t>
            </a:r>
          </a:p>
        </p:txBody>
      </p:sp>
      <p:sp>
        <p:nvSpPr>
          <p:cNvPr id="19" name="Card"/>
          <p:cNvSpPr/>
          <p:nvPr/>
        </p:nvSpPr>
        <p:spPr>
          <a:xfrm>
            <a:off x="6309359" y="3154680"/>
            <a:ext cx="2423160" cy="1097280"/>
          </a:xfrm>
          <a:prstGeom prst="roundRect">
            <a:avLst>
              <a:gd name="adj" fmla="val 7500"/>
            </a:avLst>
          </a:prstGeom>
          <a:solidFill>
            <a:srgbClr val="FFFFFF"/>
          </a:solidFill>
          <a:ln w="12700">
            <a:solidFill>
              <a:srgbClr val="2C4C8C"/>
            </a:solidFill>
          </a:ln>
        </p:spPr>
        <p:txBody>
          <a:bodyPr rtlCol="0" anchor="ctr"/>
          <a:lstStyle/>
          <a:p>
            <a:pPr algn="ctr"/>
            <a:endParaRPr/>
          </a:p>
        </p:txBody>
      </p:sp>
      <p:sp>
        <p:nvSpPr>
          <p:cNvPr id="20" name="Icon"/>
          <p:cNvSpPr/>
          <p:nvPr/>
        </p:nvSpPr>
        <p:spPr>
          <a:xfrm>
            <a:off x="6473951" y="3483864"/>
            <a:ext cx="438912" cy="43891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06</a:t>
            </a:r>
          </a:p>
        </p:txBody>
      </p:sp>
      <p:sp>
        <p:nvSpPr>
          <p:cNvPr id="21" name="TextBox 20"/>
          <p:cNvSpPr txBox="1"/>
          <p:nvPr/>
        </p:nvSpPr>
        <p:spPr>
          <a:xfrm>
            <a:off x="7004303" y="3209544"/>
            <a:ext cx="1636776" cy="987552"/>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Ensemble Classify</a:t>
            </a:r>
          </a:p>
        </p:txBody>
      </p:sp>
      <p:sp>
        <p:nvSpPr>
          <p:cNvPr id="22" name="Card"/>
          <p:cNvSpPr/>
          <p:nvPr/>
        </p:nvSpPr>
        <p:spPr>
          <a:xfrm>
            <a:off x="3429000" y="3154680"/>
            <a:ext cx="2423160" cy="1097280"/>
          </a:xfrm>
          <a:prstGeom prst="roundRect">
            <a:avLst>
              <a:gd name="adj" fmla="val 7500"/>
            </a:avLst>
          </a:prstGeom>
          <a:solidFill>
            <a:srgbClr val="FFFFFF"/>
          </a:solidFill>
          <a:ln w="12700">
            <a:solidFill>
              <a:srgbClr val="2C4C8C"/>
            </a:solidFill>
          </a:ln>
        </p:spPr>
        <p:txBody>
          <a:bodyPr rtlCol="0" anchor="ctr"/>
          <a:lstStyle/>
          <a:p>
            <a:pPr algn="ctr"/>
            <a:endParaRPr/>
          </a:p>
        </p:txBody>
      </p:sp>
      <p:sp>
        <p:nvSpPr>
          <p:cNvPr id="23" name="Icon"/>
          <p:cNvSpPr/>
          <p:nvPr/>
        </p:nvSpPr>
        <p:spPr>
          <a:xfrm>
            <a:off x="3593592" y="3483864"/>
            <a:ext cx="438912" cy="43891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07</a:t>
            </a:r>
          </a:p>
        </p:txBody>
      </p:sp>
      <p:sp>
        <p:nvSpPr>
          <p:cNvPr id="24" name="TextBox 23"/>
          <p:cNvSpPr txBox="1"/>
          <p:nvPr/>
        </p:nvSpPr>
        <p:spPr>
          <a:xfrm>
            <a:off x="4123944" y="3209544"/>
            <a:ext cx="1636776" cy="987552"/>
          </a:xfrm>
          <a:prstGeom prst="rect">
            <a:avLst/>
          </a:prstGeom>
          <a:noFill/>
        </p:spPr>
        <p:txBody>
          <a:bodyPr wrap="square" lIns="45720" rIns="45720" anchor="ctr">
            <a:spAutoFit/>
          </a:bodyPr>
          <a:lstStyle/>
          <a:p>
            <a:pPr algn="l"/>
            <a:r>
              <a:rPr sz="1400" b="1" i="0">
                <a:solidFill>
                  <a:srgbClr val="000000"/>
                </a:solidFill>
                <a:latin typeface="Times New Roman"/>
                <a:ea typeface="Times New Roman"/>
                <a:cs typeface="Times New Roman"/>
              </a:rPr>
              <a:t>MCMC Parameter Fit</a:t>
            </a:r>
          </a:p>
        </p:txBody>
      </p:sp>
      <p:sp>
        <p:nvSpPr>
          <p:cNvPr id="25" name="Card"/>
          <p:cNvSpPr/>
          <p:nvPr/>
        </p:nvSpPr>
        <p:spPr>
          <a:xfrm>
            <a:off x="548640" y="3154680"/>
            <a:ext cx="2423160" cy="1097280"/>
          </a:xfrm>
          <a:prstGeom prst="roundRect">
            <a:avLst>
              <a:gd name="adj" fmla="val 7500"/>
            </a:avLst>
          </a:prstGeom>
          <a:solidFill>
            <a:srgbClr val="2F5296"/>
          </a:solidFill>
          <a:ln w="12700">
            <a:solidFill>
              <a:srgbClr val="2C4C8C"/>
            </a:solidFill>
          </a:ln>
        </p:spPr>
        <p:txBody>
          <a:bodyPr rtlCol="0" anchor="ctr"/>
          <a:lstStyle/>
          <a:p>
            <a:pPr algn="ctr"/>
            <a:endParaRPr/>
          </a:p>
        </p:txBody>
      </p:sp>
      <p:sp>
        <p:nvSpPr>
          <p:cNvPr id="26" name="Icon"/>
          <p:cNvSpPr/>
          <p:nvPr/>
        </p:nvSpPr>
        <p:spPr>
          <a:xfrm>
            <a:off x="713232" y="3483864"/>
            <a:ext cx="438912" cy="438912"/>
          </a:xfrm>
          <a:prstGeom prst="ellipse">
            <a:avLst/>
          </a:prstGeom>
          <a:solidFill>
            <a:srgbClr val="3A5FA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08</a:t>
            </a:r>
          </a:p>
        </p:txBody>
      </p:sp>
      <p:sp>
        <p:nvSpPr>
          <p:cNvPr id="27" name="TextBox 26"/>
          <p:cNvSpPr txBox="1"/>
          <p:nvPr/>
        </p:nvSpPr>
        <p:spPr>
          <a:xfrm>
            <a:off x="1243584" y="3209544"/>
            <a:ext cx="1636776" cy="987552"/>
          </a:xfrm>
          <a:prstGeom prst="rect">
            <a:avLst/>
          </a:prstGeom>
          <a:noFill/>
        </p:spPr>
        <p:txBody>
          <a:bodyPr wrap="square" lIns="45720" rIns="45720" anchor="ctr">
            <a:spAutoFit/>
          </a:bodyPr>
          <a:lstStyle/>
          <a:p>
            <a:pPr algn="l"/>
            <a:r>
              <a:rPr sz="1400" b="1" i="0">
                <a:solidFill>
                  <a:srgbClr val="FFFFFF"/>
                </a:solidFill>
                <a:latin typeface="Times New Roman"/>
                <a:ea typeface="Times New Roman"/>
                <a:cs typeface="Times New Roman"/>
              </a:rPr>
              <a:t>Visualize &amp; Report</a:t>
            </a:r>
          </a:p>
        </p:txBody>
      </p:sp>
      <p:sp>
        <p:nvSpPr>
          <p:cNvPr id="28" name="Arrow"/>
          <p:cNvSpPr/>
          <p:nvPr/>
        </p:nvSpPr>
        <p:spPr>
          <a:xfrm>
            <a:off x="3072384" y="1892807"/>
            <a:ext cx="256032" cy="237744"/>
          </a:xfrm>
          <a:prstGeom prst="rightArrow">
            <a:avLst/>
          </a:prstGeom>
          <a:solidFill>
            <a:srgbClr val="FFFFFF"/>
          </a:solidFill>
          <a:ln>
            <a:noFill/>
          </a:ln>
        </p:spPr>
        <p:txBody>
          <a:bodyPr rtlCol="0" anchor="ctr"/>
          <a:lstStyle/>
          <a:p>
            <a:pPr algn="ctr"/>
            <a:endParaRPr/>
          </a:p>
        </p:txBody>
      </p:sp>
      <p:sp>
        <p:nvSpPr>
          <p:cNvPr id="29" name="Arrow"/>
          <p:cNvSpPr/>
          <p:nvPr/>
        </p:nvSpPr>
        <p:spPr>
          <a:xfrm>
            <a:off x="5952744" y="1892807"/>
            <a:ext cx="256032" cy="237744"/>
          </a:xfrm>
          <a:prstGeom prst="rightArrow">
            <a:avLst/>
          </a:prstGeom>
          <a:solidFill>
            <a:srgbClr val="FFFFFF"/>
          </a:solidFill>
          <a:ln>
            <a:noFill/>
          </a:ln>
        </p:spPr>
        <p:txBody>
          <a:bodyPr rtlCol="0" anchor="ctr"/>
          <a:lstStyle/>
          <a:p>
            <a:pPr algn="ctr"/>
            <a:endParaRPr/>
          </a:p>
        </p:txBody>
      </p:sp>
      <p:sp>
        <p:nvSpPr>
          <p:cNvPr id="30" name="Arrow"/>
          <p:cNvSpPr/>
          <p:nvPr/>
        </p:nvSpPr>
        <p:spPr>
          <a:xfrm>
            <a:off x="8833103" y="1892807"/>
            <a:ext cx="256032" cy="237744"/>
          </a:xfrm>
          <a:prstGeom prst="rightArrow">
            <a:avLst/>
          </a:prstGeom>
          <a:solidFill>
            <a:srgbClr val="FFFFFF"/>
          </a:solidFill>
          <a:ln>
            <a:noFill/>
          </a:ln>
        </p:spPr>
        <p:txBody>
          <a:bodyPr rtlCol="0" anchor="ctr"/>
          <a:lstStyle/>
          <a:p>
            <a:pPr algn="ctr"/>
            <a:endParaRPr/>
          </a:p>
        </p:txBody>
      </p:sp>
      <p:sp>
        <p:nvSpPr>
          <p:cNvPr id="31" name="Arrow"/>
          <p:cNvSpPr/>
          <p:nvPr/>
        </p:nvSpPr>
        <p:spPr>
          <a:xfrm>
            <a:off x="10282427" y="2670048"/>
            <a:ext cx="237744" cy="365760"/>
          </a:xfrm>
          <a:prstGeom prst="downArrow">
            <a:avLst/>
          </a:prstGeom>
          <a:solidFill>
            <a:srgbClr val="FFFFFF"/>
          </a:solidFill>
          <a:ln>
            <a:noFill/>
          </a:ln>
        </p:spPr>
        <p:txBody>
          <a:bodyPr rtlCol="0" anchor="ctr"/>
          <a:lstStyle/>
          <a:p>
            <a:pPr algn="ctr"/>
            <a:endParaRPr/>
          </a:p>
        </p:txBody>
      </p:sp>
      <p:sp>
        <p:nvSpPr>
          <p:cNvPr id="32" name="Arrow"/>
          <p:cNvSpPr/>
          <p:nvPr/>
        </p:nvSpPr>
        <p:spPr>
          <a:xfrm>
            <a:off x="8833103" y="3584448"/>
            <a:ext cx="256032" cy="237744"/>
          </a:xfrm>
          <a:prstGeom prst="leftArrow">
            <a:avLst/>
          </a:prstGeom>
          <a:solidFill>
            <a:srgbClr val="FFFFFF"/>
          </a:solidFill>
          <a:ln>
            <a:noFill/>
          </a:ln>
        </p:spPr>
        <p:txBody>
          <a:bodyPr rtlCol="0" anchor="ctr"/>
          <a:lstStyle/>
          <a:p>
            <a:pPr algn="ctr"/>
            <a:endParaRPr/>
          </a:p>
        </p:txBody>
      </p:sp>
      <p:sp>
        <p:nvSpPr>
          <p:cNvPr id="33" name="Arrow"/>
          <p:cNvSpPr/>
          <p:nvPr/>
        </p:nvSpPr>
        <p:spPr>
          <a:xfrm>
            <a:off x="5952744" y="3584448"/>
            <a:ext cx="256032" cy="237744"/>
          </a:xfrm>
          <a:prstGeom prst="leftArrow">
            <a:avLst/>
          </a:prstGeom>
          <a:solidFill>
            <a:srgbClr val="FFFFFF"/>
          </a:solidFill>
          <a:ln>
            <a:noFill/>
          </a:ln>
        </p:spPr>
        <p:txBody>
          <a:bodyPr rtlCol="0" anchor="ctr"/>
          <a:lstStyle/>
          <a:p>
            <a:pPr algn="ctr"/>
            <a:endParaRPr/>
          </a:p>
        </p:txBody>
      </p:sp>
      <p:sp>
        <p:nvSpPr>
          <p:cNvPr id="34" name="Arrow"/>
          <p:cNvSpPr/>
          <p:nvPr/>
        </p:nvSpPr>
        <p:spPr>
          <a:xfrm>
            <a:off x="3072384" y="3584448"/>
            <a:ext cx="256032" cy="237744"/>
          </a:xfrm>
          <a:prstGeom prst="leftArrow">
            <a:avLst/>
          </a:prstGeom>
          <a:solidFill>
            <a:srgbClr val="FFFFFF"/>
          </a:solidFill>
          <a:ln>
            <a:noFill/>
          </a:ln>
        </p:spPr>
        <p:txBody>
          <a:bodyPr rtlCol="0" anchor="ctr"/>
          <a:lstStyle/>
          <a:p>
            <a:pPr algn="ctr"/>
            <a:endParaRPr/>
          </a:p>
        </p:txBody>
      </p:sp>
      <p:sp>
        <p:nvSpPr>
          <p:cNvPr id="35" name="Arrow"/>
          <p:cNvSpPr/>
          <p:nvPr/>
        </p:nvSpPr>
        <p:spPr>
          <a:xfrm>
            <a:off x="7228331" y="4361688"/>
            <a:ext cx="237744" cy="457200"/>
          </a:xfrm>
          <a:prstGeom prst="downArrow">
            <a:avLst/>
          </a:prstGeom>
          <a:solidFill>
            <a:srgbClr val="FF7A5C"/>
          </a:solidFill>
          <a:ln>
            <a:noFill/>
          </a:ln>
        </p:spPr>
        <p:txBody>
          <a:bodyPr rtlCol="0" anchor="ctr"/>
          <a:lstStyle/>
          <a:p>
            <a:pPr algn="ctr"/>
            <a:endParaRPr/>
          </a:p>
        </p:txBody>
      </p:sp>
      <p:sp>
        <p:nvSpPr>
          <p:cNvPr id="36" name="Arrow"/>
          <p:cNvSpPr/>
          <p:nvPr/>
        </p:nvSpPr>
        <p:spPr>
          <a:xfrm>
            <a:off x="7575804" y="4361688"/>
            <a:ext cx="237744" cy="457200"/>
          </a:xfrm>
          <a:prstGeom prst="upArrow">
            <a:avLst/>
          </a:prstGeom>
          <a:solidFill>
            <a:srgbClr val="FF7A5C"/>
          </a:solidFill>
          <a:ln>
            <a:noFill/>
          </a:ln>
        </p:spPr>
        <p:txBody>
          <a:bodyPr rtlCol="0" anchor="ctr"/>
          <a:lstStyle/>
          <a:p>
            <a:pPr algn="ctr"/>
            <a:endParaRPr/>
          </a:p>
        </p:txBody>
      </p:sp>
      <p:sp>
        <p:nvSpPr>
          <p:cNvPr id="37" name="Card"/>
          <p:cNvSpPr/>
          <p:nvPr/>
        </p:nvSpPr>
        <p:spPr>
          <a:xfrm>
            <a:off x="548640" y="4937760"/>
            <a:ext cx="11064240" cy="1005840"/>
          </a:xfrm>
          <a:prstGeom prst="roundRect">
            <a:avLst>
              <a:gd name="adj" fmla="val 8181"/>
            </a:avLst>
          </a:prstGeom>
          <a:solidFill>
            <a:srgbClr val="FFFFFF"/>
          </a:solidFill>
          <a:ln w="12700">
            <a:solidFill>
              <a:srgbClr val="2C4C8C"/>
            </a:solidFill>
          </a:ln>
        </p:spPr>
        <p:txBody>
          <a:bodyPr rtlCol="0" anchor="ctr"/>
          <a:lstStyle/>
          <a:p>
            <a:pPr algn="ctr"/>
            <a:endParaRPr/>
          </a:p>
        </p:txBody>
      </p:sp>
      <p:sp>
        <p:nvSpPr>
          <p:cNvPr id="38" name="Badge"/>
          <p:cNvSpPr/>
          <p:nvPr/>
        </p:nvSpPr>
        <p:spPr>
          <a:xfrm>
            <a:off x="749808" y="5276088"/>
            <a:ext cx="1737360" cy="329184"/>
          </a:xfrm>
          <a:prstGeom prst="roundRect">
            <a:avLst>
              <a:gd name="adj" fmla="val 50000"/>
            </a:avLst>
          </a:prstGeom>
          <a:solidFill>
            <a:srgbClr val="FF7A5C"/>
          </a:solidFill>
          <a:ln>
            <a:noFill/>
          </a:ln>
        </p:spPr>
        <p:txBody>
          <a:bodyPr wrap="square" lIns="18288" tIns="18288" rIns="18288" bIns="18288" rtlCol="0" anchor="ctr"/>
          <a:lstStyle/>
          <a:p>
            <a:pPr algn="ctr"/>
            <a:r>
              <a:rPr sz="1000" b="1" i="0" spc="120">
                <a:solidFill>
                  <a:srgbClr val="FFFFFF"/>
                </a:solidFill>
                <a:latin typeface="Times New Roman"/>
                <a:ea typeface="Times New Roman"/>
                <a:cs typeface="Times New Roman"/>
              </a:rPr>
              <a:t>FEEDBACK LOOP</a:t>
            </a:r>
          </a:p>
        </p:txBody>
      </p:sp>
      <p:sp>
        <p:nvSpPr>
          <p:cNvPr id="39" name="TextBox 38"/>
          <p:cNvSpPr txBox="1"/>
          <p:nvPr/>
        </p:nvSpPr>
        <p:spPr>
          <a:xfrm>
            <a:off x="2651760" y="4983480"/>
            <a:ext cx="8778240" cy="914400"/>
          </a:xfrm>
          <a:prstGeom prst="rect">
            <a:avLst/>
          </a:prstGeom>
          <a:noFill/>
        </p:spPr>
        <p:txBody>
          <a:bodyPr wrap="square" lIns="45720" rIns="45720" anchor="ctr">
            <a:spAutoFit/>
          </a:bodyPr>
          <a:lstStyle/>
          <a:p>
            <a:pPr algn="l"/>
            <a:r>
              <a:rPr sz="1500" b="1" i="0">
                <a:solidFill>
                  <a:srgbClr val="000000"/>
                </a:solidFill>
                <a:latin typeface="Times New Roman"/>
                <a:ea typeface="Times New Roman"/>
                <a:cs typeface="Times New Roman"/>
              </a:rPr>
              <a:t>Active Learning feeds unsure cases back into training</a:t>
            </a:r>
          </a:p>
        </p:txBody>
      </p:sp>
      <p:sp>
        <p:nvSpPr>
          <p:cNvPr id="40"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41"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13</a:t>
            </a:r>
          </a:p>
        </p:txBody>
      </p:sp>
      <p:sp>
        <p:nvSpPr>
          <p:cNvPr id="42"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43"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44"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45"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46"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ARCHITECTURE DIAGRAM</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LuNaVision AI — Multi-Agent Architecture</a:t>
            </a:r>
          </a:p>
        </p:txBody>
      </p:sp>
      <p:sp>
        <p:nvSpPr>
          <p:cNvPr id="4" name="Card"/>
          <p:cNvSpPr/>
          <p:nvPr/>
        </p:nvSpPr>
        <p:spPr>
          <a:xfrm>
            <a:off x="548640" y="1353312"/>
            <a:ext cx="11064240" cy="420624"/>
          </a:xfrm>
          <a:prstGeom prst="roundRect">
            <a:avLst>
              <a:gd name="adj" fmla="val 19565"/>
            </a:avLst>
          </a:prstGeom>
          <a:solidFill>
            <a:srgbClr val="2F5296"/>
          </a:solidFill>
          <a:ln w="12700">
            <a:solidFill>
              <a:srgbClr val="2C4C8C"/>
            </a:solidFill>
          </a:ln>
        </p:spPr>
        <p:txBody>
          <a:bodyPr wrap="square" lIns="27432" tIns="27432" rIns="27432" bIns="27432" rtlCol="0" anchor="ctr"/>
          <a:lstStyle/>
          <a:p>
            <a:pPr algn="ctr"/>
            <a:r>
              <a:rPr sz="1200" b="1" i="0" spc="100">
                <a:solidFill>
                  <a:srgbClr val="00E5D4"/>
                </a:solidFill>
                <a:latin typeface="Times New Roman"/>
                <a:ea typeface="Times New Roman"/>
                <a:cs typeface="Times New Roman"/>
              </a:rPr>
              <a:t>ORCHESTRATOR AGENT</a:t>
            </a:r>
            <a:r>
              <a:rPr sz="1200" b="1" i="0">
                <a:solidFill>
                  <a:srgbClr val="FFFFFF"/>
                </a:solidFill>
                <a:latin typeface="Times New Roman"/>
                <a:ea typeface="Times New Roman"/>
                <a:cs typeface="Times New Roman"/>
              </a:rPr>
              <a:t>   —   dispatches work, retries failures, enforces sequencing, logs every stage of the run</a:t>
            </a:r>
          </a:p>
        </p:txBody>
      </p:sp>
      <p:sp>
        <p:nvSpPr>
          <p:cNvPr id="5" name="Card"/>
          <p:cNvSpPr/>
          <p:nvPr/>
        </p:nvSpPr>
        <p:spPr>
          <a:xfrm>
            <a:off x="548640" y="1956816"/>
            <a:ext cx="2628900" cy="1920240"/>
          </a:xfrm>
          <a:prstGeom prst="roundRect">
            <a:avLst>
              <a:gd name="adj" fmla="val 4285"/>
            </a:avLst>
          </a:prstGeom>
          <a:solidFill>
            <a:srgbClr val="2F5296"/>
          </a:solidFill>
          <a:ln w="12700">
            <a:solidFill>
              <a:srgbClr val="2C4C8C"/>
            </a:solidFill>
          </a:ln>
        </p:spPr>
        <p:txBody>
          <a:bodyPr rtlCol="0" anchor="ctr"/>
          <a:lstStyle/>
          <a:p>
            <a:pPr algn="ctr"/>
            <a:endParaRPr/>
          </a:p>
        </p:txBody>
      </p:sp>
      <p:sp>
        <p:nvSpPr>
          <p:cNvPr id="6" name="TextBox 5"/>
          <p:cNvSpPr txBox="1"/>
          <p:nvPr/>
        </p:nvSpPr>
        <p:spPr>
          <a:xfrm>
            <a:off x="676656" y="2048256"/>
            <a:ext cx="2372868" cy="365760"/>
          </a:xfrm>
          <a:prstGeom prst="rect">
            <a:avLst/>
          </a:prstGeom>
          <a:noFill/>
        </p:spPr>
        <p:txBody>
          <a:bodyPr wrap="square" lIns="45720" rIns="45720" anchor="ctr">
            <a:spAutoFit/>
          </a:bodyPr>
          <a:lstStyle/>
          <a:p>
            <a:pPr algn="l"/>
            <a:r>
              <a:rPr sz="1100" b="1" i="0" spc="150">
                <a:solidFill>
                  <a:srgbClr val="00E5D4"/>
                </a:solidFill>
                <a:latin typeface="Times New Roman"/>
                <a:ea typeface="Times New Roman"/>
                <a:cs typeface="Times New Roman"/>
              </a:rPr>
              <a:t>DATA SOURCES</a:t>
            </a:r>
          </a:p>
        </p:txBody>
      </p:sp>
      <p:sp>
        <p:nvSpPr>
          <p:cNvPr id="7" name="TextBox 6"/>
          <p:cNvSpPr txBox="1"/>
          <p:nvPr/>
        </p:nvSpPr>
        <p:spPr>
          <a:xfrm>
            <a:off x="676656" y="2468880"/>
            <a:ext cx="2372868" cy="1316736"/>
          </a:xfrm>
          <a:prstGeom prst="rect">
            <a:avLst/>
          </a:prstGeom>
          <a:noFill/>
        </p:spPr>
        <p:txBody>
          <a:bodyPr wrap="square" lIns="45720" rIns="45720" anchor="t">
            <a:spAutoFit/>
          </a:bodyPr>
          <a:lstStyle/>
          <a:p>
            <a:pPr algn="l">
              <a:spcAft>
                <a:spcPts val="500"/>
              </a:spcAft>
            </a:pPr>
            <a:r>
              <a:rPr sz="1200" b="1" i="0">
                <a:solidFill>
                  <a:srgbClr val="FFFFFF"/>
                </a:solidFill>
                <a:latin typeface="Times New Roman"/>
                <a:ea typeface="Times New Roman"/>
                <a:cs typeface="Times New Roman"/>
              </a:rPr>
              <a:t>NASA MAST / TESS Archive</a:t>
            </a:r>
          </a:p>
          <a:p>
            <a:pPr algn="l">
              <a:spcAft>
                <a:spcPts val="500"/>
              </a:spcAft>
            </a:pPr>
            <a:r>
              <a:rPr sz="1150" b="0" i="0">
                <a:solidFill>
                  <a:srgbClr val="FFFFFF"/>
                </a:solidFill>
                <a:latin typeface="Times New Roman"/>
                <a:ea typeface="Times New Roman"/>
                <a:cs typeface="Times New Roman"/>
              </a:rPr>
              <a:t>ExoFOP-TESS TOI Catalog</a:t>
            </a:r>
          </a:p>
          <a:p>
            <a:pPr algn="l">
              <a:spcAft>
                <a:spcPts val="500"/>
              </a:spcAft>
            </a:pPr>
            <a:r>
              <a:rPr sz="1150" b="0" i="0">
                <a:solidFill>
                  <a:srgbClr val="FFFFFF"/>
                </a:solidFill>
                <a:latin typeface="Times New Roman"/>
                <a:ea typeface="Times New Roman"/>
                <a:cs typeface="Times New Roman"/>
              </a:rPr>
              <a:t>NASA Exoplanet Archive</a:t>
            </a:r>
          </a:p>
          <a:p>
            <a:pPr algn="l"/>
            <a:r>
              <a:rPr sz="1150" b="0" i="0">
                <a:solidFill>
                  <a:srgbClr val="FFFFFF"/>
                </a:solidFill>
                <a:latin typeface="Times New Roman"/>
                <a:ea typeface="Times New Roman"/>
                <a:cs typeface="Times New Roman"/>
              </a:rPr>
              <a:t>TESS SPOC TCE + TIC Catalog</a:t>
            </a:r>
          </a:p>
        </p:txBody>
      </p:sp>
      <p:sp>
        <p:nvSpPr>
          <p:cNvPr id="8" name="Card"/>
          <p:cNvSpPr/>
          <p:nvPr/>
        </p:nvSpPr>
        <p:spPr>
          <a:xfrm>
            <a:off x="3360420" y="1956816"/>
            <a:ext cx="2628900" cy="1920240"/>
          </a:xfrm>
          <a:prstGeom prst="roundRect">
            <a:avLst>
              <a:gd name="adj" fmla="val 4285"/>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3470148" y="2048256"/>
            <a:ext cx="347472" cy="34747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0</a:t>
            </a:r>
          </a:p>
        </p:txBody>
      </p:sp>
      <p:sp>
        <p:nvSpPr>
          <p:cNvPr id="10" name="TextBox 9"/>
          <p:cNvSpPr txBox="1"/>
          <p:nvPr/>
        </p:nvSpPr>
        <p:spPr>
          <a:xfrm>
            <a:off x="3872484" y="2029968"/>
            <a:ext cx="2043684" cy="384048"/>
          </a:xfrm>
          <a:prstGeom prst="rect">
            <a:avLst/>
          </a:prstGeom>
          <a:noFill/>
        </p:spPr>
        <p:txBody>
          <a:bodyPr wrap="square" lIns="45720" rIns="45720" anchor="ctr">
            <a:spAutoFit/>
          </a:bodyPr>
          <a:lstStyle/>
          <a:p>
            <a:pPr algn="l"/>
            <a:r>
              <a:rPr sz="1200" b="1" i="0">
                <a:solidFill>
                  <a:srgbClr val="2F5296"/>
                </a:solidFill>
                <a:latin typeface="Times New Roman"/>
                <a:ea typeface="Times New Roman"/>
                <a:cs typeface="Times New Roman"/>
              </a:rPr>
              <a:t>Setup &amp; Data Ingestion</a:t>
            </a:r>
          </a:p>
        </p:txBody>
      </p:sp>
      <p:sp>
        <p:nvSpPr>
          <p:cNvPr id="11" name="TextBox 10"/>
          <p:cNvSpPr txBox="1"/>
          <p:nvPr/>
        </p:nvSpPr>
        <p:spPr>
          <a:xfrm>
            <a:off x="3470148" y="2450592"/>
            <a:ext cx="2427732" cy="987552"/>
          </a:xfrm>
          <a:prstGeom prst="rect">
            <a:avLst/>
          </a:prstGeom>
          <a:noFill/>
        </p:spPr>
        <p:txBody>
          <a:bodyPr wrap="square" lIns="18288" tIns="18288" rIns="18288" bIns="18288" anchor="t">
            <a:spAutoFit/>
          </a:bodyPr>
          <a:lstStyle/>
          <a:p>
            <a:pPr algn="l">
              <a:spcAft>
                <a:spcPts val="250"/>
              </a:spcAft>
            </a:pPr>
            <a:r>
              <a:rPr sz="950" b="1" i="0">
                <a:solidFill>
                  <a:srgbClr val="000000"/>
                </a:solidFill>
                <a:latin typeface="Times New Roman"/>
                <a:ea typeface="Times New Roman"/>
                <a:cs typeface="Times New Roman"/>
              </a:rPr>
              <a:t>MAST + Catalogs:  </a:t>
            </a:r>
            <a:r>
              <a:rPr sz="950" b="0" i="0">
                <a:solidFill>
                  <a:srgbClr val="000000"/>
                </a:solidFill>
                <a:latin typeface="Times New Roman"/>
                <a:ea typeface="Times New Roman"/>
                <a:cs typeface="Times New Roman"/>
              </a:rPr>
              <a:t>astroquery pulls FITS, TOI, TCE &amp; TIC data</a:t>
            </a:r>
          </a:p>
          <a:p>
            <a:pPr algn="l">
              <a:spcAft>
                <a:spcPts val="250"/>
              </a:spcAft>
            </a:pPr>
            <a:r>
              <a:rPr sz="950" b="1" i="0">
                <a:solidFill>
                  <a:srgbClr val="000000"/>
                </a:solidFill>
                <a:latin typeface="Times New Roman"/>
                <a:ea typeface="Times New Roman"/>
                <a:cs typeface="Times New Roman"/>
              </a:rPr>
              <a:t>FITS Parsing:  </a:t>
            </a:r>
            <a:r>
              <a:rPr sz="950" b="0" i="0">
                <a:solidFill>
                  <a:srgbClr val="000000"/>
                </a:solidFill>
                <a:latin typeface="Times New Roman"/>
                <a:ea typeface="Times New Roman"/>
                <a:cs typeface="Times New Roman"/>
              </a:rPr>
              <a:t>astropy extracts time, flux, quality flags</a:t>
            </a:r>
          </a:p>
          <a:p>
            <a:pPr algn="l">
              <a:spcAft>
                <a:spcPts val="250"/>
              </a:spcAft>
            </a:pPr>
            <a:r>
              <a:rPr sz="950" b="1" i="0">
                <a:solidFill>
                  <a:srgbClr val="000000"/>
                </a:solidFill>
                <a:latin typeface="Times New Roman"/>
                <a:ea typeface="Times New Roman"/>
                <a:cs typeface="Times New Roman"/>
              </a:rPr>
              <a:t>Synthetic Injection:  </a:t>
            </a:r>
            <a:r>
              <a:rPr sz="950" b="0" i="0">
                <a:solidFill>
                  <a:srgbClr val="000000"/>
                </a:solidFill>
                <a:latin typeface="Times New Roman"/>
                <a:ea typeface="Times New Roman"/>
                <a:cs typeface="Times New Roman"/>
              </a:rPr>
              <a:t>batman injects transits to boost rare class</a:t>
            </a:r>
          </a:p>
        </p:txBody>
      </p:sp>
      <p:sp>
        <p:nvSpPr>
          <p:cNvPr id="12" name="Card"/>
          <p:cNvSpPr/>
          <p:nvPr/>
        </p:nvSpPr>
        <p:spPr>
          <a:xfrm>
            <a:off x="3451860" y="3456432"/>
            <a:ext cx="2446020" cy="347472"/>
          </a:xfrm>
          <a:prstGeom prst="roundRect">
            <a:avLst>
              <a:gd name="adj" fmla="val 23684"/>
            </a:avLst>
          </a:prstGeom>
          <a:solidFill>
            <a:srgbClr val="D7E1F5"/>
          </a:solidFill>
          <a:ln>
            <a:noFill/>
          </a:ln>
        </p:spPr>
        <p:txBody>
          <a:bodyPr wrap="square" lIns="27432" tIns="27432" rIns="27432" bIns="27432" rtlCol="0" anchor="ctr"/>
          <a:lstStyle/>
          <a:p>
            <a:pPr algn="ctr"/>
            <a:r>
              <a:rPr sz="900" b="1" i="0">
                <a:solidFill>
                  <a:srgbClr val="2F5296"/>
                </a:solidFill>
                <a:latin typeface="Times New Roman"/>
                <a:ea typeface="Times New Roman"/>
                <a:cs typeface="Times New Roman"/>
              </a:rPr>
              <a:t>OUTPUT:  </a:t>
            </a:r>
            <a:r>
              <a:rPr sz="900" b="1" i="0">
                <a:solidFill>
                  <a:srgbClr val="000000"/>
                </a:solidFill>
                <a:latin typeface="Times New Roman"/>
                <a:ea typeface="Times New Roman"/>
                <a:cs typeface="Times New Roman"/>
              </a:rPr>
              <a:t>Raw Light Curves + Manifest</a:t>
            </a:r>
          </a:p>
        </p:txBody>
      </p:sp>
      <p:sp>
        <p:nvSpPr>
          <p:cNvPr id="13" name="Card"/>
          <p:cNvSpPr/>
          <p:nvPr/>
        </p:nvSpPr>
        <p:spPr>
          <a:xfrm>
            <a:off x="6172200" y="1956816"/>
            <a:ext cx="2628900" cy="1920240"/>
          </a:xfrm>
          <a:prstGeom prst="roundRect">
            <a:avLst>
              <a:gd name="adj" fmla="val 4285"/>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6281928" y="2048256"/>
            <a:ext cx="347472" cy="34747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1</a:t>
            </a:r>
          </a:p>
        </p:txBody>
      </p:sp>
      <p:sp>
        <p:nvSpPr>
          <p:cNvPr id="15" name="TextBox 14"/>
          <p:cNvSpPr txBox="1"/>
          <p:nvPr/>
        </p:nvSpPr>
        <p:spPr>
          <a:xfrm>
            <a:off x="6684264" y="2029968"/>
            <a:ext cx="2043684" cy="384048"/>
          </a:xfrm>
          <a:prstGeom prst="rect">
            <a:avLst/>
          </a:prstGeom>
          <a:noFill/>
        </p:spPr>
        <p:txBody>
          <a:bodyPr wrap="square" lIns="45720" rIns="45720" anchor="ctr">
            <a:spAutoFit/>
          </a:bodyPr>
          <a:lstStyle/>
          <a:p>
            <a:pPr algn="l"/>
            <a:r>
              <a:rPr sz="1200" b="1" i="0">
                <a:solidFill>
                  <a:srgbClr val="2F5296"/>
                </a:solidFill>
                <a:latin typeface="Times New Roman"/>
                <a:ea typeface="Times New Roman"/>
                <a:cs typeface="Times New Roman"/>
              </a:rPr>
              <a:t>Preprocessing &amp; Detection</a:t>
            </a:r>
          </a:p>
        </p:txBody>
      </p:sp>
      <p:sp>
        <p:nvSpPr>
          <p:cNvPr id="16" name="TextBox 15"/>
          <p:cNvSpPr txBox="1"/>
          <p:nvPr/>
        </p:nvSpPr>
        <p:spPr>
          <a:xfrm>
            <a:off x="6281928" y="2450592"/>
            <a:ext cx="2427732" cy="987552"/>
          </a:xfrm>
          <a:prstGeom prst="rect">
            <a:avLst/>
          </a:prstGeom>
          <a:noFill/>
        </p:spPr>
        <p:txBody>
          <a:bodyPr wrap="square" lIns="18288" tIns="18288" rIns="18288" bIns="18288" anchor="t">
            <a:spAutoFit/>
          </a:bodyPr>
          <a:lstStyle/>
          <a:p>
            <a:pPr algn="l">
              <a:spcAft>
                <a:spcPts val="250"/>
              </a:spcAft>
            </a:pPr>
            <a:r>
              <a:rPr sz="950" b="1" i="0">
                <a:solidFill>
                  <a:srgbClr val="000000"/>
                </a:solidFill>
                <a:latin typeface="Times New Roman"/>
                <a:ea typeface="Times New Roman"/>
                <a:cs typeface="Times New Roman"/>
              </a:rPr>
              <a:t>Clean &amp; Detrend:  </a:t>
            </a:r>
            <a:r>
              <a:rPr sz="950" b="0" i="0">
                <a:solidFill>
                  <a:srgbClr val="000000"/>
                </a:solidFill>
                <a:latin typeface="Times New Roman"/>
                <a:ea typeface="Times New Roman"/>
                <a:cs typeface="Times New Roman"/>
              </a:rPr>
              <a:t>3σ sigma-clip → wotan biweight (0.75d)</a:t>
            </a:r>
          </a:p>
          <a:p>
            <a:pPr algn="l">
              <a:spcAft>
                <a:spcPts val="250"/>
              </a:spcAft>
            </a:pPr>
            <a:r>
              <a:rPr sz="950" b="1" i="0">
                <a:solidFill>
                  <a:srgbClr val="000000"/>
                </a:solidFill>
                <a:latin typeface="Times New Roman"/>
                <a:ea typeface="Times New Roman"/>
                <a:cs typeface="Times New Roman"/>
              </a:rPr>
              <a:t>Quality Gate:  </a:t>
            </a:r>
            <a:r>
              <a:rPr sz="950" b="0" i="0">
                <a:solidFill>
                  <a:srgbClr val="000000"/>
                </a:solidFill>
                <a:latin typeface="Times New Roman"/>
                <a:ea typeface="Times New Roman"/>
                <a:cs typeface="Times New Roman"/>
              </a:rPr>
              <a:t>drop &lt;13.5 days or noisy (&gt;5σ) targets</a:t>
            </a:r>
          </a:p>
          <a:p>
            <a:pPr algn="l">
              <a:spcAft>
                <a:spcPts val="250"/>
              </a:spcAft>
            </a:pPr>
            <a:r>
              <a:rPr sz="950" b="1" i="0">
                <a:solidFill>
                  <a:srgbClr val="000000"/>
                </a:solidFill>
                <a:latin typeface="Times New Roman"/>
                <a:ea typeface="Times New Roman"/>
                <a:cs typeface="Times New Roman"/>
              </a:rPr>
              <a:t>Period Search:  </a:t>
            </a:r>
            <a:r>
              <a:rPr sz="950" b="0" i="0">
                <a:solidFill>
                  <a:srgbClr val="000000"/>
                </a:solidFill>
                <a:latin typeface="Times New Roman"/>
                <a:ea typeface="Times New Roman"/>
                <a:cs typeface="Times New Roman"/>
              </a:rPr>
              <a:t>BLS/TLS scan finds repeating dips</a:t>
            </a:r>
          </a:p>
        </p:txBody>
      </p:sp>
      <p:sp>
        <p:nvSpPr>
          <p:cNvPr id="17" name="Card"/>
          <p:cNvSpPr/>
          <p:nvPr/>
        </p:nvSpPr>
        <p:spPr>
          <a:xfrm>
            <a:off x="6263640" y="3456432"/>
            <a:ext cx="2446020" cy="347472"/>
          </a:xfrm>
          <a:prstGeom prst="roundRect">
            <a:avLst>
              <a:gd name="adj" fmla="val 23684"/>
            </a:avLst>
          </a:prstGeom>
          <a:solidFill>
            <a:srgbClr val="D7E1F5"/>
          </a:solidFill>
          <a:ln>
            <a:noFill/>
          </a:ln>
        </p:spPr>
        <p:txBody>
          <a:bodyPr wrap="square" lIns="27432" tIns="27432" rIns="27432" bIns="27432" rtlCol="0" anchor="ctr"/>
          <a:lstStyle/>
          <a:p>
            <a:pPr algn="ctr"/>
            <a:r>
              <a:rPr sz="900" b="1" i="0">
                <a:solidFill>
                  <a:srgbClr val="2F5296"/>
                </a:solidFill>
                <a:latin typeface="Times New Roman"/>
                <a:ea typeface="Times New Roman"/>
                <a:cs typeface="Times New Roman"/>
              </a:rPr>
              <a:t>OUTPUT:  </a:t>
            </a:r>
            <a:r>
              <a:rPr sz="900" b="1" i="0">
                <a:solidFill>
                  <a:srgbClr val="000000"/>
                </a:solidFill>
                <a:latin typeface="Times New Roman"/>
                <a:ea typeface="Times New Roman"/>
                <a:cs typeface="Times New Roman"/>
              </a:rPr>
              <a:t>Candidate List (period, depth, SDE)</a:t>
            </a:r>
          </a:p>
        </p:txBody>
      </p:sp>
      <p:sp>
        <p:nvSpPr>
          <p:cNvPr id="18" name="Card"/>
          <p:cNvSpPr/>
          <p:nvPr/>
        </p:nvSpPr>
        <p:spPr>
          <a:xfrm>
            <a:off x="8983980" y="1956816"/>
            <a:ext cx="2628900" cy="1920240"/>
          </a:xfrm>
          <a:prstGeom prst="roundRect">
            <a:avLst>
              <a:gd name="adj" fmla="val 4285"/>
            </a:avLst>
          </a:prstGeom>
          <a:solidFill>
            <a:srgbClr val="FFFFFF"/>
          </a:solidFill>
          <a:ln w="12700">
            <a:solidFill>
              <a:srgbClr val="2C4C8C"/>
            </a:solidFill>
          </a:ln>
        </p:spPr>
        <p:txBody>
          <a:bodyPr rtlCol="0" anchor="ctr"/>
          <a:lstStyle/>
          <a:p>
            <a:pPr algn="ctr"/>
            <a:endParaRPr/>
          </a:p>
        </p:txBody>
      </p:sp>
      <p:sp>
        <p:nvSpPr>
          <p:cNvPr id="19" name="Icon"/>
          <p:cNvSpPr/>
          <p:nvPr/>
        </p:nvSpPr>
        <p:spPr>
          <a:xfrm>
            <a:off x="9093708" y="2048256"/>
            <a:ext cx="347472" cy="34747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2</a:t>
            </a:r>
          </a:p>
        </p:txBody>
      </p:sp>
      <p:sp>
        <p:nvSpPr>
          <p:cNvPr id="20" name="TextBox 19"/>
          <p:cNvSpPr txBox="1"/>
          <p:nvPr/>
        </p:nvSpPr>
        <p:spPr>
          <a:xfrm>
            <a:off x="9496044" y="2029968"/>
            <a:ext cx="2043684" cy="384048"/>
          </a:xfrm>
          <a:prstGeom prst="rect">
            <a:avLst/>
          </a:prstGeom>
          <a:noFill/>
        </p:spPr>
        <p:txBody>
          <a:bodyPr wrap="square" lIns="45720" rIns="45720" anchor="ctr">
            <a:spAutoFit/>
          </a:bodyPr>
          <a:lstStyle/>
          <a:p>
            <a:pPr algn="l"/>
            <a:r>
              <a:rPr sz="1200" b="1" i="0">
                <a:solidFill>
                  <a:srgbClr val="2F5296"/>
                </a:solidFill>
                <a:latin typeface="Times New Roman"/>
                <a:ea typeface="Times New Roman"/>
                <a:cs typeface="Times New Roman"/>
              </a:rPr>
              <a:t>Feature Engineering</a:t>
            </a:r>
          </a:p>
        </p:txBody>
      </p:sp>
      <p:sp>
        <p:nvSpPr>
          <p:cNvPr id="21" name="TextBox 20"/>
          <p:cNvSpPr txBox="1"/>
          <p:nvPr/>
        </p:nvSpPr>
        <p:spPr>
          <a:xfrm>
            <a:off x="9093708" y="2450592"/>
            <a:ext cx="2427732" cy="987552"/>
          </a:xfrm>
          <a:prstGeom prst="rect">
            <a:avLst/>
          </a:prstGeom>
          <a:noFill/>
        </p:spPr>
        <p:txBody>
          <a:bodyPr wrap="square" lIns="18288" tIns="18288" rIns="18288" bIns="18288" anchor="t">
            <a:spAutoFit/>
          </a:bodyPr>
          <a:lstStyle/>
          <a:p>
            <a:pPr algn="l">
              <a:spcAft>
                <a:spcPts val="250"/>
              </a:spcAft>
            </a:pPr>
            <a:r>
              <a:rPr sz="950" b="1" i="0">
                <a:solidFill>
                  <a:srgbClr val="000000"/>
                </a:solidFill>
                <a:latin typeface="Times New Roman"/>
                <a:ea typeface="Times New Roman"/>
                <a:cs typeface="Times New Roman"/>
              </a:rPr>
              <a:t>35+ Features:  </a:t>
            </a:r>
            <a:r>
              <a:rPr sz="950" b="0" i="0">
                <a:solidFill>
                  <a:srgbClr val="000000"/>
                </a:solidFill>
                <a:latin typeface="Times New Roman"/>
                <a:ea typeface="Times New Roman"/>
                <a:cs typeface="Times New Roman"/>
              </a:rPr>
              <a:t>geometry, shape, odd/even, stellar, stats</a:t>
            </a:r>
          </a:p>
          <a:p>
            <a:pPr algn="l">
              <a:spcAft>
                <a:spcPts val="250"/>
              </a:spcAft>
            </a:pPr>
            <a:r>
              <a:rPr sz="950" b="1" i="0">
                <a:solidFill>
                  <a:srgbClr val="000000"/>
                </a:solidFill>
                <a:latin typeface="Times New Roman"/>
                <a:ea typeface="Times New Roman"/>
                <a:cs typeface="Times New Roman"/>
              </a:rPr>
              <a:t>GPU Kernels:  </a:t>
            </a:r>
            <a:r>
              <a:rPr sz="950" b="0" i="0">
                <a:solidFill>
                  <a:srgbClr val="000000"/>
                </a:solidFill>
                <a:latin typeface="Times New Roman"/>
                <a:ea typeface="Times New Roman"/>
                <a:cs typeface="Times New Roman"/>
              </a:rPr>
              <a:t>CuPy + PyTorch, auto CPU fallback</a:t>
            </a:r>
          </a:p>
          <a:p>
            <a:pPr algn="l">
              <a:spcAft>
                <a:spcPts val="250"/>
              </a:spcAft>
            </a:pPr>
            <a:r>
              <a:rPr sz="950" b="1" i="0">
                <a:solidFill>
                  <a:srgbClr val="000000"/>
                </a:solidFill>
                <a:latin typeface="Times New Roman"/>
                <a:ea typeface="Times New Roman"/>
                <a:cs typeface="Times New Roman"/>
              </a:rPr>
              <a:t>Anti-Hang Guard:  </a:t>
            </a:r>
            <a:r>
              <a:rPr sz="950" b="0" i="0">
                <a:solidFill>
                  <a:srgbClr val="000000"/>
                </a:solidFill>
                <a:latin typeface="Times New Roman"/>
                <a:ea typeface="Times New Roman"/>
                <a:cs typeface="Times New Roman"/>
              </a:rPr>
              <a:t>timeouts, RAM checks, checkpointing</a:t>
            </a:r>
          </a:p>
        </p:txBody>
      </p:sp>
      <p:sp>
        <p:nvSpPr>
          <p:cNvPr id="22" name="Card"/>
          <p:cNvSpPr/>
          <p:nvPr/>
        </p:nvSpPr>
        <p:spPr>
          <a:xfrm>
            <a:off x="9075420" y="3456432"/>
            <a:ext cx="2446020" cy="347472"/>
          </a:xfrm>
          <a:prstGeom prst="roundRect">
            <a:avLst>
              <a:gd name="adj" fmla="val 23684"/>
            </a:avLst>
          </a:prstGeom>
          <a:solidFill>
            <a:srgbClr val="D7E1F5"/>
          </a:solidFill>
          <a:ln>
            <a:noFill/>
          </a:ln>
        </p:spPr>
        <p:txBody>
          <a:bodyPr wrap="square" lIns="27432" tIns="27432" rIns="27432" bIns="27432" rtlCol="0" anchor="ctr"/>
          <a:lstStyle/>
          <a:p>
            <a:pPr algn="ctr"/>
            <a:r>
              <a:rPr sz="900" b="1" i="0">
                <a:solidFill>
                  <a:srgbClr val="2F5296"/>
                </a:solidFill>
                <a:latin typeface="Times New Roman"/>
                <a:ea typeface="Times New Roman"/>
                <a:cs typeface="Times New Roman"/>
              </a:rPr>
              <a:t>OUTPUT:  </a:t>
            </a:r>
            <a:r>
              <a:rPr sz="900" b="1" i="0">
                <a:solidFill>
                  <a:srgbClr val="000000"/>
                </a:solidFill>
                <a:latin typeface="Times New Roman"/>
                <a:ea typeface="Times New Roman"/>
                <a:cs typeface="Times New Roman"/>
              </a:rPr>
              <a:t>Feature Matrix (X) + Labels (y)</a:t>
            </a:r>
          </a:p>
        </p:txBody>
      </p:sp>
      <p:sp>
        <p:nvSpPr>
          <p:cNvPr id="23" name="Card"/>
          <p:cNvSpPr/>
          <p:nvPr/>
        </p:nvSpPr>
        <p:spPr>
          <a:xfrm>
            <a:off x="548640" y="4133087"/>
            <a:ext cx="2628900" cy="1920240"/>
          </a:xfrm>
          <a:prstGeom prst="roundRect">
            <a:avLst>
              <a:gd name="adj" fmla="val 4285"/>
            </a:avLst>
          </a:prstGeom>
          <a:solidFill>
            <a:srgbClr val="FFFFFF"/>
          </a:solidFill>
          <a:ln w="12700">
            <a:solidFill>
              <a:srgbClr val="2C4C8C"/>
            </a:solidFill>
          </a:ln>
        </p:spPr>
        <p:txBody>
          <a:bodyPr rtlCol="0" anchor="ctr"/>
          <a:lstStyle/>
          <a:p>
            <a:pPr algn="ctr"/>
            <a:endParaRPr/>
          </a:p>
        </p:txBody>
      </p:sp>
      <p:sp>
        <p:nvSpPr>
          <p:cNvPr id="24" name="Icon"/>
          <p:cNvSpPr/>
          <p:nvPr/>
        </p:nvSpPr>
        <p:spPr>
          <a:xfrm>
            <a:off x="658368" y="4224527"/>
            <a:ext cx="347472" cy="34747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3</a:t>
            </a:r>
          </a:p>
        </p:txBody>
      </p:sp>
      <p:sp>
        <p:nvSpPr>
          <p:cNvPr id="25" name="TextBox 24"/>
          <p:cNvSpPr txBox="1"/>
          <p:nvPr/>
        </p:nvSpPr>
        <p:spPr>
          <a:xfrm>
            <a:off x="1060704" y="4206240"/>
            <a:ext cx="2043684" cy="384048"/>
          </a:xfrm>
          <a:prstGeom prst="rect">
            <a:avLst/>
          </a:prstGeom>
          <a:noFill/>
        </p:spPr>
        <p:txBody>
          <a:bodyPr wrap="square" lIns="45720" rIns="45720" anchor="ctr">
            <a:spAutoFit/>
          </a:bodyPr>
          <a:lstStyle/>
          <a:p>
            <a:pPr algn="l"/>
            <a:r>
              <a:rPr sz="1200" b="1" i="0">
                <a:solidFill>
                  <a:srgbClr val="2F5296"/>
                </a:solidFill>
                <a:latin typeface="Times New Roman"/>
                <a:ea typeface="Times New Roman"/>
                <a:cs typeface="Times New Roman"/>
              </a:rPr>
              <a:t>Ensemble ML Classifier</a:t>
            </a:r>
          </a:p>
        </p:txBody>
      </p:sp>
      <p:sp>
        <p:nvSpPr>
          <p:cNvPr id="26" name="TextBox 25"/>
          <p:cNvSpPr txBox="1"/>
          <p:nvPr/>
        </p:nvSpPr>
        <p:spPr>
          <a:xfrm>
            <a:off x="658368" y="4626864"/>
            <a:ext cx="2427732" cy="987552"/>
          </a:xfrm>
          <a:prstGeom prst="rect">
            <a:avLst/>
          </a:prstGeom>
          <a:noFill/>
        </p:spPr>
        <p:txBody>
          <a:bodyPr wrap="square" lIns="18288" tIns="18288" rIns="18288" bIns="18288" anchor="t">
            <a:spAutoFit/>
          </a:bodyPr>
          <a:lstStyle/>
          <a:p>
            <a:pPr algn="l">
              <a:spcAft>
                <a:spcPts val="250"/>
              </a:spcAft>
            </a:pPr>
            <a:r>
              <a:rPr sz="950" b="1" i="0">
                <a:solidFill>
                  <a:srgbClr val="000000"/>
                </a:solidFill>
                <a:latin typeface="Times New Roman"/>
                <a:ea typeface="Times New Roman"/>
                <a:cs typeface="Times New Roman"/>
              </a:rPr>
              <a:t>Balance Classes:  </a:t>
            </a:r>
            <a:r>
              <a:rPr sz="950" b="0" i="0">
                <a:solidFill>
                  <a:srgbClr val="000000"/>
                </a:solidFill>
                <a:latin typeface="Times New Roman"/>
                <a:ea typeface="Times New Roman"/>
                <a:cs typeface="Times New Roman"/>
              </a:rPr>
              <a:t>SMOTE fixes rare-planet imbalance</a:t>
            </a:r>
          </a:p>
          <a:p>
            <a:pPr algn="l">
              <a:spcAft>
                <a:spcPts val="250"/>
              </a:spcAft>
            </a:pPr>
            <a:r>
              <a:rPr sz="950" b="1" i="0">
                <a:solidFill>
                  <a:srgbClr val="000000"/>
                </a:solidFill>
                <a:latin typeface="Times New Roman"/>
                <a:ea typeface="Times New Roman"/>
                <a:cs typeface="Times New Roman"/>
              </a:rPr>
              <a:t>Stacked Ensemble:  </a:t>
            </a:r>
            <a:r>
              <a:rPr sz="950" b="0" i="0">
                <a:solidFill>
                  <a:srgbClr val="000000"/>
                </a:solidFill>
                <a:latin typeface="Times New Roman"/>
                <a:ea typeface="Times New Roman"/>
                <a:cs typeface="Times New Roman"/>
              </a:rPr>
              <a:t>Random Forest + XGBoost + Extra Trees</a:t>
            </a:r>
          </a:p>
          <a:p>
            <a:pPr algn="l">
              <a:spcAft>
                <a:spcPts val="250"/>
              </a:spcAft>
            </a:pPr>
            <a:r>
              <a:rPr sz="950" b="1" i="0">
                <a:solidFill>
                  <a:srgbClr val="000000"/>
                </a:solidFill>
                <a:latin typeface="Times New Roman"/>
                <a:ea typeface="Times New Roman"/>
                <a:cs typeface="Times New Roman"/>
              </a:rPr>
              <a:t>Calibrate + Explain:  </a:t>
            </a:r>
            <a:r>
              <a:rPr sz="950" b="0" i="0">
                <a:solidFill>
                  <a:srgbClr val="000000"/>
                </a:solidFill>
                <a:latin typeface="Times New Roman"/>
                <a:ea typeface="Times New Roman"/>
                <a:cs typeface="Times New Roman"/>
              </a:rPr>
              <a:t>Platt scaling; SHAP confirms real signal</a:t>
            </a:r>
          </a:p>
        </p:txBody>
      </p:sp>
      <p:sp>
        <p:nvSpPr>
          <p:cNvPr id="27" name="Card"/>
          <p:cNvSpPr/>
          <p:nvPr/>
        </p:nvSpPr>
        <p:spPr>
          <a:xfrm>
            <a:off x="640080" y="5632703"/>
            <a:ext cx="2446020" cy="347472"/>
          </a:xfrm>
          <a:prstGeom prst="roundRect">
            <a:avLst>
              <a:gd name="adj" fmla="val 23684"/>
            </a:avLst>
          </a:prstGeom>
          <a:solidFill>
            <a:srgbClr val="D7E1F5"/>
          </a:solidFill>
          <a:ln>
            <a:noFill/>
          </a:ln>
        </p:spPr>
        <p:txBody>
          <a:bodyPr wrap="square" lIns="27432" tIns="27432" rIns="27432" bIns="27432" rtlCol="0" anchor="ctr"/>
          <a:lstStyle/>
          <a:p>
            <a:pPr algn="ctr"/>
            <a:r>
              <a:rPr sz="900" b="1" i="0">
                <a:solidFill>
                  <a:srgbClr val="2F5296"/>
                </a:solidFill>
                <a:latin typeface="Times New Roman"/>
                <a:ea typeface="Times New Roman"/>
                <a:cs typeface="Times New Roman"/>
              </a:rPr>
              <a:t>OUTPUT:  </a:t>
            </a:r>
            <a:r>
              <a:rPr sz="900" b="1" i="0">
                <a:solidFill>
                  <a:srgbClr val="000000"/>
                </a:solidFill>
                <a:latin typeface="Times New Roman"/>
                <a:ea typeface="Times New Roman"/>
                <a:cs typeface="Times New Roman"/>
              </a:rPr>
              <a:t>Planet Probability + Class  (target F1 ≥ 90%)</a:t>
            </a:r>
          </a:p>
        </p:txBody>
      </p:sp>
      <p:sp>
        <p:nvSpPr>
          <p:cNvPr id="28" name="Card"/>
          <p:cNvSpPr/>
          <p:nvPr/>
        </p:nvSpPr>
        <p:spPr>
          <a:xfrm>
            <a:off x="3360420" y="4133087"/>
            <a:ext cx="2628900" cy="1920240"/>
          </a:xfrm>
          <a:prstGeom prst="roundRect">
            <a:avLst>
              <a:gd name="adj" fmla="val 4285"/>
            </a:avLst>
          </a:prstGeom>
          <a:solidFill>
            <a:srgbClr val="FFFFFF"/>
          </a:solidFill>
          <a:ln w="12700">
            <a:solidFill>
              <a:srgbClr val="2C4C8C"/>
            </a:solidFill>
          </a:ln>
        </p:spPr>
        <p:txBody>
          <a:bodyPr rtlCol="0" anchor="ctr"/>
          <a:lstStyle/>
          <a:p>
            <a:pPr algn="ctr"/>
            <a:endParaRPr/>
          </a:p>
        </p:txBody>
      </p:sp>
      <p:sp>
        <p:nvSpPr>
          <p:cNvPr id="29" name="Icon"/>
          <p:cNvSpPr/>
          <p:nvPr/>
        </p:nvSpPr>
        <p:spPr>
          <a:xfrm>
            <a:off x="3470148" y="4224527"/>
            <a:ext cx="347472" cy="34747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4</a:t>
            </a:r>
          </a:p>
        </p:txBody>
      </p:sp>
      <p:sp>
        <p:nvSpPr>
          <p:cNvPr id="30" name="TextBox 29"/>
          <p:cNvSpPr txBox="1"/>
          <p:nvPr/>
        </p:nvSpPr>
        <p:spPr>
          <a:xfrm>
            <a:off x="3872484" y="4206240"/>
            <a:ext cx="2043684" cy="384048"/>
          </a:xfrm>
          <a:prstGeom prst="rect">
            <a:avLst/>
          </a:prstGeom>
          <a:noFill/>
        </p:spPr>
        <p:txBody>
          <a:bodyPr wrap="square" lIns="45720" rIns="45720" anchor="ctr">
            <a:spAutoFit/>
          </a:bodyPr>
          <a:lstStyle/>
          <a:p>
            <a:pPr algn="l"/>
            <a:r>
              <a:rPr sz="1200" b="1" i="0">
                <a:solidFill>
                  <a:srgbClr val="2F5296"/>
                </a:solidFill>
                <a:latin typeface="Times New Roman"/>
                <a:ea typeface="Times New Roman"/>
                <a:cs typeface="Times New Roman"/>
              </a:rPr>
              <a:t>Orbital Parameter Fitting</a:t>
            </a:r>
          </a:p>
        </p:txBody>
      </p:sp>
      <p:sp>
        <p:nvSpPr>
          <p:cNvPr id="31" name="TextBox 30"/>
          <p:cNvSpPr txBox="1"/>
          <p:nvPr/>
        </p:nvSpPr>
        <p:spPr>
          <a:xfrm>
            <a:off x="3470148" y="4626864"/>
            <a:ext cx="2427732" cy="987552"/>
          </a:xfrm>
          <a:prstGeom prst="rect">
            <a:avLst/>
          </a:prstGeom>
          <a:noFill/>
        </p:spPr>
        <p:txBody>
          <a:bodyPr wrap="square" lIns="18288" tIns="18288" rIns="18288" bIns="18288" anchor="t">
            <a:spAutoFit/>
          </a:bodyPr>
          <a:lstStyle/>
          <a:p>
            <a:pPr algn="l">
              <a:spcAft>
                <a:spcPts val="250"/>
              </a:spcAft>
            </a:pPr>
            <a:r>
              <a:rPr sz="950" b="1" i="0">
                <a:solidFill>
                  <a:srgbClr val="000000"/>
                </a:solidFill>
                <a:latin typeface="Times New Roman"/>
                <a:ea typeface="Times New Roman"/>
                <a:cs typeface="Times New Roman"/>
              </a:rPr>
              <a:t>Transit Model:  </a:t>
            </a:r>
            <a:r>
              <a:rPr sz="950" b="0" i="0">
                <a:solidFill>
                  <a:srgbClr val="000000"/>
                </a:solidFill>
                <a:latin typeface="Times New Roman"/>
                <a:ea typeface="Times New Roman"/>
                <a:cs typeface="Times New Roman"/>
              </a:rPr>
              <a:t>batman builds the physics-based light curve</a:t>
            </a:r>
          </a:p>
          <a:p>
            <a:pPr algn="l">
              <a:spcAft>
                <a:spcPts val="250"/>
              </a:spcAft>
            </a:pPr>
            <a:r>
              <a:rPr sz="950" b="1" i="0">
                <a:solidFill>
                  <a:srgbClr val="000000"/>
                </a:solidFill>
                <a:latin typeface="Times New Roman"/>
                <a:ea typeface="Times New Roman"/>
                <a:cs typeface="Times New Roman"/>
              </a:rPr>
              <a:t>MCMC Sampling:  </a:t>
            </a:r>
            <a:r>
              <a:rPr sz="950" b="0" i="0">
                <a:solidFill>
                  <a:srgbClr val="000000"/>
                </a:solidFill>
                <a:latin typeface="Times New Roman"/>
                <a:ea typeface="Times New Roman"/>
                <a:cs typeface="Times New Roman"/>
              </a:rPr>
              <a:t>emcee: 32 walkers × 1000 steps</a:t>
            </a:r>
          </a:p>
          <a:p>
            <a:pPr algn="l">
              <a:spcAft>
                <a:spcPts val="250"/>
              </a:spcAft>
            </a:pPr>
            <a:r>
              <a:rPr sz="950" b="1" i="0">
                <a:solidFill>
                  <a:srgbClr val="000000"/>
                </a:solidFill>
                <a:latin typeface="Times New Roman"/>
                <a:ea typeface="Times New Roman"/>
                <a:cs typeface="Times New Roman"/>
              </a:rPr>
              <a:t>Credible Intervals:  </a:t>
            </a:r>
            <a:r>
              <a:rPr sz="950" b="0" i="0">
                <a:solidFill>
                  <a:srgbClr val="000000"/>
                </a:solidFill>
                <a:latin typeface="Times New Roman"/>
                <a:ea typeface="Times New Roman"/>
                <a:cs typeface="Times New Roman"/>
              </a:rPr>
              <a:t>16/50/84th percentiles; least-sq. fallback</a:t>
            </a:r>
          </a:p>
        </p:txBody>
      </p:sp>
      <p:sp>
        <p:nvSpPr>
          <p:cNvPr id="32" name="Card"/>
          <p:cNvSpPr/>
          <p:nvPr/>
        </p:nvSpPr>
        <p:spPr>
          <a:xfrm>
            <a:off x="3451860" y="5632703"/>
            <a:ext cx="2446020" cy="347472"/>
          </a:xfrm>
          <a:prstGeom prst="roundRect">
            <a:avLst>
              <a:gd name="adj" fmla="val 23684"/>
            </a:avLst>
          </a:prstGeom>
          <a:solidFill>
            <a:srgbClr val="D7E1F5"/>
          </a:solidFill>
          <a:ln>
            <a:noFill/>
          </a:ln>
        </p:spPr>
        <p:txBody>
          <a:bodyPr wrap="square" lIns="27432" tIns="27432" rIns="27432" bIns="27432" rtlCol="0" anchor="ctr"/>
          <a:lstStyle/>
          <a:p>
            <a:pPr algn="ctr"/>
            <a:r>
              <a:rPr sz="900" b="1" i="0">
                <a:solidFill>
                  <a:srgbClr val="2F5296"/>
                </a:solidFill>
                <a:latin typeface="Times New Roman"/>
                <a:ea typeface="Times New Roman"/>
                <a:cs typeface="Times New Roman"/>
              </a:rPr>
              <a:t>OUTPUT:  </a:t>
            </a:r>
            <a:r>
              <a:rPr sz="900" b="1" i="0">
                <a:solidFill>
                  <a:srgbClr val="000000"/>
                </a:solidFill>
                <a:latin typeface="Times New Roman"/>
                <a:ea typeface="Times New Roman"/>
                <a:cs typeface="Times New Roman"/>
              </a:rPr>
              <a:t>Physical Parameters + 95% Credible Intervals</a:t>
            </a:r>
          </a:p>
        </p:txBody>
      </p:sp>
      <p:sp>
        <p:nvSpPr>
          <p:cNvPr id="33" name="Card"/>
          <p:cNvSpPr/>
          <p:nvPr/>
        </p:nvSpPr>
        <p:spPr>
          <a:xfrm>
            <a:off x="6172200" y="4133087"/>
            <a:ext cx="2628900" cy="1920240"/>
          </a:xfrm>
          <a:prstGeom prst="roundRect">
            <a:avLst>
              <a:gd name="adj" fmla="val 4285"/>
            </a:avLst>
          </a:prstGeom>
          <a:solidFill>
            <a:srgbClr val="FFFFFF"/>
          </a:solidFill>
          <a:ln w="12700">
            <a:solidFill>
              <a:srgbClr val="2C4C8C"/>
            </a:solidFill>
          </a:ln>
        </p:spPr>
        <p:txBody>
          <a:bodyPr rtlCol="0" anchor="ctr"/>
          <a:lstStyle/>
          <a:p>
            <a:pPr algn="ctr"/>
            <a:endParaRPr/>
          </a:p>
        </p:txBody>
      </p:sp>
      <p:sp>
        <p:nvSpPr>
          <p:cNvPr id="34" name="Icon"/>
          <p:cNvSpPr/>
          <p:nvPr/>
        </p:nvSpPr>
        <p:spPr>
          <a:xfrm>
            <a:off x="6281928" y="4224527"/>
            <a:ext cx="347472" cy="34747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5</a:t>
            </a:r>
          </a:p>
        </p:txBody>
      </p:sp>
      <p:sp>
        <p:nvSpPr>
          <p:cNvPr id="35" name="TextBox 34"/>
          <p:cNvSpPr txBox="1"/>
          <p:nvPr/>
        </p:nvSpPr>
        <p:spPr>
          <a:xfrm>
            <a:off x="6684264" y="4206240"/>
            <a:ext cx="2043684" cy="384048"/>
          </a:xfrm>
          <a:prstGeom prst="rect">
            <a:avLst/>
          </a:prstGeom>
          <a:noFill/>
        </p:spPr>
        <p:txBody>
          <a:bodyPr wrap="square" lIns="45720" rIns="45720" anchor="ctr">
            <a:spAutoFit/>
          </a:bodyPr>
          <a:lstStyle/>
          <a:p>
            <a:pPr algn="l"/>
            <a:r>
              <a:rPr sz="1200" b="1" i="0">
                <a:solidFill>
                  <a:srgbClr val="2F5296"/>
                </a:solidFill>
                <a:latin typeface="Times New Roman"/>
                <a:ea typeface="Times New Roman"/>
                <a:cs typeface="Times New Roman"/>
              </a:rPr>
              <a:t>Visualization &amp; Report</a:t>
            </a:r>
          </a:p>
        </p:txBody>
      </p:sp>
      <p:sp>
        <p:nvSpPr>
          <p:cNvPr id="36" name="TextBox 35"/>
          <p:cNvSpPr txBox="1"/>
          <p:nvPr/>
        </p:nvSpPr>
        <p:spPr>
          <a:xfrm>
            <a:off x="6281928" y="4626864"/>
            <a:ext cx="2427732" cy="987552"/>
          </a:xfrm>
          <a:prstGeom prst="rect">
            <a:avLst/>
          </a:prstGeom>
          <a:noFill/>
        </p:spPr>
        <p:txBody>
          <a:bodyPr wrap="square" lIns="18288" tIns="18288" rIns="18288" bIns="18288" anchor="t">
            <a:spAutoFit/>
          </a:bodyPr>
          <a:lstStyle/>
          <a:p>
            <a:pPr algn="l">
              <a:spcAft>
                <a:spcPts val="250"/>
              </a:spcAft>
            </a:pPr>
            <a:r>
              <a:rPr sz="950" b="1" i="0">
                <a:solidFill>
                  <a:srgbClr val="000000"/>
                </a:solidFill>
                <a:latin typeface="Times New Roman"/>
                <a:ea typeface="Times New Roman"/>
                <a:cs typeface="Times New Roman"/>
              </a:rPr>
              <a:t>7 Diagnostic Plots:  </a:t>
            </a:r>
            <a:r>
              <a:rPr sz="950" b="0" i="0">
                <a:solidFill>
                  <a:srgbClr val="000000"/>
                </a:solidFill>
                <a:latin typeface="Times New Roman"/>
                <a:ea typeface="Times New Roman"/>
                <a:cs typeface="Times New Roman"/>
              </a:rPr>
              <a:t>raw/detrended LC, periodogram, phase-fold…</a:t>
            </a:r>
          </a:p>
          <a:p>
            <a:pPr algn="l">
              <a:spcAft>
                <a:spcPts val="250"/>
              </a:spcAft>
            </a:pPr>
            <a:r>
              <a:rPr sz="950" b="1" i="0">
                <a:solidFill>
                  <a:srgbClr val="000000"/>
                </a:solidFill>
                <a:latin typeface="Times New Roman"/>
                <a:ea typeface="Times New Roman"/>
                <a:cs typeface="Times New Roman"/>
              </a:rPr>
              <a:t>Model Diagnostics:  </a:t>
            </a:r>
            <a:r>
              <a:rPr sz="950" b="0" i="0">
                <a:solidFill>
                  <a:srgbClr val="000000"/>
                </a:solidFill>
                <a:latin typeface="Times New Roman"/>
                <a:ea typeface="Times New Roman"/>
                <a:cs typeface="Times New Roman"/>
              </a:rPr>
              <a:t>confusion matrix, PR curves, calibration</a:t>
            </a:r>
          </a:p>
          <a:p>
            <a:pPr algn="l">
              <a:spcAft>
                <a:spcPts val="250"/>
              </a:spcAft>
            </a:pPr>
            <a:r>
              <a:rPr sz="950" b="1" i="0">
                <a:solidFill>
                  <a:srgbClr val="000000"/>
                </a:solidFill>
                <a:latin typeface="Times New Roman"/>
                <a:ea typeface="Times New Roman"/>
                <a:cs typeface="Times New Roman"/>
              </a:rPr>
              <a:t>Auto PDF Report:  </a:t>
            </a:r>
            <a:r>
              <a:rPr sz="950" b="0" i="0">
                <a:solidFill>
                  <a:srgbClr val="000000"/>
                </a:solidFill>
                <a:latin typeface="Times New Roman"/>
                <a:ea typeface="Times New Roman"/>
                <a:cs typeface="Times New Roman"/>
              </a:rPr>
              <a:t>Jinja2 fills a 3-page per-candidate report</a:t>
            </a:r>
          </a:p>
        </p:txBody>
      </p:sp>
      <p:sp>
        <p:nvSpPr>
          <p:cNvPr id="37" name="Card"/>
          <p:cNvSpPr/>
          <p:nvPr/>
        </p:nvSpPr>
        <p:spPr>
          <a:xfrm>
            <a:off x="6263640" y="5632703"/>
            <a:ext cx="2446020" cy="347472"/>
          </a:xfrm>
          <a:prstGeom prst="roundRect">
            <a:avLst>
              <a:gd name="adj" fmla="val 23684"/>
            </a:avLst>
          </a:prstGeom>
          <a:solidFill>
            <a:srgbClr val="D7E1F5"/>
          </a:solidFill>
          <a:ln>
            <a:noFill/>
          </a:ln>
        </p:spPr>
        <p:txBody>
          <a:bodyPr wrap="square" lIns="27432" tIns="27432" rIns="27432" bIns="27432" rtlCol="0" anchor="ctr"/>
          <a:lstStyle/>
          <a:p>
            <a:pPr algn="ctr"/>
            <a:r>
              <a:rPr sz="900" b="1" i="0">
                <a:solidFill>
                  <a:srgbClr val="2F5296"/>
                </a:solidFill>
                <a:latin typeface="Times New Roman"/>
                <a:ea typeface="Times New Roman"/>
                <a:cs typeface="Times New Roman"/>
              </a:rPr>
              <a:t>OUTPUT:  </a:t>
            </a:r>
            <a:r>
              <a:rPr sz="900" b="1" i="0">
                <a:solidFill>
                  <a:srgbClr val="000000"/>
                </a:solidFill>
                <a:latin typeface="Times New Roman"/>
                <a:ea typeface="Times New Roman"/>
                <a:cs typeface="Times New Roman"/>
              </a:rPr>
              <a:t>Plots + Ranked Catalog + PDF Report</a:t>
            </a:r>
          </a:p>
        </p:txBody>
      </p:sp>
      <p:sp>
        <p:nvSpPr>
          <p:cNvPr id="38" name="Card"/>
          <p:cNvSpPr/>
          <p:nvPr/>
        </p:nvSpPr>
        <p:spPr>
          <a:xfrm>
            <a:off x="8983980" y="4133087"/>
            <a:ext cx="2628900" cy="1920240"/>
          </a:xfrm>
          <a:prstGeom prst="roundRect">
            <a:avLst>
              <a:gd name="adj" fmla="val 4285"/>
            </a:avLst>
          </a:prstGeom>
          <a:solidFill>
            <a:srgbClr val="FFFFFF"/>
          </a:solidFill>
          <a:ln w="12700">
            <a:solidFill>
              <a:srgbClr val="2C4C8C"/>
            </a:solidFill>
          </a:ln>
        </p:spPr>
        <p:txBody>
          <a:bodyPr rtlCol="0" anchor="ctr"/>
          <a:lstStyle/>
          <a:p>
            <a:pPr algn="ctr"/>
            <a:endParaRPr/>
          </a:p>
        </p:txBody>
      </p:sp>
      <p:sp>
        <p:nvSpPr>
          <p:cNvPr id="39" name="Icon"/>
          <p:cNvSpPr/>
          <p:nvPr/>
        </p:nvSpPr>
        <p:spPr>
          <a:xfrm>
            <a:off x="9093708" y="4224527"/>
            <a:ext cx="347472" cy="347472"/>
          </a:xfrm>
          <a:prstGeom prst="ellipse">
            <a:avLst/>
          </a:prstGeom>
          <a:solidFill>
            <a:srgbClr val="2F5296"/>
          </a:solidFill>
          <a:ln w="12700">
            <a:solidFill>
              <a:srgbClr val="2C4C8C"/>
            </a:solidFill>
          </a:ln>
        </p:spPr>
        <p:txBody>
          <a:bodyPr wrap="square" lIns="0" tIns="0" rIns="0" bIns="0" rtlCol="0" anchor="ctr"/>
          <a:lstStyle/>
          <a:p>
            <a:pPr algn="ctr"/>
            <a:r>
              <a:rPr sz="1200" b="1" i="0">
                <a:solidFill>
                  <a:srgbClr val="00E5D4"/>
                </a:solidFill>
                <a:latin typeface="Times New Roman"/>
                <a:ea typeface="Times New Roman"/>
                <a:cs typeface="Times New Roman"/>
              </a:rPr>
              <a:t>6</a:t>
            </a:r>
          </a:p>
        </p:txBody>
      </p:sp>
      <p:sp>
        <p:nvSpPr>
          <p:cNvPr id="40" name="TextBox 39"/>
          <p:cNvSpPr txBox="1"/>
          <p:nvPr/>
        </p:nvSpPr>
        <p:spPr>
          <a:xfrm>
            <a:off x="9496044" y="4206240"/>
            <a:ext cx="2043684" cy="384048"/>
          </a:xfrm>
          <a:prstGeom prst="rect">
            <a:avLst/>
          </a:prstGeom>
          <a:noFill/>
        </p:spPr>
        <p:txBody>
          <a:bodyPr wrap="square" lIns="45720" rIns="45720" anchor="ctr">
            <a:spAutoFit/>
          </a:bodyPr>
          <a:lstStyle/>
          <a:p>
            <a:pPr algn="l"/>
            <a:r>
              <a:rPr sz="1200" b="1" i="0">
                <a:solidFill>
                  <a:srgbClr val="2F5296"/>
                </a:solidFill>
                <a:latin typeface="Times New Roman"/>
                <a:ea typeface="Times New Roman"/>
                <a:cs typeface="Times New Roman"/>
              </a:rPr>
              <a:t>Enhanced Analysis (Bonus)</a:t>
            </a:r>
          </a:p>
        </p:txBody>
      </p:sp>
      <p:sp>
        <p:nvSpPr>
          <p:cNvPr id="41" name="TextBox 40"/>
          <p:cNvSpPr txBox="1"/>
          <p:nvPr/>
        </p:nvSpPr>
        <p:spPr>
          <a:xfrm>
            <a:off x="9093708" y="4626864"/>
            <a:ext cx="2427732" cy="987552"/>
          </a:xfrm>
          <a:prstGeom prst="rect">
            <a:avLst/>
          </a:prstGeom>
          <a:noFill/>
        </p:spPr>
        <p:txBody>
          <a:bodyPr wrap="square" lIns="18288" tIns="18288" rIns="18288" bIns="18288" anchor="t">
            <a:spAutoFit/>
          </a:bodyPr>
          <a:lstStyle/>
          <a:p>
            <a:pPr algn="l">
              <a:spcAft>
                <a:spcPts val="250"/>
              </a:spcAft>
            </a:pPr>
            <a:r>
              <a:rPr sz="950" b="1" i="0">
                <a:solidFill>
                  <a:srgbClr val="000000"/>
                </a:solidFill>
                <a:latin typeface="Times New Roman"/>
                <a:ea typeface="Times New Roman"/>
                <a:cs typeface="Times New Roman"/>
              </a:rPr>
              <a:t>Centroid Analysis:  </a:t>
            </a:r>
            <a:r>
              <a:rPr sz="950" b="0" i="0">
                <a:solidFill>
                  <a:srgbClr val="000000"/>
                </a:solidFill>
                <a:latin typeface="Times New Roman"/>
                <a:ea typeface="Times New Roman"/>
                <a:cs typeface="Times New Roman"/>
              </a:rPr>
              <a:t>confirms dip is on-target, not a blend</a:t>
            </a:r>
          </a:p>
          <a:p>
            <a:pPr algn="l">
              <a:spcAft>
                <a:spcPts val="250"/>
              </a:spcAft>
            </a:pPr>
            <a:r>
              <a:rPr sz="950" b="1" i="0">
                <a:solidFill>
                  <a:srgbClr val="000000"/>
                </a:solidFill>
                <a:latin typeface="Times New Roman"/>
                <a:ea typeface="Times New Roman"/>
                <a:cs typeface="Times New Roman"/>
              </a:rPr>
              <a:t>Injection–Recovery:  </a:t>
            </a:r>
            <a:r>
              <a:rPr sz="950" b="0" i="0">
                <a:solidFill>
                  <a:srgbClr val="000000"/>
                </a:solidFill>
                <a:latin typeface="Times New Roman"/>
                <a:ea typeface="Times New Roman"/>
                <a:cs typeface="Times New Roman"/>
              </a:rPr>
              <a:t>measures true detection sensitivity</a:t>
            </a:r>
          </a:p>
          <a:p>
            <a:pPr algn="l">
              <a:spcAft>
                <a:spcPts val="250"/>
              </a:spcAft>
            </a:pPr>
            <a:r>
              <a:rPr sz="950" b="1" i="0">
                <a:solidFill>
                  <a:srgbClr val="000000"/>
                </a:solidFill>
                <a:latin typeface="Times New Roman"/>
                <a:ea typeface="Times New Roman"/>
                <a:cs typeface="Times New Roman"/>
              </a:rPr>
              <a:t>Active Learning:  </a:t>
            </a:r>
            <a:r>
              <a:rPr sz="950" b="0" i="0">
                <a:solidFill>
                  <a:srgbClr val="000000"/>
                </a:solidFill>
                <a:latin typeface="Times New Roman"/>
                <a:ea typeface="Times New Roman"/>
                <a:cs typeface="Times New Roman"/>
              </a:rPr>
              <a:t>routes &lt;65% confidence cases to a human</a:t>
            </a:r>
          </a:p>
        </p:txBody>
      </p:sp>
      <p:sp>
        <p:nvSpPr>
          <p:cNvPr id="42" name="Card"/>
          <p:cNvSpPr/>
          <p:nvPr/>
        </p:nvSpPr>
        <p:spPr>
          <a:xfrm>
            <a:off x="9075420" y="5632703"/>
            <a:ext cx="2446020" cy="347472"/>
          </a:xfrm>
          <a:prstGeom prst="roundRect">
            <a:avLst>
              <a:gd name="adj" fmla="val 23684"/>
            </a:avLst>
          </a:prstGeom>
          <a:solidFill>
            <a:srgbClr val="D7E1F5"/>
          </a:solidFill>
          <a:ln>
            <a:noFill/>
          </a:ln>
        </p:spPr>
        <p:txBody>
          <a:bodyPr wrap="square" lIns="27432" tIns="27432" rIns="27432" bIns="27432" rtlCol="0" anchor="ctr"/>
          <a:lstStyle/>
          <a:p>
            <a:pPr algn="ctr"/>
            <a:r>
              <a:rPr sz="900" b="1" i="0">
                <a:solidFill>
                  <a:srgbClr val="2F5296"/>
                </a:solidFill>
                <a:latin typeface="Times New Roman"/>
                <a:ea typeface="Times New Roman"/>
                <a:cs typeface="Times New Roman"/>
              </a:rPr>
              <a:t>OUTPUT:  </a:t>
            </a:r>
            <a:r>
              <a:rPr sz="900" b="1" i="0">
                <a:solidFill>
                  <a:srgbClr val="000000"/>
                </a:solidFill>
                <a:latin typeface="Times New Roman"/>
                <a:ea typeface="Times New Roman"/>
                <a:cs typeface="Times New Roman"/>
              </a:rPr>
              <a:t>Robustness Metrics + Retraining Feedback</a:t>
            </a:r>
          </a:p>
        </p:txBody>
      </p:sp>
      <p:sp>
        <p:nvSpPr>
          <p:cNvPr id="43" name="Arrow"/>
          <p:cNvSpPr/>
          <p:nvPr/>
        </p:nvSpPr>
        <p:spPr>
          <a:xfrm>
            <a:off x="4592574" y="1787652"/>
            <a:ext cx="164592" cy="155448"/>
          </a:xfrm>
          <a:prstGeom prst="downArrow">
            <a:avLst/>
          </a:prstGeom>
          <a:solidFill>
            <a:srgbClr val="FFFFFF"/>
          </a:solidFill>
          <a:ln>
            <a:noFill/>
          </a:ln>
        </p:spPr>
        <p:txBody>
          <a:bodyPr rtlCol="0" anchor="ctr"/>
          <a:lstStyle/>
          <a:p>
            <a:pPr algn="ctr"/>
            <a:endParaRPr/>
          </a:p>
        </p:txBody>
      </p:sp>
      <p:sp>
        <p:nvSpPr>
          <p:cNvPr id="44" name="Arrow"/>
          <p:cNvSpPr/>
          <p:nvPr/>
        </p:nvSpPr>
        <p:spPr>
          <a:xfrm>
            <a:off x="7404354" y="1787652"/>
            <a:ext cx="164592" cy="155448"/>
          </a:xfrm>
          <a:prstGeom prst="downArrow">
            <a:avLst/>
          </a:prstGeom>
          <a:solidFill>
            <a:srgbClr val="FFFFFF"/>
          </a:solidFill>
          <a:ln>
            <a:noFill/>
          </a:ln>
        </p:spPr>
        <p:txBody>
          <a:bodyPr rtlCol="0" anchor="ctr"/>
          <a:lstStyle/>
          <a:p>
            <a:pPr algn="ctr"/>
            <a:endParaRPr/>
          </a:p>
        </p:txBody>
      </p:sp>
      <p:sp>
        <p:nvSpPr>
          <p:cNvPr id="45" name="Arrow"/>
          <p:cNvSpPr/>
          <p:nvPr/>
        </p:nvSpPr>
        <p:spPr>
          <a:xfrm>
            <a:off x="10216134" y="1787652"/>
            <a:ext cx="164592" cy="155448"/>
          </a:xfrm>
          <a:prstGeom prst="downArrow">
            <a:avLst/>
          </a:prstGeom>
          <a:solidFill>
            <a:srgbClr val="FFFFFF"/>
          </a:solidFill>
          <a:ln>
            <a:noFill/>
          </a:ln>
        </p:spPr>
        <p:txBody>
          <a:bodyPr rtlCol="0" anchor="ctr"/>
          <a:lstStyle/>
          <a:p>
            <a:pPr algn="ctr"/>
            <a:endParaRPr/>
          </a:p>
        </p:txBody>
      </p:sp>
      <p:sp>
        <p:nvSpPr>
          <p:cNvPr id="46" name="Arrow"/>
          <p:cNvSpPr/>
          <p:nvPr/>
        </p:nvSpPr>
        <p:spPr>
          <a:xfrm>
            <a:off x="3195828" y="2825496"/>
            <a:ext cx="146304" cy="182880"/>
          </a:xfrm>
          <a:prstGeom prst="rightArrow">
            <a:avLst/>
          </a:prstGeom>
          <a:solidFill>
            <a:srgbClr val="FFFFFF"/>
          </a:solidFill>
          <a:ln>
            <a:noFill/>
          </a:ln>
        </p:spPr>
        <p:txBody>
          <a:bodyPr rtlCol="0" anchor="ctr"/>
          <a:lstStyle/>
          <a:p>
            <a:pPr algn="ctr"/>
            <a:endParaRPr/>
          </a:p>
        </p:txBody>
      </p:sp>
      <p:sp>
        <p:nvSpPr>
          <p:cNvPr id="47" name="Arrow"/>
          <p:cNvSpPr/>
          <p:nvPr/>
        </p:nvSpPr>
        <p:spPr>
          <a:xfrm>
            <a:off x="3195828" y="5001768"/>
            <a:ext cx="146304" cy="182880"/>
          </a:xfrm>
          <a:prstGeom prst="rightArrow">
            <a:avLst/>
          </a:prstGeom>
          <a:solidFill>
            <a:srgbClr val="FFFFFF"/>
          </a:solidFill>
          <a:ln>
            <a:noFill/>
          </a:ln>
        </p:spPr>
        <p:txBody>
          <a:bodyPr rtlCol="0" anchor="ctr"/>
          <a:lstStyle/>
          <a:p>
            <a:pPr algn="ctr"/>
            <a:endParaRPr/>
          </a:p>
        </p:txBody>
      </p:sp>
      <p:sp>
        <p:nvSpPr>
          <p:cNvPr id="48" name="Arrow"/>
          <p:cNvSpPr/>
          <p:nvPr/>
        </p:nvSpPr>
        <p:spPr>
          <a:xfrm>
            <a:off x="6007608" y="2825496"/>
            <a:ext cx="146304" cy="182880"/>
          </a:xfrm>
          <a:prstGeom prst="rightArrow">
            <a:avLst/>
          </a:prstGeom>
          <a:solidFill>
            <a:srgbClr val="FFFFFF"/>
          </a:solidFill>
          <a:ln>
            <a:noFill/>
          </a:ln>
        </p:spPr>
        <p:txBody>
          <a:bodyPr rtlCol="0" anchor="ctr"/>
          <a:lstStyle/>
          <a:p>
            <a:pPr algn="ctr"/>
            <a:endParaRPr/>
          </a:p>
        </p:txBody>
      </p:sp>
      <p:sp>
        <p:nvSpPr>
          <p:cNvPr id="49" name="Arrow"/>
          <p:cNvSpPr/>
          <p:nvPr/>
        </p:nvSpPr>
        <p:spPr>
          <a:xfrm>
            <a:off x="6007608" y="5001768"/>
            <a:ext cx="146304" cy="182880"/>
          </a:xfrm>
          <a:prstGeom prst="rightArrow">
            <a:avLst/>
          </a:prstGeom>
          <a:solidFill>
            <a:srgbClr val="FFFFFF"/>
          </a:solidFill>
          <a:ln>
            <a:noFill/>
          </a:ln>
        </p:spPr>
        <p:txBody>
          <a:bodyPr rtlCol="0" anchor="ctr"/>
          <a:lstStyle/>
          <a:p>
            <a:pPr algn="ctr"/>
            <a:endParaRPr/>
          </a:p>
        </p:txBody>
      </p:sp>
      <p:sp>
        <p:nvSpPr>
          <p:cNvPr id="50" name="Arrow"/>
          <p:cNvSpPr/>
          <p:nvPr/>
        </p:nvSpPr>
        <p:spPr>
          <a:xfrm>
            <a:off x="8819388" y="2825496"/>
            <a:ext cx="146304" cy="182880"/>
          </a:xfrm>
          <a:prstGeom prst="rightArrow">
            <a:avLst/>
          </a:prstGeom>
          <a:solidFill>
            <a:srgbClr val="FFFFFF"/>
          </a:solidFill>
          <a:ln>
            <a:noFill/>
          </a:ln>
        </p:spPr>
        <p:txBody>
          <a:bodyPr rtlCol="0" anchor="ctr"/>
          <a:lstStyle/>
          <a:p>
            <a:pPr algn="ctr"/>
            <a:endParaRPr/>
          </a:p>
        </p:txBody>
      </p:sp>
      <p:sp>
        <p:nvSpPr>
          <p:cNvPr id="51" name="Arrow"/>
          <p:cNvSpPr/>
          <p:nvPr/>
        </p:nvSpPr>
        <p:spPr>
          <a:xfrm>
            <a:off x="8819388" y="5001768"/>
            <a:ext cx="146304" cy="182880"/>
          </a:xfrm>
          <a:prstGeom prst="rightArrow">
            <a:avLst/>
          </a:prstGeom>
          <a:solidFill>
            <a:srgbClr val="FFFFFF"/>
          </a:solidFill>
          <a:ln>
            <a:noFill/>
          </a:ln>
        </p:spPr>
        <p:txBody>
          <a:bodyPr rtlCol="0" anchor="ctr"/>
          <a:lstStyle/>
          <a:p>
            <a:pPr algn="ctr"/>
            <a:endParaRPr/>
          </a:p>
        </p:txBody>
      </p:sp>
      <p:sp>
        <p:nvSpPr>
          <p:cNvPr id="52" name="Connector"/>
          <p:cNvSpPr/>
          <p:nvPr/>
        </p:nvSpPr>
        <p:spPr>
          <a:xfrm>
            <a:off x="10284714" y="3877056"/>
            <a:ext cx="27432" cy="128016"/>
          </a:xfrm>
          <a:prstGeom prst="rect">
            <a:avLst/>
          </a:prstGeom>
          <a:solidFill>
            <a:srgbClr val="FFFFFF"/>
          </a:solidFill>
          <a:ln>
            <a:noFill/>
          </a:ln>
        </p:spPr>
        <p:txBody>
          <a:bodyPr rtlCol="0" anchor="ctr"/>
          <a:lstStyle/>
          <a:p>
            <a:pPr algn="ctr"/>
            <a:endParaRPr/>
          </a:p>
        </p:txBody>
      </p:sp>
      <p:sp>
        <p:nvSpPr>
          <p:cNvPr id="53" name="Connector"/>
          <p:cNvSpPr/>
          <p:nvPr/>
        </p:nvSpPr>
        <p:spPr>
          <a:xfrm>
            <a:off x="1849374" y="3977640"/>
            <a:ext cx="8462772" cy="27432"/>
          </a:xfrm>
          <a:prstGeom prst="rect">
            <a:avLst/>
          </a:prstGeom>
          <a:solidFill>
            <a:srgbClr val="FFFFFF"/>
          </a:solidFill>
          <a:ln>
            <a:noFill/>
          </a:ln>
        </p:spPr>
        <p:txBody>
          <a:bodyPr rtlCol="0" anchor="ctr"/>
          <a:lstStyle/>
          <a:p>
            <a:pPr algn="ctr"/>
            <a:endParaRPr/>
          </a:p>
        </p:txBody>
      </p:sp>
      <p:sp>
        <p:nvSpPr>
          <p:cNvPr id="54" name="Arrow"/>
          <p:cNvSpPr/>
          <p:nvPr/>
        </p:nvSpPr>
        <p:spPr>
          <a:xfrm>
            <a:off x="1780794" y="3991356"/>
            <a:ext cx="164592" cy="141731"/>
          </a:xfrm>
          <a:prstGeom prst="downArrow">
            <a:avLst/>
          </a:prstGeom>
          <a:solidFill>
            <a:srgbClr val="FFFFFF"/>
          </a:solidFill>
          <a:ln>
            <a:noFill/>
          </a:ln>
        </p:spPr>
        <p:txBody>
          <a:bodyPr rtlCol="0" anchor="ctr"/>
          <a:lstStyle/>
          <a:p>
            <a:pPr algn="ctr"/>
            <a:endParaRPr/>
          </a:p>
        </p:txBody>
      </p:sp>
      <p:sp>
        <p:nvSpPr>
          <p:cNvPr id="55" name="Feedback"/>
          <p:cNvSpPr/>
          <p:nvPr/>
        </p:nvSpPr>
        <p:spPr>
          <a:xfrm>
            <a:off x="10284714" y="6053327"/>
            <a:ext cx="27432" cy="187452"/>
          </a:xfrm>
          <a:prstGeom prst="rect">
            <a:avLst/>
          </a:prstGeom>
          <a:solidFill>
            <a:srgbClr val="FF7A5C"/>
          </a:solidFill>
          <a:ln>
            <a:noFill/>
          </a:ln>
        </p:spPr>
        <p:txBody>
          <a:bodyPr rtlCol="0" anchor="ctr"/>
          <a:lstStyle/>
          <a:p>
            <a:pPr algn="ctr"/>
            <a:endParaRPr/>
          </a:p>
        </p:txBody>
      </p:sp>
      <p:sp>
        <p:nvSpPr>
          <p:cNvPr id="56" name="Feedback"/>
          <p:cNvSpPr/>
          <p:nvPr/>
        </p:nvSpPr>
        <p:spPr>
          <a:xfrm>
            <a:off x="1849374" y="6213348"/>
            <a:ext cx="8462772" cy="27432"/>
          </a:xfrm>
          <a:prstGeom prst="rect">
            <a:avLst/>
          </a:prstGeom>
          <a:solidFill>
            <a:srgbClr val="FF7A5C"/>
          </a:solidFill>
          <a:ln>
            <a:noFill/>
          </a:ln>
        </p:spPr>
        <p:txBody>
          <a:bodyPr rtlCol="0" anchor="ctr"/>
          <a:lstStyle/>
          <a:p>
            <a:pPr algn="ctr"/>
            <a:endParaRPr/>
          </a:p>
        </p:txBody>
      </p:sp>
      <p:sp>
        <p:nvSpPr>
          <p:cNvPr id="57" name="Arrow"/>
          <p:cNvSpPr/>
          <p:nvPr/>
        </p:nvSpPr>
        <p:spPr>
          <a:xfrm>
            <a:off x="1780794" y="6062471"/>
            <a:ext cx="164592" cy="173736"/>
          </a:xfrm>
          <a:prstGeom prst="upArrow">
            <a:avLst/>
          </a:prstGeom>
          <a:solidFill>
            <a:srgbClr val="FF7A5C"/>
          </a:solidFill>
          <a:ln>
            <a:noFill/>
          </a:ln>
        </p:spPr>
        <p:txBody>
          <a:bodyPr rtlCol="0" anchor="ctr"/>
          <a:lstStyle/>
          <a:p>
            <a:pPr algn="ctr"/>
            <a:endParaRPr/>
          </a:p>
        </p:txBody>
      </p:sp>
      <p:sp>
        <p:nvSpPr>
          <p:cNvPr id="58" name="Badge"/>
          <p:cNvSpPr/>
          <p:nvPr/>
        </p:nvSpPr>
        <p:spPr>
          <a:xfrm>
            <a:off x="3931920" y="6089903"/>
            <a:ext cx="4297680" cy="274320"/>
          </a:xfrm>
          <a:prstGeom prst="roundRect">
            <a:avLst>
              <a:gd name="adj" fmla="val 50000"/>
            </a:avLst>
          </a:prstGeom>
          <a:solidFill>
            <a:srgbClr val="FF7A5C"/>
          </a:solidFill>
          <a:ln>
            <a:noFill/>
          </a:ln>
        </p:spPr>
        <p:txBody>
          <a:bodyPr wrap="square" lIns="18288" tIns="18288" rIns="18288" bIns="18288" rtlCol="0" anchor="ctr"/>
          <a:lstStyle/>
          <a:p>
            <a:pPr algn="ctr"/>
            <a:r>
              <a:rPr sz="1050" b="1" i="0" spc="40">
                <a:solidFill>
                  <a:srgbClr val="FFFFFF"/>
                </a:solidFill>
                <a:latin typeface="Times New Roman"/>
                <a:ea typeface="Times New Roman"/>
                <a:cs typeface="Times New Roman"/>
              </a:rPr>
              <a:t>Active Learning feedback retrains Stage 3</a:t>
            </a:r>
          </a:p>
        </p:txBody>
      </p:sp>
      <p:sp>
        <p:nvSpPr>
          <p:cNvPr id="59"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60"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14</a:t>
            </a:r>
          </a:p>
        </p:txBody>
      </p:sp>
      <p:sp>
        <p:nvSpPr>
          <p:cNvPr id="61"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62"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63"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64"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65"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PIPELINE COORDINATION</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1 — Orchestrator Agent</a:t>
            </a:r>
          </a:p>
        </p:txBody>
      </p:sp>
      <p:sp>
        <p:nvSpPr>
          <p:cNvPr id="4" name="Objective"/>
          <p:cNvSpPr txBox="1"/>
          <p:nvPr/>
        </p:nvSpPr>
        <p:spPr>
          <a:xfrm>
            <a:off x="548640" y="1188720"/>
            <a:ext cx="11064240" cy="502920"/>
          </a:xfrm>
          <a:prstGeom prst="rect">
            <a:avLst/>
          </a:prstGeom>
          <a:noFill/>
        </p:spPr>
        <p:txBody>
          <a:bodyPr wrap="square" lIns="45720" rIns="45720" anchor="ctr">
            <a:spAutoFit/>
          </a:bodyPr>
          <a:lstStyle/>
          <a:p>
            <a:pPr algn="l"/>
            <a:r>
              <a:rPr sz="1350" b="1" i="0">
                <a:solidFill>
                  <a:srgbClr val="00E5D4"/>
                </a:solidFill>
                <a:latin typeface="Times New Roman"/>
                <a:ea typeface="Times New Roman"/>
                <a:cs typeface="Times New Roman"/>
              </a:rPr>
              <a:t>Objective:  </a:t>
            </a:r>
            <a:r>
              <a:rPr sz="1350" b="0" i="0">
                <a:solidFill>
                  <a:srgbClr val="D7E1F5"/>
                </a:solidFill>
                <a:latin typeface="Times New Roman"/>
                <a:ea typeface="Times New Roman"/>
                <a:cs typeface="Times New Roman"/>
              </a:rPr>
              <a:t>Coordinates every stage and logs the full pipeline run.</a:t>
            </a:r>
          </a:p>
        </p:txBody>
      </p:sp>
      <p:sp>
        <p:nvSpPr>
          <p:cNvPr id="5" name="Row"/>
          <p:cNvSpPr/>
          <p:nvPr/>
        </p:nvSpPr>
        <p:spPr>
          <a:xfrm>
            <a:off x="548640" y="182880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6" name="Icon"/>
          <p:cNvSpPr/>
          <p:nvPr/>
        </p:nvSpPr>
        <p:spPr>
          <a:xfrm>
            <a:off x="694944" y="19735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7" name="RowText"/>
          <p:cNvSpPr txBox="1"/>
          <p:nvPr/>
        </p:nvSpPr>
        <p:spPr>
          <a:xfrm>
            <a:off x="1170432" y="1856231"/>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Work Dispatch</a:t>
            </a:r>
            <a:r>
              <a:rPr sz="1300" b="0" i="0">
                <a:solidFill>
                  <a:srgbClr val="000000"/>
                </a:solidFill>
                <a:latin typeface="Times New Roman"/>
                <a:ea typeface="Times New Roman"/>
                <a:cs typeface="Times New Roman"/>
              </a:rPr>
              <a:t>   Dispatches work to the agent responsible for each stage of the pipeline.</a:t>
            </a:r>
          </a:p>
        </p:txBody>
      </p:sp>
      <p:sp>
        <p:nvSpPr>
          <p:cNvPr id="8" name="Row"/>
          <p:cNvSpPr/>
          <p:nvPr/>
        </p:nvSpPr>
        <p:spPr>
          <a:xfrm>
            <a:off x="548640" y="257556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694944" y="272034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0" name="RowText"/>
          <p:cNvSpPr txBox="1"/>
          <p:nvPr/>
        </p:nvSpPr>
        <p:spPr>
          <a:xfrm>
            <a:off x="1170432" y="260299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Stage Sequencing</a:t>
            </a:r>
            <a:r>
              <a:rPr sz="1300" b="0" i="0">
                <a:solidFill>
                  <a:srgbClr val="000000"/>
                </a:solidFill>
                <a:latin typeface="Times New Roman"/>
                <a:ea typeface="Times New Roman"/>
                <a:cs typeface="Times New Roman"/>
              </a:rPr>
              <a:t>   Enforces sequencing: acquire, preprocess, features, train, fit and report always run in pipeline order.</a:t>
            </a:r>
          </a:p>
        </p:txBody>
      </p:sp>
      <p:sp>
        <p:nvSpPr>
          <p:cNvPr id="11" name="Row"/>
          <p:cNvSpPr/>
          <p:nvPr/>
        </p:nvSpPr>
        <p:spPr>
          <a:xfrm>
            <a:off x="548640" y="332232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694944" y="346710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3" name="RowText"/>
          <p:cNvSpPr txBox="1"/>
          <p:nvPr/>
        </p:nvSpPr>
        <p:spPr>
          <a:xfrm>
            <a:off x="1170432" y="334975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Failure Handling</a:t>
            </a:r>
            <a:r>
              <a:rPr sz="1300" b="0" i="0">
                <a:solidFill>
                  <a:srgbClr val="000000"/>
                </a:solidFill>
                <a:latin typeface="Times New Roman"/>
                <a:ea typeface="Times New Roman"/>
                <a:cs typeface="Times New Roman"/>
              </a:rPr>
              <a:t>   Retries failures; a stage that still cannot complete stops the run and is named in the log.</a:t>
            </a:r>
          </a:p>
        </p:txBody>
      </p:sp>
      <p:sp>
        <p:nvSpPr>
          <p:cNvPr id="14" name="Row"/>
          <p:cNvSpPr/>
          <p:nvPr/>
        </p:nvSpPr>
        <p:spPr>
          <a:xfrm>
            <a:off x="548640" y="406908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694944" y="421386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6" name="RowText"/>
          <p:cNvSpPr txBox="1"/>
          <p:nvPr/>
        </p:nvSpPr>
        <p:spPr>
          <a:xfrm>
            <a:off x="1170432" y="409651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Resume from Disk</a:t>
            </a:r>
            <a:r>
              <a:rPr sz="1300" b="0" i="0">
                <a:solidFill>
                  <a:srgbClr val="000000"/>
                </a:solidFill>
                <a:latin typeface="Times New Roman"/>
                <a:ea typeface="Times New Roman"/>
                <a:cs typeface="Times New Roman"/>
              </a:rPr>
              <a:t>   Each stage resumes from what is already saved, so an interrupted run continues instead of restarting.</a:t>
            </a:r>
          </a:p>
        </p:txBody>
      </p:sp>
      <p:sp>
        <p:nvSpPr>
          <p:cNvPr id="17" name="Row"/>
          <p:cNvSpPr/>
          <p:nvPr/>
        </p:nvSpPr>
        <p:spPr>
          <a:xfrm>
            <a:off x="548640" y="481584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8" name="Icon"/>
          <p:cNvSpPr/>
          <p:nvPr/>
        </p:nvSpPr>
        <p:spPr>
          <a:xfrm>
            <a:off x="694944" y="496062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9" name="RowText"/>
          <p:cNvSpPr txBox="1"/>
          <p:nvPr/>
        </p:nvSpPr>
        <p:spPr>
          <a:xfrm>
            <a:off x="1170432" y="484327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Run Logging</a:t>
            </a:r>
            <a:r>
              <a:rPr sz="1300" b="0" i="0">
                <a:solidFill>
                  <a:srgbClr val="000000"/>
                </a:solidFill>
                <a:latin typeface="Times New Roman"/>
                <a:ea typeface="Times New Roman"/>
                <a:cs typeface="Times New Roman"/>
              </a:rPr>
              <a:t>   Logs every stage of the run with its duration and a one-line summary of what it produced.</a:t>
            </a:r>
          </a:p>
        </p:txBody>
      </p:sp>
      <p:sp>
        <p:nvSpPr>
          <p:cNvPr id="20" name="Row"/>
          <p:cNvSpPr/>
          <p:nvPr/>
        </p:nvSpPr>
        <p:spPr>
          <a:xfrm>
            <a:off x="548640" y="556260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21" name="Icon"/>
          <p:cNvSpPr/>
          <p:nvPr/>
        </p:nvSpPr>
        <p:spPr>
          <a:xfrm>
            <a:off x="694944" y="57073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06</a:t>
            </a:r>
          </a:p>
        </p:txBody>
      </p:sp>
      <p:sp>
        <p:nvSpPr>
          <p:cNvPr id="22" name="RowText"/>
          <p:cNvSpPr txBox="1"/>
          <p:nvPr/>
        </p:nvSpPr>
        <p:spPr>
          <a:xfrm>
            <a:off x="1170432" y="559003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Two Run Modes</a:t>
            </a:r>
            <a:r>
              <a:rPr sz="1300" b="0" i="0">
                <a:solidFill>
                  <a:srgbClr val="000000"/>
                </a:solidFill>
                <a:latin typeface="Times New Roman"/>
                <a:ea typeface="Times New Roman"/>
                <a:cs typeface="Times New Roman"/>
              </a:rPr>
              <a:t>   Batch mode chains the stages over many targets; single-target mode takes one star end to end.</a:t>
            </a:r>
          </a:p>
        </p:txBody>
      </p:sp>
      <p:sp>
        <p:nvSpPr>
          <p:cNvPr id="23" name="Label"/>
          <p:cNvSpPr txBox="1"/>
          <p:nvPr/>
        </p:nvSpPr>
        <p:spPr>
          <a:xfrm>
            <a:off x="8183879" y="18288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STAGE FLOW</a:t>
            </a:r>
          </a:p>
        </p:txBody>
      </p:sp>
      <p:sp>
        <p:nvSpPr>
          <p:cNvPr id="24" name="Card"/>
          <p:cNvSpPr/>
          <p:nvPr/>
        </p:nvSpPr>
        <p:spPr>
          <a:xfrm>
            <a:off x="8183879" y="2176272"/>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25" name="Icon"/>
          <p:cNvSpPr/>
          <p:nvPr/>
        </p:nvSpPr>
        <p:spPr>
          <a:xfrm>
            <a:off x="8330183" y="2273198"/>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26" name="TextBox 25"/>
          <p:cNvSpPr txBox="1"/>
          <p:nvPr/>
        </p:nvSpPr>
        <p:spPr>
          <a:xfrm>
            <a:off x="8805672" y="2194560"/>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Pipeline Run Request</a:t>
            </a:r>
          </a:p>
        </p:txBody>
      </p:sp>
      <p:sp>
        <p:nvSpPr>
          <p:cNvPr id="27" name="Arrow"/>
          <p:cNvSpPr/>
          <p:nvPr/>
        </p:nvSpPr>
        <p:spPr>
          <a:xfrm>
            <a:off x="9797796" y="2799892"/>
            <a:ext cx="201168" cy="219456"/>
          </a:xfrm>
          <a:prstGeom prst="downArrow">
            <a:avLst/>
          </a:prstGeom>
          <a:solidFill>
            <a:srgbClr val="FFFFFF"/>
          </a:solidFill>
          <a:ln>
            <a:noFill/>
          </a:ln>
        </p:spPr>
        <p:txBody>
          <a:bodyPr rtlCol="0" anchor="ctr"/>
          <a:lstStyle/>
          <a:p>
            <a:pPr algn="ctr"/>
            <a:endParaRPr/>
          </a:p>
        </p:txBody>
      </p:sp>
      <p:sp>
        <p:nvSpPr>
          <p:cNvPr id="28" name="Card"/>
          <p:cNvSpPr/>
          <p:nvPr/>
        </p:nvSpPr>
        <p:spPr>
          <a:xfrm>
            <a:off x="8183879" y="3065068"/>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29" name="Icon"/>
          <p:cNvSpPr/>
          <p:nvPr/>
        </p:nvSpPr>
        <p:spPr>
          <a:xfrm>
            <a:off x="8330183" y="3161995"/>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30" name="TextBox 29"/>
          <p:cNvSpPr txBox="1"/>
          <p:nvPr/>
        </p:nvSpPr>
        <p:spPr>
          <a:xfrm>
            <a:off x="8805672" y="3083356"/>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Dispatch Stage to Its Agent</a:t>
            </a:r>
          </a:p>
        </p:txBody>
      </p:sp>
      <p:sp>
        <p:nvSpPr>
          <p:cNvPr id="31" name="Arrow"/>
          <p:cNvSpPr/>
          <p:nvPr/>
        </p:nvSpPr>
        <p:spPr>
          <a:xfrm>
            <a:off x="9797796" y="3688689"/>
            <a:ext cx="201168" cy="219456"/>
          </a:xfrm>
          <a:prstGeom prst="downArrow">
            <a:avLst/>
          </a:prstGeom>
          <a:solidFill>
            <a:srgbClr val="FFFFFF"/>
          </a:solidFill>
          <a:ln>
            <a:noFill/>
          </a:ln>
        </p:spPr>
        <p:txBody>
          <a:bodyPr rtlCol="0" anchor="ctr"/>
          <a:lstStyle/>
          <a:p>
            <a:pPr algn="ctr"/>
            <a:endParaRPr/>
          </a:p>
        </p:txBody>
      </p:sp>
      <p:sp>
        <p:nvSpPr>
          <p:cNvPr id="32" name="Card"/>
          <p:cNvSpPr/>
          <p:nvPr/>
        </p:nvSpPr>
        <p:spPr>
          <a:xfrm>
            <a:off x="8183879" y="3953865"/>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33" name="Icon"/>
          <p:cNvSpPr/>
          <p:nvPr/>
        </p:nvSpPr>
        <p:spPr>
          <a:xfrm>
            <a:off x="8330183" y="4050791"/>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34" name="TextBox 33"/>
          <p:cNvSpPr txBox="1"/>
          <p:nvPr/>
        </p:nvSpPr>
        <p:spPr>
          <a:xfrm>
            <a:off x="8805672" y="3972153"/>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Retry or Stop on Failure</a:t>
            </a:r>
          </a:p>
        </p:txBody>
      </p:sp>
      <p:sp>
        <p:nvSpPr>
          <p:cNvPr id="35" name="Arrow"/>
          <p:cNvSpPr/>
          <p:nvPr/>
        </p:nvSpPr>
        <p:spPr>
          <a:xfrm>
            <a:off x="9797796" y="4577486"/>
            <a:ext cx="201168" cy="219456"/>
          </a:xfrm>
          <a:prstGeom prst="downArrow">
            <a:avLst/>
          </a:prstGeom>
          <a:solidFill>
            <a:srgbClr val="FFFFFF"/>
          </a:solidFill>
          <a:ln>
            <a:noFill/>
          </a:ln>
        </p:spPr>
        <p:txBody>
          <a:bodyPr rtlCol="0" anchor="ctr"/>
          <a:lstStyle/>
          <a:p>
            <a:pPr algn="ctr"/>
            <a:endParaRPr/>
          </a:p>
        </p:txBody>
      </p:sp>
      <p:sp>
        <p:nvSpPr>
          <p:cNvPr id="36" name="Card"/>
          <p:cNvSpPr/>
          <p:nvPr/>
        </p:nvSpPr>
        <p:spPr>
          <a:xfrm>
            <a:off x="8183879" y="4842662"/>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37" name="Icon"/>
          <p:cNvSpPr/>
          <p:nvPr/>
        </p:nvSpPr>
        <p:spPr>
          <a:xfrm>
            <a:off x="8330183" y="4939588"/>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38" name="TextBox 37"/>
          <p:cNvSpPr txBox="1"/>
          <p:nvPr/>
        </p:nvSpPr>
        <p:spPr>
          <a:xfrm>
            <a:off x="8805672" y="4860950"/>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Log Stage &amp; Move On</a:t>
            </a:r>
          </a:p>
        </p:txBody>
      </p:sp>
      <p:sp>
        <p:nvSpPr>
          <p:cNvPr id="39" name="Arrow"/>
          <p:cNvSpPr/>
          <p:nvPr/>
        </p:nvSpPr>
        <p:spPr>
          <a:xfrm>
            <a:off x="9797796" y="5466283"/>
            <a:ext cx="201168" cy="219456"/>
          </a:xfrm>
          <a:prstGeom prst="downArrow">
            <a:avLst/>
          </a:prstGeom>
          <a:solidFill>
            <a:srgbClr val="FFFFFF"/>
          </a:solidFill>
          <a:ln>
            <a:noFill/>
          </a:ln>
        </p:spPr>
        <p:txBody>
          <a:bodyPr rtlCol="0" anchor="ctr"/>
          <a:lstStyle/>
          <a:p>
            <a:pPr algn="ctr"/>
            <a:endParaRPr/>
          </a:p>
        </p:txBody>
      </p:sp>
      <p:sp>
        <p:nvSpPr>
          <p:cNvPr id="40" name="Card"/>
          <p:cNvSpPr/>
          <p:nvPr/>
        </p:nvSpPr>
        <p:spPr>
          <a:xfrm>
            <a:off x="8183879" y="5731459"/>
            <a:ext cx="3429000" cy="577900"/>
          </a:xfrm>
          <a:prstGeom prst="roundRect">
            <a:avLst>
              <a:gd name="adj" fmla="val 14240"/>
            </a:avLst>
          </a:prstGeom>
          <a:solidFill>
            <a:srgbClr val="2F5296"/>
          </a:solidFill>
          <a:ln w="12700">
            <a:solidFill>
              <a:srgbClr val="2C4C8C"/>
            </a:solidFill>
          </a:ln>
        </p:spPr>
        <p:txBody>
          <a:bodyPr rtlCol="0" anchor="ctr"/>
          <a:lstStyle/>
          <a:p>
            <a:pPr algn="ctr"/>
            <a:endParaRPr/>
          </a:p>
        </p:txBody>
      </p:sp>
      <p:sp>
        <p:nvSpPr>
          <p:cNvPr id="41" name="Icon"/>
          <p:cNvSpPr/>
          <p:nvPr/>
        </p:nvSpPr>
        <p:spPr>
          <a:xfrm>
            <a:off x="8330183" y="5828385"/>
            <a:ext cx="384048" cy="384048"/>
          </a:xfrm>
          <a:prstGeom prst="ellipse">
            <a:avLst/>
          </a:prstGeom>
          <a:solidFill>
            <a:srgbClr val="3A5FA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42" name="TextBox 41"/>
          <p:cNvSpPr txBox="1"/>
          <p:nvPr/>
        </p:nvSpPr>
        <p:spPr>
          <a:xfrm>
            <a:off x="8805672" y="5749747"/>
            <a:ext cx="2697480" cy="541324"/>
          </a:xfrm>
          <a:prstGeom prst="rect">
            <a:avLst/>
          </a:prstGeom>
          <a:noFill/>
        </p:spPr>
        <p:txBody>
          <a:bodyPr wrap="square" lIns="45720" rIns="45720" anchor="ctr">
            <a:spAutoFit/>
          </a:bodyPr>
          <a:lstStyle/>
          <a:p>
            <a:pPr algn="l"/>
            <a:r>
              <a:rPr sz="1250" b="1" i="0">
                <a:solidFill>
                  <a:srgbClr val="FFFFFF"/>
                </a:solidFill>
                <a:latin typeface="Times New Roman"/>
                <a:ea typeface="Times New Roman"/>
                <a:cs typeface="Times New Roman"/>
              </a:rPr>
              <a:t>Completed Run + Run Log</a:t>
            </a:r>
          </a:p>
        </p:txBody>
      </p:sp>
      <p:sp>
        <p:nvSpPr>
          <p:cNvPr id="43"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44"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15</a:t>
            </a:r>
          </a:p>
        </p:txBody>
      </p:sp>
      <p:sp>
        <p:nvSpPr>
          <p:cNvPr id="45"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46"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47"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48"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49"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PIPELINE COORDINATION</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1 — Visual Explanation &amp; Output</a:t>
            </a:r>
          </a:p>
        </p:txBody>
      </p:sp>
      <p:sp>
        <p:nvSpPr>
          <p:cNvPr id="4" name="Card"/>
          <p:cNvSpPr/>
          <p:nvPr/>
        </p:nvSpPr>
        <p:spPr>
          <a:xfrm>
            <a:off x="548640" y="1371600"/>
            <a:ext cx="7360920" cy="4937760"/>
          </a:xfrm>
          <a:prstGeom prst="roundRect">
            <a:avLst>
              <a:gd name="adj" fmla="val 1666"/>
            </a:avLst>
          </a:prstGeom>
          <a:solidFill>
            <a:srgbClr val="FFFFFF"/>
          </a:solidFill>
          <a:ln w="12700">
            <a:solidFill>
              <a:srgbClr val="2C4C8C"/>
            </a:solidFill>
          </a:ln>
        </p:spPr>
        <p:txBody>
          <a:bodyPr rtlCol="0" anchor="ctr"/>
          <a:lstStyle/>
          <a:p>
            <a:pPr algn="ctr"/>
            <a:endParaRPr/>
          </a:p>
        </p:txBody>
      </p:sp>
      <p:sp>
        <p:nvSpPr>
          <p:cNvPr id="5" name="TextBox 4"/>
          <p:cNvSpPr txBox="1"/>
          <p:nvPr/>
        </p:nvSpPr>
        <p:spPr>
          <a:xfrm>
            <a:off x="777240" y="1481328"/>
            <a:ext cx="6903720" cy="329184"/>
          </a:xfrm>
          <a:prstGeom prst="rect">
            <a:avLst/>
          </a:prstGeom>
          <a:noFill/>
        </p:spPr>
        <p:txBody>
          <a:bodyPr wrap="square" lIns="45720" rIns="45720" anchor="ctr">
            <a:spAutoFit/>
          </a:bodyPr>
          <a:lstStyle/>
          <a:p>
            <a:pPr algn="ctr"/>
            <a:r>
              <a:rPr sz="1300" b="1" i="0">
                <a:solidFill>
                  <a:srgbClr val="2F5296"/>
                </a:solidFill>
                <a:latin typeface="Times New Roman"/>
                <a:ea typeface="Times New Roman"/>
                <a:cs typeface="Times New Roman"/>
              </a:rPr>
              <a:t>One orchestrator, eight worker agents</a:t>
            </a:r>
          </a:p>
        </p:txBody>
      </p:sp>
      <p:sp>
        <p:nvSpPr>
          <p:cNvPr id="6" name="Card"/>
          <p:cNvSpPr/>
          <p:nvPr/>
        </p:nvSpPr>
        <p:spPr>
          <a:xfrm>
            <a:off x="822960" y="3246120"/>
            <a:ext cx="6812280" cy="868680"/>
          </a:xfrm>
          <a:prstGeom prst="roundRect">
            <a:avLst>
              <a:gd name="adj" fmla="val 9473"/>
            </a:avLst>
          </a:prstGeom>
          <a:solidFill>
            <a:srgbClr val="2F5296"/>
          </a:solidFill>
          <a:ln w="12700">
            <a:solidFill>
              <a:srgbClr val="2C4C8C"/>
            </a:solidFill>
          </a:ln>
        </p:spPr>
        <p:txBody>
          <a:bodyPr wrap="square" lIns="36576" tIns="36576" rIns="36576" bIns="36576" rtlCol="0" anchor="ctr"/>
          <a:lstStyle/>
          <a:p>
            <a:pPr algn="ctr"/>
            <a:r>
              <a:rPr sz="1400" b="1" i="0" spc="120">
                <a:solidFill>
                  <a:srgbClr val="00E5D4"/>
                </a:solidFill>
                <a:latin typeface="Times New Roman"/>
                <a:ea typeface="Times New Roman"/>
                <a:cs typeface="Times New Roman"/>
              </a:rPr>
              <a:t>ORCHESTRATOR AGENT</a:t>
            </a:r>
          </a:p>
          <a:p>
            <a:pPr algn="ctr">
              <a:spcBef>
                <a:spcPts val="300"/>
              </a:spcBef>
            </a:pPr>
            <a:r>
              <a:rPr sz="1150" b="0" i="0">
                <a:solidFill>
                  <a:srgbClr val="FFFFFF"/>
                </a:solidFill>
                <a:latin typeface="Times New Roman"/>
                <a:ea typeface="Times New Roman"/>
                <a:cs typeface="Times New Roman"/>
              </a:rPr>
              <a:t>dispatches work  ·  enforces sequencing  ·  retries failures  ·  logs every stage</a:t>
            </a:r>
          </a:p>
        </p:txBody>
      </p:sp>
      <p:sp>
        <p:nvSpPr>
          <p:cNvPr id="7" name="Card"/>
          <p:cNvSpPr/>
          <p:nvPr/>
        </p:nvSpPr>
        <p:spPr>
          <a:xfrm>
            <a:off x="822960" y="1938528"/>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8" name="Icon"/>
          <p:cNvSpPr/>
          <p:nvPr/>
        </p:nvSpPr>
        <p:spPr>
          <a:xfrm>
            <a:off x="914400" y="218998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9" name="TextBox 8"/>
          <p:cNvSpPr txBox="1"/>
          <p:nvPr/>
        </p:nvSpPr>
        <p:spPr>
          <a:xfrm>
            <a:off x="1325880" y="1965960"/>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Data Acquisition</a:t>
            </a:r>
          </a:p>
        </p:txBody>
      </p:sp>
      <p:sp>
        <p:nvSpPr>
          <p:cNvPr id="10" name="Arrow"/>
          <p:cNvSpPr/>
          <p:nvPr/>
        </p:nvSpPr>
        <p:spPr>
          <a:xfrm>
            <a:off x="1517904" y="2862072"/>
            <a:ext cx="182880" cy="329184"/>
          </a:xfrm>
          <a:prstGeom prst="upArrow">
            <a:avLst/>
          </a:prstGeom>
          <a:solidFill>
            <a:srgbClr val="2F5296"/>
          </a:solidFill>
          <a:ln>
            <a:noFill/>
          </a:ln>
        </p:spPr>
        <p:txBody>
          <a:bodyPr rtlCol="0" anchor="ctr"/>
          <a:lstStyle/>
          <a:p>
            <a:pPr algn="ctr"/>
            <a:endParaRPr/>
          </a:p>
        </p:txBody>
      </p:sp>
      <p:sp>
        <p:nvSpPr>
          <p:cNvPr id="11" name="Card"/>
          <p:cNvSpPr/>
          <p:nvPr/>
        </p:nvSpPr>
        <p:spPr>
          <a:xfrm>
            <a:off x="2569464" y="1938528"/>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12" name="Icon"/>
          <p:cNvSpPr/>
          <p:nvPr/>
        </p:nvSpPr>
        <p:spPr>
          <a:xfrm>
            <a:off x="2660904" y="218998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3" name="TextBox 12"/>
          <p:cNvSpPr txBox="1"/>
          <p:nvPr/>
        </p:nvSpPr>
        <p:spPr>
          <a:xfrm>
            <a:off x="3072384" y="1965960"/>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Preprocessing</a:t>
            </a:r>
          </a:p>
        </p:txBody>
      </p:sp>
      <p:sp>
        <p:nvSpPr>
          <p:cNvPr id="14" name="Arrow"/>
          <p:cNvSpPr/>
          <p:nvPr/>
        </p:nvSpPr>
        <p:spPr>
          <a:xfrm>
            <a:off x="3264408" y="2862072"/>
            <a:ext cx="182880" cy="329184"/>
          </a:xfrm>
          <a:prstGeom prst="upArrow">
            <a:avLst/>
          </a:prstGeom>
          <a:solidFill>
            <a:srgbClr val="2F5296"/>
          </a:solidFill>
          <a:ln>
            <a:noFill/>
          </a:ln>
        </p:spPr>
        <p:txBody>
          <a:bodyPr rtlCol="0" anchor="ctr"/>
          <a:lstStyle/>
          <a:p>
            <a:pPr algn="ctr"/>
            <a:endParaRPr/>
          </a:p>
        </p:txBody>
      </p:sp>
      <p:sp>
        <p:nvSpPr>
          <p:cNvPr id="15" name="Card"/>
          <p:cNvSpPr/>
          <p:nvPr/>
        </p:nvSpPr>
        <p:spPr>
          <a:xfrm>
            <a:off x="4315968" y="1938528"/>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16" name="Icon"/>
          <p:cNvSpPr/>
          <p:nvPr/>
        </p:nvSpPr>
        <p:spPr>
          <a:xfrm>
            <a:off x="4407407" y="218998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7" name="TextBox 16"/>
          <p:cNvSpPr txBox="1"/>
          <p:nvPr/>
        </p:nvSpPr>
        <p:spPr>
          <a:xfrm>
            <a:off x="4818888" y="1965960"/>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Transit Detection</a:t>
            </a:r>
          </a:p>
        </p:txBody>
      </p:sp>
      <p:sp>
        <p:nvSpPr>
          <p:cNvPr id="18" name="Arrow"/>
          <p:cNvSpPr/>
          <p:nvPr/>
        </p:nvSpPr>
        <p:spPr>
          <a:xfrm>
            <a:off x="5010912" y="2862072"/>
            <a:ext cx="182880" cy="329184"/>
          </a:xfrm>
          <a:prstGeom prst="upArrow">
            <a:avLst/>
          </a:prstGeom>
          <a:solidFill>
            <a:srgbClr val="2F5296"/>
          </a:solidFill>
          <a:ln>
            <a:noFill/>
          </a:ln>
        </p:spPr>
        <p:txBody>
          <a:bodyPr rtlCol="0" anchor="ctr"/>
          <a:lstStyle/>
          <a:p>
            <a:pPr algn="ctr"/>
            <a:endParaRPr/>
          </a:p>
        </p:txBody>
      </p:sp>
      <p:sp>
        <p:nvSpPr>
          <p:cNvPr id="19" name="Card"/>
          <p:cNvSpPr/>
          <p:nvPr/>
        </p:nvSpPr>
        <p:spPr>
          <a:xfrm>
            <a:off x="6062472" y="1938528"/>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20" name="Icon"/>
          <p:cNvSpPr/>
          <p:nvPr/>
        </p:nvSpPr>
        <p:spPr>
          <a:xfrm>
            <a:off x="6153912" y="218998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21" name="TextBox 20"/>
          <p:cNvSpPr txBox="1"/>
          <p:nvPr/>
        </p:nvSpPr>
        <p:spPr>
          <a:xfrm>
            <a:off x="6565392" y="1965960"/>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Feature Engineering (GPU)</a:t>
            </a:r>
          </a:p>
        </p:txBody>
      </p:sp>
      <p:sp>
        <p:nvSpPr>
          <p:cNvPr id="22" name="Arrow"/>
          <p:cNvSpPr/>
          <p:nvPr/>
        </p:nvSpPr>
        <p:spPr>
          <a:xfrm>
            <a:off x="6757416" y="2862072"/>
            <a:ext cx="182880" cy="329184"/>
          </a:xfrm>
          <a:prstGeom prst="upArrow">
            <a:avLst/>
          </a:prstGeom>
          <a:solidFill>
            <a:srgbClr val="2F5296"/>
          </a:solidFill>
          <a:ln>
            <a:noFill/>
          </a:ln>
        </p:spPr>
        <p:txBody>
          <a:bodyPr rtlCol="0" anchor="ctr"/>
          <a:lstStyle/>
          <a:p>
            <a:pPr algn="ctr"/>
            <a:endParaRPr/>
          </a:p>
        </p:txBody>
      </p:sp>
      <p:sp>
        <p:nvSpPr>
          <p:cNvPr id="23" name="Card"/>
          <p:cNvSpPr/>
          <p:nvPr/>
        </p:nvSpPr>
        <p:spPr>
          <a:xfrm>
            <a:off x="822960" y="4553712"/>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24" name="Icon"/>
          <p:cNvSpPr/>
          <p:nvPr/>
        </p:nvSpPr>
        <p:spPr>
          <a:xfrm>
            <a:off x="914400" y="480517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06</a:t>
            </a:r>
          </a:p>
        </p:txBody>
      </p:sp>
      <p:sp>
        <p:nvSpPr>
          <p:cNvPr id="25" name="TextBox 24"/>
          <p:cNvSpPr txBox="1"/>
          <p:nvPr/>
        </p:nvSpPr>
        <p:spPr>
          <a:xfrm>
            <a:off x="1325880" y="4581144"/>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Classification</a:t>
            </a:r>
          </a:p>
        </p:txBody>
      </p:sp>
      <p:sp>
        <p:nvSpPr>
          <p:cNvPr id="26" name="Arrow"/>
          <p:cNvSpPr/>
          <p:nvPr/>
        </p:nvSpPr>
        <p:spPr>
          <a:xfrm>
            <a:off x="1517904" y="4169663"/>
            <a:ext cx="182880" cy="329184"/>
          </a:xfrm>
          <a:prstGeom prst="downArrow">
            <a:avLst/>
          </a:prstGeom>
          <a:solidFill>
            <a:srgbClr val="2F5296"/>
          </a:solidFill>
          <a:ln>
            <a:noFill/>
          </a:ln>
        </p:spPr>
        <p:txBody>
          <a:bodyPr rtlCol="0" anchor="ctr"/>
          <a:lstStyle/>
          <a:p>
            <a:pPr algn="ctr"/>
            <a:endParaRPr/>
          </a:p>
        </p:txBody>
      </p:sp>
      <p:sp>
        <p:nvSpPr>
          <p:cNvPr id="27" name="Card"/>
          <p:cNvSpPr/>
          <p:nvPr/>
        </p:nvSpPr>
        <p:spPr>
          <a:xfrm>
            <a:off x="2569464" y="4553712"/>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28" name="Icon"/>
          <p:cNvSpPr/>
          <p:nvPr/>
        </p:nvSpPr>
        <p:spPr>
          <a:xfrm>
            <a:off x="2660904" y="480517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07</a:t>
            </a:r>
          </a:p>
        </p:txBody>
      </p:sp>
      <p:sp>
        <p:nvSpPr>
          <p:cNvPr id="29" name="TextBox 28"/>
          <p:cNvSpPr txBox="1"/>
          <p:nvPr/>
        </p:nvSpPr>
        <p:spPr>
          <a:xfrm>
            <a:off x="3072384" y="4581144"/>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Parameter Fitting</a:t>
            </a:r>
          </a:p>
        </p:txBody>
      </p:sp>
      <p:sp>
        <p:nvSpPr>
          <p:cNvPr id="30" name="Arrow"/>
          <p:cNvSpPr/>
          <p:nvPr/>
        </p:nvSpPr>
        <p:spPr>
          <a:xfrm>
            <a:off x="3264408" y="4169663"/>
            <a:ext cx="182880" cy="329184"/>
          </a:xfrm>
          <a:prstGeom prst="downArrow">
            <a:avLst/>
          </a:prstGeom>
          <a:solidFill>
            <a:srgbClr val="2F5296"/>
          </a:solidFill>
          <a:ln>
            <a:noFill/>
          </a:ln>
        </p:spPr>
        <p:txBody>
          <a:bodyPr rtlCol="0" anchor="ctr"/>
          <a:lstStyle/>
          <a:p>
            <a:pPr algn="ctr"/>
            <a:endParaRPr/>
          </a:p>
        </p:txBody>
      </p:sp>
      <p:sp>
        <p:nvSpPr>
          <p:cNvPr id="31" name="Card"/>
          <p:cNvSpPr/>
          <p:nvPr/>
        </p:nvSpPr>
        <p:spPr>
          <a:xfrm>
            <a:off x="4315968" y="4553712"/>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32" name="Icon"/>
          <p:cNvSpPr/>
          <p:nvPr/>
        </p:nvSpPr>
        <p:spPr>
          <a:xfrm>
            <a:off x="4407407" y="480517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08</a:t>
            </a:r>
          </a:p>
        </p:txBody>
      </p:sp>
      <p:sp>
        <p:nvSpPr>
          <p:cNvPr id="33" name="TextBox 32"/>
          <p:cNvSpPr txBox="1"/>
          <p:nvPr/>
        </p:nvSpPr>
        <p:spPr>
          <a:xfrm>
            <a:off x="4818888" y="4581144"/>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Active Learning</a:t>
            </a:r>
          </a:p>
        </p:txBody>
      </p:sp>
      <p:sp>
        <p:nvSpPr>
          <p:cNvPr id="34" name="Arrow"/>
          <p:cNvSpPr/>
          <p:nvPr/>
        </p:nvSpPr>
        <p:spPr>
          <a:xfrm>
            <a:off x="5010912" y="4169663"/>
            <a:ext cx="182880" cy="329184"/>
          </a:xfrm>
          <a:prstGeom prst="downArrow">
            <a:avLst/>
          </a:prstGeom>
          <a:solidFill>
            <a:srgbClr val="2F5296"/>
          </a:solidFill>
          <a:ln>
            <a:noFill/>
          </a:ln>
        </p:spPr>
        <p:txBody>
          <a:bodyPr rtlCol="0" anchor="ctr"/>
          <a:lstStyle/>
          <a:p>
            <a:pPr algn="ctr"/>
            <a:endParaRPr/>
          </a:p>
        </p:txBody>
      </p:sp>
      <p:sp>
        <p:nvSpPr>
          <p:cNvPr id="35" name="Card"/>
          <p:cNvSpPr/>
          <p:nvPr/>
        </p:nvSpPr>
        <p:spPr>
          <a:xfrm>
            <a:off x="6062472" y="4553712"/>
            <a:ext cx="1572768" cy="868680"/>
          </a:xfrm>
          <a:prstGeom prst="roundRect">
            <a:avLst>
              <a:gd name="adj" fmla="val 9473"/>
            </a:avLst>
          </a:prstGeom>
          <a:solidFill>
            <a:srgbClr val="D7E1F5"/>
          </a:solidFill>
          <a:ln w="12700">
            <a:solidFill>
              <a:srgbClr val="2C4C8C"/>
            </a:solidFill>
          </a:ln>
        </p:spPr>
        <p:txBody>
          <a:bodyPr rtlCol="0" anchor="ctr"/>
          <a:lstStyle/>
          <a:p>
            <a:pPr algn="ctr"/>
            <a:endParaRPr/>
          </a:p>
        </p:txBody>
      </p:sp>
      <p:sp>
        <p:nvSpPr>
          <p:cNvPr id="36" name="Icon"/>
          <p:cNvSpPr/>
          <p:nvPr/>
        </p:nvSpPr>
        <p:spPr>
          <a:xfrm>
            <a:off x="6153912" y="480517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09</a:t>
            </a:r>
          </a:p>
        </p:txBody>
      </p:sp>
      <p:sp>
        <p:nvSpPr>
          <p:cNvPr id="37" name="TextBox 36"/>
          <p:cNvSpPr txBox="1"/>
          <p:nvPr/>
        </p:nvSpPr>
        <p:spPr>
          <a:xfrm>
            <a:off x="6565392" y="4581144"/>
            <a:ext cx="1024128" cy="813816"/>
          </a:xfrm>
          <a:prstGeom prst="rect">
            <a:avLst/>
          </a:prstGeom>
          <a:noFill/>
        </p:spPr>
        <p:txBody>
          <a:bodyPr wrap="square" lIns="18288" tIns="18288" rIns="18288" bIns="18288" anchor="ctr">
            <a:spAutoFit/>
          </a:bodyPr>
          <a:lstStyle/>
          <a:p>
            <a:pPr algn="l"/>
            <a:r>
              <a:rPr sz="1150" b="1" i="0">
                <a:solidFill>
                  <a:srgbClr val="000000"/>
                </a:solidFill>
                <a:latin typeface="Times New Roman"/>
                <a:ea typeface="Times New Roman"/>
                <a:cs typeface="Times New Roman"/>
              </a:rPr>
              <a:t>Reporting</a:t>
            </a:r>
          </a:p>
        </p:txBody>
      </p:sp>
      <p:sp>
        <p:nvSpPr>
          <p:cNvPr id="38" name="Arrow"/>
          <p:cNvSpPr/>
          <p:nvPr/>
        </p:nvSpPr>
        <p:spPr>
          <a:xfrm>
            <a:off x="6757416" y="4169663"/>
            <a:ext cx="182880" cy="329184"/>
          </a:xfrm>
          <a:prstGeom prst="downArrow">
            <a:avLst/>
          </a:prstGeom>
          <a:solidFill>
            <a:srgbClr val="2F5296"/>
          </a:solidFill>
          <a:ln>
            <a:noFill/>
          </a:ln>
        </p:spPr>
        <p:txBody>
          <a:bodyPr rtlCol="0" anchor="ctr"/>
          <a:lstStyle/>
          <a:p>
            <a:pPr algn="ctr"/>
            <a:endParaRPr/>
          </a:p>
        </p:txBody>
      </p:sp>
      <p:sp>
        <p:nvSpPr>
          <p:cNvPr id="39" name="Caption"/>
          <p:cNvSpPr txBox="1"/>
          <p:nvPr/>
        </p:nvSpPr>
        <p:spPr>
          <a:xfrm>
            <a:off x="685800" y="5577840"/>
            <a:ext cx="7086600" cy="640080"/>
          </a:xfrm>
          <a:prstGeom prst="rect">
            <a:avLst/>
          </a:prstGeom>
          <a:noFill/>
        </p:spPr>
        <p:txBody>
          <a:bodyPr wrap="square" lIns="45720" rIns="45720" anchor="ctr">
            <a:spAutoFit/>
          </a:bodyPr>
          <a:lstStyle/>
          <a:p>
            <a:pPr algn="l"/>
            <a:r>
              <a:rPr sz="1050" b="1" i="0">
                <a:solidFill>
                  <a:srgbClr val="2F5296"/>
                </a:solidFill>
                <a:latin typeface="Times New Roman"/>
                <a:ea typeface="Times New Roman"/>
                <a:cs typeface="Times New Roman"/>
              </a:rPr>
              <a:t>Illustration of: Work Dispatch, Stage Sequencing, Failure Handling, Resume from Disk, Run Logging, Two Run Modes.</a:t>
            </a:r>
          </a:p>
          <a:p>
            <a:pPr algn="l"/>
            <a:r>
              <a:rPr sz="1000" b="0" i="1">
                <a:solidFill>
                  <a:srgbClr val="5B6B8C"/>
                </a:solidFill>
                <a:latin typeface="Times New Roman"/>
                <a:ea typeface="Times New Roman"/>
                <a:cs typeface="Times New Roman"/>
              </a:rPr>
              <a:t>Schematic drawn for explanation only; it is not measured pipeline output.</a:t>
            </a:r>
          </a:p>
        </p:txBody>
      </p:sp>
      <p:sp>
        <p:nvSpPr>
          <p:cNvPr id="40" name="Label"/>
          <p:cNvSpPr txBox="1"/>
          <p:nvPr/>
        </p:nvSpPr>
        <p:spPr>
          <a:xfrm>
            <a:off x="8183879" y="13716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OUTPUT</a:t>
            </a:r>
          </a:p>
        </p:txBody>
      </p:sp>
      <p:sp>
        <p:nvSpPr>
          <p:cNvPr id="41" name="Row"/>
          <p:cNvSpPr/>
          <p:nvPr/>
        </p:nvSpPr>
        <p:spPr>
          <a:xfrm>
            <a:off x="8183879" y="1719072"/>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42" name="Icon"/>
          <p:cNvSpPr/>
          <p:nvPr/>
        </p:nvSpPr>
        <p:spPr>
          <a:xfrm>
            <a:off x="8330183" y="198424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43" name="RowText"/>
          <p:cNvSpPr txBox="1"/>
          <p:nvPr/>
        </p:nvSpPr>
        <p:spPr>
          <a:xfrm>
            <a:off x="8805672" y="1746504"/>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Stages completed in the correct order</a:t>
            </a:r>
          </a:p>
        </p:txBody>
      </p:sp>
      <p:sp>
        <p:nvSpPr>
          <p:cNvPr id="44" name="Row"/>
          <p:cNvSpPr/>
          <p:nvPr/>
        </p:nvSpPr>
        <p:spPr>
          <a:xfrm>
            <a:off x="8183879" y="2743200"/>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45" name="Icon"/>
          <p:cNvSpPr/>
          <p:nvPr/>
        </p:nvSpPr>
        <p:spPr>
          <a:xfrm>
            <a:off x="8330183" y="300837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46" name="RowText"/>
          <p:cNvSpPr txBox="1"/>
          <p:nvPr/>
        </p:nvSpPr>
        <p:spPr>
          <a:xfrm>
            <a:off x="8805672" y="2770632"/>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Full pipeline run log (stage, time, summary)</a:t>
            </a:r>
          </a:p>
        </p:txBody>
      </p:sp>
      <p:sp>
        <p:nvSpPr>
          <p:cNvPr id="47" name="Row"/>
          <p:cNvSpPr/>
          <p:nvPr/>
        </p:nvSpPr>
        <p:spPr>
          <a:xfrm>
            <a:off x="8183879" y="3767328"/>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48" name="Icon"/>
          <p:cNvSpPr/>
          <p:nvPr/>
        </p:nvSpPr>
        <p:spPr>
          <a:xfrm>
            <a:off x="8330183" y="4032504"/>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49" name="RowText"/>
          <p:cNvSpPr txBox="1"/>
          <p:nvPr/>
        </p:nvSpPr>
        <p:spPr>
          <a:xfrm>
            <a:off x="8805672" y="3794760"/>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Progress updates for each stage</a:t>
            </a:r>
          </a:p>
        </p:txBody>
      </p:sp>
      <p:sp>
        <p:nvSpPr>
          <p:cNvPr id="50" name="Card"/>
          <p:cNvSpPr/>
          <p:nvPr/>
        </p:nvSpPr>
        <p:spPr>
          <a:xfrm>
            <a:off x="8183879" y="4901184"/>
            <a:ext cx="3429000" cy="1408176"/>
          </a:xfrm>
          <a:prstGeom prst="roundRect">
            <a:avLst>
              <a:gd name="adj" fmla="val 5844"/>
            </a:avLst>
          </a:prstGeom>
          <a:solidFill>
            <a:srgbClr val="2F5296"/>
          </a:solidFill>
          <a:ln w="12700">
            <a:solidFill>
              <a:srgbClr val="2C4C8C"/>
            </a:solidFill>
          </a:ln>
        </p:spPr>
        <p:txBody>
          <a:bodyPr rtlCol="0" anchor="ctr"/>
          <a:lstStyle/>
          <a:p>
            <a:pPr algn="ctr"/>
            <a:endParaRPr/>
          </a:p>
        </p:txBody>
      </p:sp>
      <p:sp>
        <p:nvSpPr>
          <p:cNvPr id="51" name="TextBox 50"/>
          <p:cNvSpPr txBox="1"/>
          <p:nvPr/>
        </p:nvSpPr>
        <p:spPr>
          <a:xfrm>
            <a:off x="8366760" y="4992624"/>
            <a:ext cx="3063240" cy="292608"/>
          </a:xfrm>
          <a:prstGeom prst="rect">
            <a:avLst/>
          </a:prstGeom>
          <a:noFill/>
        </p:spPr>
        <p:txBody>
          <a:bodyPr wrap="square" lIns="45720" rIns="45720" anchor="ctr">
            <a:spAutoFit/>
          </a:bodyPr>
          <a:lstStyle/>
          <a:p>
            <a:pPr algn="l"/>
            <a:r>
              <a:rPr sz="1000" b="1" i="0" spc="150">
                <a:solidFill>
                  <a:srgbClr val="00E5D4"/>
                </a:solidFill>
                <a:latin typeface="Times New Roman"/>
                <a:ea typeface="Times New Roman"/>
                <a:cs typeface="Times New Roman"/>
              </a:rPr>
              <a:t>STAGE FLOW</a:t>
            </a:r>
          </a:p>
        </p:txBody>
      </p:sp>
      <p:sp>
        <p:nvSpPr>
          <p:cNvPr id="52" name="Flow recap"/>
          <p:cNvSpPr txBox="1"/>
          <p:nvPr/>
        </p:nvSpPr>
        <p:spPr>
          <a:xfrm>
            <a:off x="8366760" y="5303520"/>
            <a:ext cx="3063240" cy="914400"/>
          </a:xfrm>
          <a:prstGeom prst="rect">
            <a:avLst/>
          </a:prstGeom>
          <a:noFill/>
        </p:spPr>
        <p:txBody>
          <a:bodyPr wrap="square" lIns="45720" rIns="45720" anchor="t">
            <a:spAutoFit/>
          </a:bodyPr>
          <a:lstStyle/>
          <a:p>
            <a:pPr algn="l"/>
            <a:r>
              <a:rPr sz="1250" b="0" i="0">
                <a:solidFill>
                  <a:srgbClr val="FFFFFF"/>
                </a:solidFill>
                <a:latin typeface="Times New Roman"/>
                <a:ea typeface="Times New Roman"/>
                <a:cs typeface="Times New Roman"/>
              </a:rPr>
              <a:t>Pipeline Run Request  →  Dispatch Stage to Its Agent  →  Retry or Stop on Failure  →  Log Stage &amp; Move On  →  Completed Run + Run Log</a:t>
            </a:r>
          </a:p>
        </p:txBody>
      </p:sp>
      <p:sp>
        <p:nvSpPr>
          <p:cNvPr id="53"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54"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16</a:t>
            </a:r>
          </a:p>
        </p:txBody>
      </p:sp>
      <p:sp>
        <p:nvSpPr>
          <p:cNvPr id="55"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56"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57"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58"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59"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DATA ACQUISITION &amp; SETUP</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2 — Data Acquisition Agent</a:t>
            </a:r>
          </a:p>
        </p:txBody>
      </p:sp>
      <p:sp>
        <p:nvSpPr>
          <p:cNvPr id="4" name="Objective"/>
          <p:cNvSpPr txBox="1"/>
          <p:nvPr/>
        </p:nvSpPr>
        <p:spPr>
          <a:xfrm>
            <a:off x="548640" y="1188720"/>
            <a:ext cx="11064240" cy="502920"/>
          </a:xfrm>
          <a:prstGeom prst="rect">
            <a:avLst/>
          </a:prstGeom>
          <a:noFill/>
        </p:spPr>
        <p:txBody>
          <a:bodyPr wrap="square" lIns="45720" rIns="45720" anchor="ctr">
            <a:spAutoFit/>
          </a:bodyPr>
          <a:lstStyle/>
          <a:p>
            <a:pPr algn="l"/>
            <a:r>
              <a:rPr sz="1350" b="1" i="0">
                <a:solidFill>
                  <a:srgbClr val="00E5D4"/>
                </a:solidFill>
                <a:latin typeface="Times New Roman"/>
                <a:ea typeface="Times New Roman"/>
                <a:cs typeface="Times New Roman"/>
              </a:rPr>
              <a:t>Objective:  </a:t>
            </a:r>
            <a:r>
              <a:rPr sz="1350" b="0" i="0">
                <a:solidFill>
                  <a:srgbClr val="D7E1F5"/>
                </a:solidFill>
                <a:latin typeface="Times New Roman"/>
                <a:ea typeface="Times New Roman"/>
                <a:cs typeface="Times New Roman"/>
              </a:rPr>
              <a:t>Automatically fetch raw star-brightness data from NASA's TESS satellite and get it ready for analysis.</a:t>
            </a:r>
          </a:p>
        </p:txBody>
      </p:sp>
      <p:sp>
        <p:nvSpPr>
          <p:cNvPr id="5" name="Row"/>
          <p:cNvSpPr/>
          <p:nvPr/>
        </p:nvSpPr>
        <p:spPr>
          <a:xfrm>
            <a:off x="548640" y="182880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6" name="Icon"/>
          <p:cNvSpPr/>
          <p:nvPr/>
        </p:nvSpPr>
        <p:spPr>
          <a:xfrm>
            <a:off x="694944" y="19735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7" name="RowText"/>
          <p:cNvSpPr txBox="1"/>
          <p:nvPr/>
        </p:nvSpPr>
        <p:spPr>
          <a:xfrm>
            <a:off x="1170432" y="1856231"/>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MAST Archive Queries</a:t>
            </a:r>
            <a:r>
              <a:rPr sz="1300" b="0" i="0">
                <a:solidFill>
                  <a:srgbClr val="000000"/>
                </a:solidFill>
                <a:latin typeface="Times New Roman"/>
                <a:ea typeface="Times New Roman"/>
                <a:cs typeface="Times New Roman"/>
              </a:rPr>
              <a:t>   astroquery searches NASA's MAST archive for TESS light curves by sector, camera and CCD.</a:t>
            </a:r>
          </a:p>
        </p:txBody>
      </p:sp>
      <p:sp>
        <p:nvSpPr>
          <p:cNvPr id="8" name="Row"/>
          <p:cNvSpPr/>
          <p:nvPr/>
        </p:nvSpPr>
        <p:spPr>
          <a:xfrm>
            <a:off x="548640" y="257556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694944" y="272034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0" name="RowText"/>
          <p:cNvSpPr txBox="1"/>
          <p:nvPr/>
        </p:nvSpPr>
        <p:spPr>
          <a:xfrm>
            <a:off x="1170432" y="260299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Reference Catalog Downloads</a:t>
            </a:r>
            <a:r>
              <a:rPr sz="1300" b="0" i="0">
                <a:solidFill>
                  <a:srgbClr val="000000"/>
                </a:solidFill>
                <a:latin typeface="Times New Roman"/>
                <a:ea typeface="Times New Roman"/>
                <a:cs typeface="Times New Roman"/>
              </a:rPr>
              <a:t>   Auto-downloads and parses the ExoFOP TOI list, NASA Confirmed Planets table and the SPOC TCE catalog.</a:t>
            </a:r>
          </a:p>
        </p:txBody>
      </p:sp>
      <p:sp>
        <p:nvSpPr>
          <p:cNvPr id="11" name="Row"/>
          <p:cNvSpPr/>
          <p:nvPr/>
        </p:nvSpPr>
        <p:spPr>
          <a:xfrm>
            <a:off x="548640" y="332232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694944" y="346710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3" name="RowText"/>
          <p:cNvSpPr txBox="1"/>
          <p:nvPr/>
        </p:nvSpPr>
        <p:spPr>
          <a:xfrm>
            <a:off x="1170432" y="334975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FITS Parsing</a:t>
            </a:r>
            <a:r>
              <a:rPr sz="1300" b="0" i="0">
                <a:solidFill>
                  <a:srgbClr val="000000"/>
                </a:solidFill>
                <a:latin typeface="Times New Roman"/>
                <a:ea typeface="Times New Roman"/>
                <a:cs typeface="Times New Roman"/>
              </a:rPr>
              <a:t>   astropy reads each FITS file to pull out time, PDCSAP flux and data-quality flags.</a:t>
            </a:r>
          </a:p>
        </p:txBody>
      </p:sp>
      <p:sp>
        <p:nvSpPr>
          <p:cNvPr id="14" name="Row"/>
          <p:cNvSpPr/>
          <p:nvPr/>
        </p:nvSpPr>
        <p:spPr>
          <a:xfrm>
            <a:off x="548640" y="406908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694944" y="421386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6" name="RowText"/>
          <p:cNvSpPr txBox="1"/>
          <p:nvPr/>
        </p:nvSpPr>
        <p:spPr>
          <a:xfrm>
            <a:off x="1170432" y="409651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Label Unification</a:t>
            </a:r>
            <a:r>
              <a:rPr sz="1300" b="0" i="0">
                <a:solidFill>
                  <a:srgbClr val="000000"/>
                </a:solidFill>
                <a:latin typeface="Times New Roman"/>
                <a:ea typeface="Times New Roman"/>
                <a:cs typeface="Times New Roman"/>
              </a:rPr>
              <a:t>   Messy disposition codes (PC, KP, CP, EB, BEB, FP, V) are mapped into 4 clean classes.</a:t>
            </a:r>
          </a:p>
        </p:txBody>
      </p:sp>
      <p:sp>
        <p:nvSpPr>
          <p:cNvPr id="17" name="Row"/>
          <p:cNvSpPr/>
          <p:nvPr/>
        </p:nvSpPr>
        <p:spPr>
          <a:xfrm>
            <a:off x="548640" y="481584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8" name="Icon"/>
          <p:cNvSpPr/>
          <p:nvPr/>
        </p:nvSpPr>
        <p:spPr>
          <a:xfrm>
            <a:off x="694944" y="496062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9" name="RowText"/>
          <p:cNvSpPr txBox="1"/>
          <p:nvPr/>
        </p:nvSpPr>
        <p:spPr>
          <a:xfrm>
            <a:off x="1170432" y="484327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Synthetic Transit Injection</a:t>
            </a:r>
            <a:r>
              <a:rPr sz="1300" b="0" i="0">
                <a:solidFill>
                  <a:srgbClr val="000000"/>
                </a:solidFill>
                <a:latin typeface="Times New Roman"/>
                <a:ea typeface="Times New Roman"/>
                <a:cs typeface="Times New Roman"/>
              </a:rPr>
              <a:t>   batman injects artificial planet dips into quiet light curves to boost the rare Transit class.</a:t>
            </a:r>
          </a:p>
        </p:txBody>
      </p:sp>
      <p:sp>
        <p:nvSpPr>
          <p:cNvPr id="20" name="Row"/>
          <p:cNvSpPr/>
          <p:nvPr/>
        </p:nvSpPr>
        <p:spPr>
          <a:xfrm>
            <a:off x="548640" y="556260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21" name="Icon"/>
          <p:cNvSpPr/>
          <p:nvPr/>
        </p:nvSpPr>
        <p:spPr>
          <a:xfrm>
            <a:off x="694944" y="57073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06</a:t>
            </a:r>
          </a:p>
        </p:txBody>
      </p:sp>
      <p:sp>
        <p:nvSpPr>
          <p:cNvPr id="22" name="RowText"/>
          <p:cNvSpPr txBox="1"/>
          <p:nvPr/>
        </p:nvSpPr>
        <p:spPr>
          <a:xfrm>
            <a:off x="1170432" y="559003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Parallel, Resumable Downloads</a:t>
            </a:r>
            <a:r>
              <a:rPr sz="1300" b="0" i="0">
                <a:solidFill>
                  <a:srgbClr val="000000"/>
                </a:solidFill>
                <a:latin typeface="Times New Roman"/>
                <a:ea typeface="Times New Roman"/>
                <a:cs typeface="Times New Roman"/>
              </a:rPr>
              <a:t>   A thread pool downloads many files at once and skips files already saved if a run is interrupted.</a:t>
            </a:r>
          </a:p>
        </p:txBody>
      </p:sp>
      <p:sp>
        <p:nvSpPr>
          <p:cNvPr id="23" name="Label"/>
          <p:cNvSpPr txBox="1"/>
          <p:nvPr/>
        </p:nvSpPr>
        <p:spPr>
          <a:xfrm>
            <a:off x="8183879" y="18288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STAGE FLOW</a:t>
            </a:r>
          </a:p>
        </p:txBody>
      </p:sp>
      <p:sp>
        <p:nvSpPr>
          <p:cNvPr id="24" name="Card"/>
          <p:cNvSpPr/>
          <p:nvPr/>
        </p:nvSpPr>
        <p:spPr>
          <a:xfrm>
            <a:off x="8183879" y="2176272"/>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5" name="Icon"/>
          <p:cNvSpPr/>
          <p:nvPr/>
        </p:nvSpPr>
        <p:spPr>
          <a:xfrm>
            <a:off x="8330183" y="2384298"/>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26" name="TextBox 25"/>
          <p:cNvSpPr txBox="1"/>
          <p:nvPr/>
        </p:nvSpPr>
        <p:spPr>
          <a:xfrm>
            <a:off x="8805672" y="2194560"/>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MAST Archive &amp; Reference Catalogs</a:t>
            </a:r>
          </a:p>
        </p:txBody>
      </p:sp>
      <p:sp>
        <p:nvSpPr>
          <p:cNvPr id="27" name="Arrow"/>
          <p:cNvSpPr/>
          <p:nvPr/>
        </p:nvSpPr>
        <p:spPr>
          <a:xfrm>
            <a:off x="9797796" y="3022091"/>
            <a:ext cx="201168" cy="219456"/>
          </a:xfrm>
          <a:prstGeom prst="downArrow">
            <a:avLst/>
          </a:prstGeom>
          <a:solidFill>
            <a:srgbClr val="FFFFFF"/>
          </a:solidFill>
          <a:ln>
            <a:noFill/>
          </a:ln>
        </p:spPr>
        <p:txBody>
          <a:bodyPr rtlCol="0" anchor="ctr"/>
          <a:lstStyle/>
          <a:p>
            <a:pPr algn="ctr"/>
            <a:endParaRPr/>
          </a:p>
        </p:txBody>
      </p:sp>
      <p:sp>
        <p:nvSpPr>
          <p:cNvPr id="28" name="Card"/>
          <p:cNvSpPr/>
          <p:nvPr/>
        </p:nvSpPr>
        <p:spPr>
          <a:xfrm>
            <a:off x="8183879" y="3287268"/>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9" name="Icon"/>
          <p:cNvSpPr/>
          <p:nvPr/>
        </p:nvSpPr>
        <p:spPr>
          <a:xfrm>
            <a:off x="8330183" y="3495294"/>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30" name="TextBox 29"/>
          <p:cNvSpPr txBox="1"/>
          <p:nvPr/>
        </p:nvSpPr>
        <p:spPr>
          <a:xfrm>
            <a:off x="8805672" y="3305556"/>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Download FITS Files (.fits)</a:t>
            </a:r>
          </a:p>
        </p:txBody>
      </p:sp>
      <p:sp>
        <p:nvSpPr>
          <p:cNvPr id="31" name="Arrow"/>
          <p:cNvSpPr/>
          <p:nvPr/>
        </p:nvSpPr>
        <p:spPr>
          <a:xfrm>
            <a:off x="9797796" y="4133087"/>
            <a:ext cx="201168" cy="219456"/>
          </a:xfrm>
          <a:prstGeom prst="downArrow">
            <a:avLst/>
          </a:prstGeom>
          <a:solidFill>
            <a:srgbClr val="FFFFFF"/>
          </a:solidFill>
          <a:ln>
            <a:noFill/>
          </a:ln>
        </p:spPr>
        <p:txBody>
          <a:bodyPr rtlCol="0" anchor="ctr"/>
          <a:lstStyle/>
          <a:p>
            <a:pPr algn="ctr"/>
            <a:endParaRPr/>
          </a:p>
        </p:txBody>
      </p:sp>
      <p:sp>
        <p:nvSpPr>
          <p:cNvPr id="32" name="Card"/>
          <p:cNvSpPr/>
          <p:nvPr/>
        </p:nvSpPr>
        <p:spPr>
          <a:xfrm>
            <a:off x="8183879" y="4398264"/>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33" name="Icon"/>
          <p:cNvSpPr/>
          <p:nvPr/>
        </p:nvSpPr>
        <p:spPr>
          <a:xfrm>
            <a:off x="8330183" y="4606290"/>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34" name="TextBox 33"/>
          <p:cNvSpPr txBox="1"/>
          <p:nvPr/>
        </p:nvSpPr>
        <p:spPr>
          <a:xfrm>
            <a:off x="8805672" y="4416552"/>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Parse Time · Flux · Quality Flags</a:t>
            </a:r>
          </a:p>
        </p:txBody>
      </p:sp>
      <p:sp>
        <p:nvSpPr>
          <p:cNvPr id="35" name="Arrow"/>
          <p:cNvSpPr/>
          <p:nvPr/>
        </p:nvSpPr>
        <p:spPr>
          <a:xfrm>
            <a:off x="9797796" y="5244084"/>
            <a:ext cx="201168" cy="219456"/>
          </a:xfrm>
          <a:prstGeom prst="downArrow">
            <a:avLst/>
          </a:prstGeom>
          <a:solidFill>
            <a:srgbClr val="FFFFFF"/>
          </a:solidFill>
          <a:ln>
            <a:noFill/>
          </a:ln>
        </p:spPr>
        <p:txBody>
          <a:bodyPr rtlCol="0" anchor="ctr"/>
          <a:lstStyle/>
          <a:p>
            <a:pPr algn="ctr"/>
            <a:endParaRPr/>
          </a:p>
        </p:txBody>
      </p:sp>
      <p:sp>
        <p:nvSpPr>
          <p:cNvPr id="36" name="Card"/>
          <p:cNvSpPr/>
          <p:nvPr/>
        </p:nvSpPr>
        <p:spPr>
          <a:xfrm>
            <a:off x="8183879" y="5509260"/>
            <a:ext cx="3429000" cy="800100"/>
          </a:xfrm>
          <a:prstGeom prst="roundRect">
            <a:avLst>
              <a:gd name="adj" fmla="val 10285"/>
            </a:avLst>
          </a:prstGeom>
          <a:solidFill>
            <a:srgbClr val="2F5296"/>
          </a:solidFill>
          <a:ln w="12700">
            <a:solidFill>
              <a:srgbClr val="2C4C8C"/>
            </a:solidFill>
          </a:ln>
        </p:spPr>
        <p:txBody>
          <a:bodyPr rtlCol="0" anchor="ctr"/>
          <a:lstStyle/>
          <a:p>
            <a:pPr algn="ctr"/>
            <a:endParaRPr/>
          </a:p>
        </p:txBody>
      </p:sp>
      <p:sp>
        <p:nvSpPr>
          <p:cNvPr id="37" name="Icon"/>
          <p:cNvSpPr/>
          <p:nvPr/>
        </p:nvSpPr>
        <p:spPr>
          <a:xfrm>
            <a:off x="8330183" y="5717286"/>
            <a:ext cx="384048" cy="384048"/>
          </a:xfrm>
          <a:prstGeom prst="ellipse">
            <a:avLst/>
          </a:prstGeom>
          <a:solidFill>
            <a:srgbClr val="3A5FA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38" name="TextBox 37"/>
          <p:cNvSpPr txBox="1"/>
          <p:nvPr/>
        </p:nvSpPr>
        <p:spPr>
          <a:xfrm>
            <a:off x="8805672" y="5527548"/>
            <a:ext cx="2697480" cy="763524"/>
          </a:xfrm>
          <a:prstGeom prst="rect">
            <a:avLst/>
          </a:prstGeom>
          <a:noFill/>
        </p:spPr>
        <p:txBody>
          <a:bodyPr wrap="square" lIns="45720" rIns="45720" anchor="ctr">
            <a:spAutoFit/>
          </a:bodyPr>
          <a:lstStyle/>
          <a:p>
            <a:pPr algn="l"/>
            <a:r>
              <a:rPr sz="1250" b="1" i="0">
                <a:solidFill>
                  <a:srgbClr val="FFFFFF"/>
                </a:solidFill>
                <a:latin typeface="Times New Roman"/>
                <a:ea typeface="Times New Roman"/>
                <a:cs typeface="Times New Roman"/>
              </a:rPr>
              <a:t>Light Curves + Manifest / EDA</a:t>
            </a:r>
          </a:p>
        </p:txBody>
      </p:sp>
      <p:sp>
        <p:nvSpPr>
          <p:cNvPr id="39"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40"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17</a:t>
            </a:r>
          </a:p>
        </p:txBody>
      </p:sp>
      <p:sp>
        <p:nvSpPr>
          <p:cNvPr id="41"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42"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43"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44"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45"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DATA ACQUISITION &amp; SETUP</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2 — Visual Explanation &amp; Output</a:t>
            </a:r>
          </a:p>
        </p:txBody>
      </p:sp>
      <p:sp>
        <p:nvSpPr>
          <p:cNvPr id="4" name="Card"/>
          <p:cNvSpPr/>
          <p:nvPr/>
        </p:nvSpPr>
        <p:spPr>
          <a:xfrm>
            <a:off x="548640" y="1371600"/>
            <a:ext cx="7360920" cy="4937760"/>
          </a:xfrm>
          <a:prstGeom prst="roundRect">
            <a:avLst>
              <a:gd name="adj" fmla="val 1666"/>
            </a:avLst>
          </a:prstGeom>
          <a:solidFill>
            <a:srgbClr val="FFFFFF"/>
          </a:solidFill>
          <a:ln w="12700">
            <a:solidFill>
              <a:srgbClr val="2C4C8C"/>
            </a:solidFill>
          </a:ln>
        </p:spPr>
        <p:txBody>
          <a:bodyPr rtlCol="0" anchor="ctr"/>
          <a:lstStyle/>
          <a:p>
            <a:pPr algn="ctr"/>
            <a:endParaRPr/>
          </a:p>
        </p:txBody>
      </p:sp>
      <p:pic>
        <p:nvPicPr>
          <p:cNvPr id="5" name="Picture 4" descr="p0.png"/>
          <p:cNvPicPr>
            <a:picLocks noChangeAspect="1"/>
          </p:cNvPicPr>
          <p:nvPr/>
        </p:nvPicPr>
        <p:blipFill>
          <a:blip r:embed="rId2"/>
          <a:stretch>
            <a:fillRect/>
          </a:stretch>
        </p:blipFill>
        <p:spPr>
          <a:xfrm>
            <a:off x="685800" y="1481328"/>
            <a:ext cx="7086600" cy="4015740"/>
          </a:xfrm>
          <a:prstGeom prst="rect">
            <a:avLst/>
          </a:prstGeom>
        </p:spPr>
      </p:pic>
      <p:sp>
        <p:nvSpPr>
          <p:cNvPr id="6" name="Caption"/>
          <p:cNvSpPr txBox="1"/>
          <p:nvPr/>
        </p:nvSpPr>
        <p:spPr>
          <a:xfrm>
            <a:off x="685800" y="5577840"/>
            <a:ext cx="7086600" cy="640080"/>
          </a:xfrm>
          <a:prstGeom prst="rect">
            <a:avLst/>
          </a:prstGeom>
          <a:noFill/>
        </p:spPr>
        <p:txBody>
          <a:bodyPr wrap="square" lIns="45720" rIns="45720" anchor="ctr">
            <a:spAutoFit/>
          </a:bodyPr>
          <a:lstStyle/>
          <a:p>
            <a:pPr algn="l"/>
            <a:r>
              <a:rPr sz="1050" b="1" i="0">
                <a:solidFill>
                  <a:srgbClr val="2F5296"/>
                </a:solidFill>
                <a:latin typeface="Times New Roman"/>
                <a:ea typeface="Times New Roman"/>
                <a:cs typeface="Times New Roman"/>
              </a:rPr>
              <a:t>Illustration of: MAST Archive Queries, Reference Catalog Downloads, FITS Parsing, Label Unification, Synthetic Transit Injection, Parallel, Resumable Downloads.</a:t>
            </a:r>
          </a:p>
          <a:p>
            <a:pPr algn="l"/>
            <a:r>
              <a:rPr sz="1000" b="0" i="1">
                <a:solidFill>
                  <a:srgbClr val="5B6B8C"/>
                </a:solidFill>
                <a:latin typeface="Times New Roman"/>
                <a:ea typeface="Times New Roman"/>
                <a:cs typeface="Times New Roman"/>
              </a:rPr>
              <a:t>Schematic drawn for explanation only; it is not measured pipeline output.</a:t>
            </a:r>
          </a:p>
        </p:txBody>
      </p:sp>
      <p:sp>
        <p:nvSpPr>
          <p:cNvPr id="7" name="Label"/>
          <p:cNvSpPr txBox="1"/>
          <p:nvPr/>
        </p:nvSpPr>
        <p:spPr>
          <a:xfrm>
            <a:off x="8183879" y="13716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OUTPUT</a:t>
            </a:r>
          </a:p>
        </p:txBody>
      </p:sp>
      <p:sp>
        <p:nvSpPr>
          <p:cNvPr id="8" name="Row"/>
          <p:cNvSpPr/>
          <p:nvPr/>
        </p:nvSpPr>
        <p:spPr>
          <a:xfrm>
            <a:off x="8183879" y="1719072"/>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8330183" y="198424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10" name="RowText"/>
          <p:cNvSpPr txBox="1"/>
          <p:nvPr/>
        </p:nvSpPr>
        <p:spPr>
          <a:xfrm>
            <a:off x="8805672" y="1746504"/>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Raw TESS light-curve .npz files</a:t>
            </a:r>
          </a:p>
        </p:txBody>
      </p:sp>
      <p:sp>
        <p:nvSpPr>
          <p:cNvPr id="11" name="Row"/>
          <p:cNvSpPr/>
          <p:nvPr/>
        </p:nvSpPr>
        <p:spPr>
          <a:xfrm>
            <a:off x="8183879" y="2743200"/>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8330183" y="300837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3" name="RowText"/>
          <p:cNvSpPr txBox="1"/>
          <p:nvPr/>
        </p:nvSpPr>
        <p:spPr>
          <a:xfrm>
            <a:off x="8805672" y="2770632"/>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Unified label catalog &amp; TIC stellar parameters</a:t>
            </a:r>
          </a:p>
        </p:txBody>
      </p:sp>
      <p:sp>
        <p:nvSpPr>
          <p:cNvPr id="14" name="Row"/>
          <p:cNvSpPr/>
          <p:nvPr/>
        </p:nvSpPr>
        <p:spPr>
          <a:xfrm>
            <a:off x="8183879" y="3767328"/>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8330183" y="4032504"/>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6" name="RowText"/>
          <p:cNvSpPr txBox="1"/>
          <p:nvPr/>
        </p:nvSpPr>
        <p:spPr>
          <a:xfrm>
            <a:off x="8805672" y="3794760"/>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Download manifest + initial EDA results</a:t>
            </a:r>
          </a:p>
        </p:txBody>
      </p:sp>
      <p:sp>
        <p:nvSpPr>
          <p:cNvPr id="17" name="Card"/>
          <p:cNvSpPr/>
          <p:nvPr/>
        </p:nvSpPr>
        <p:spPr>
          <a:xfrm>
            <a:off x="8183879" y="4901184"/>
            <a:ext cx="3429000" cy="1408176"/>
          </a:xfrm>
          <a:prstGeom prst="roundRect">
            <a:avLst>
              <a:gd name="adj" fmla="val 5844"/>
            </a:avLst>
          </a:prstGeom>
          <a:solidFill>
            <a:srgbClr val="2F5296"/>
          </a:solidFill>
          <a:ln w="12700">
            <a:solidFill>
              <a:srgbClr val="2C4C8C"/>
            </a:solidFill>
          </a:ln>
        </p:spPr>
        <p:txBody>
          <a:bodyPr rtlCol="0" anchor="ctr"/>
          <a:lstStyle/>
          <a:p>
            <a:pPr algn="ctr"/>
            <a:endParaRPr/>
          </a:p>
        </p:txBody>
      </p:sp>
      <p:sp>
        <p:nvSpPr>
          <p:cNvPr id="18" name="TextBox 17"/>
          <p:cNvSpPr txBox="1"/>
          <p:nvPr/>
        </p:nvSpPr>
        <p:spPr>
          <a:xfrm>
            <a:off x="8366760" y="4992624"/>
            <a:ext cx="3063240" cy="292608"/>
          </a:xfrm>
          <a:prstGeom prst="rect">
            <a:avLst/>
          </a:prstGeom>
          <a:noFill/>
        </p:spPr>
        <p:txBody>
          <a:bodyPr wrap="square" lIns="45720" rIns="45720" anchor="ctr">
            <a:spAutoFit/>
          </a:bodyPr>
          <a:lstStyle/>
          <a:p>
            <a:pPr algn="l"/>
            <a:r>
              <a:rPr sz="1000" b="1" i="0" spc="150">
                <a:solidFill>
                  <a:srgbClr val="00E5D4"/>
                </a:solidFill>
                <a:latin typeface="Times New Roman"/>
                <a:ea typeface="Times New Roman"/>
                <a:cs typeface="Times New Roman"/>
              </a:rPr>
              <a:t>STAGE FLOW</a:t>
            </a:r>
          </a:p>
        </p:txBody>
      </p:sp>
      <p:sp>
        <p:nvSpPr>
          <p:cNvPr id="19" name="Flow recap"/>
          <p:cNvSpPr txBox="1"/>
          <p:nvPr/>
        </p:nvSpPr>
        <p:spPr>
          <a:xfrm>
            <a:off x="8366760" y="5303520"/>
            <a:ext cx="3063240" cy="914400"/>
          </a:xfrm>
          <a:prstGeom prst="rect">
            <a:avLst/>
          </a:prstGeom>
          <a:noFill/>
        </p:spPr>
        <p:txBody>
          <a:bodyPr wrap="square" lIns="45720" rIns="45720" anchor="t">
            <a:spAutoFit/>
          </a:bodyPr>
          <a:lstStyle/>
          <a:p>
            <a:pPr algn="l"/>
            <a:r>
              <a:rPr sz="1250" b="0" i="0">
                <a:solidFill>
                  <a:srgbClr val="FFFFFF"/>
                </a:solidFill>
                <a:latin typeface="Times New Roman"/>
                <a:ea typeface="Times New Roman"/>
                <a:cs typeface="Times New Roman"/>
              </a:rPr>
              <a:t>MAST Archive &amp; Reference Catalogs  →  Download FITS Files (.fits)  →  Parse Time · Flux · Quality Flags  →  Light Curves + Manifest / EDA</a:t>
            </a:r>
          </a:p>
        </p:txBody>
      </p:sp>
      <p:sp>
        <p:nvSpPr>
          <p:cNvPr id="20"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21"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18</a:t>
            </a:r>
          </a:p>
        </p:txBody>
      </p:sp>
      <p:sp>
        <p:nvSpPr>
          <p:cNvPr id="22" name="Home">
            <a:hlinkClick r:id="rId3"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23"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24"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25"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26"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PREPROCESSING &amp; TRANSIT SEARCH</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Modules 3 &amp; 4 — Preprocessing &amp; Transit Detection Agents</a:t>
            </a:r>
          </a:p>
        </p:txBody>
      </p:sp>
      <p:sp>
        <p:nvSpPr>
          <p:cNvPr id="4" name="Objective"/>
          <p:cNvSpPr txBox="1"/>
          <p:nvPr/>
        </p:nvSpPr>
        <p:spPr>
          <a:xfrm>
            <a:off x="548640" y="1188720"/>
            <a:ext cx="11064240" cy="502920"/>
          </a:xfrm>
          <a:prstGeom prst="rect">
            <a:avLst/>
          </a:prstGeom>
          <a:noFill/>
        </p:spPr>
        <p:txBody>
          <a:bodyPr wrap="square" lIns="45720" rIns="45720" anchor="ctr">
            <a:spAutoFit/>
          </a:bodyPr>
          <a:lstStyle/>
          <a:p>
            <a:pPr algn="l"/>
            <a:r>
              <a:rPr sz="1350" b="1" i="0">
                <a:solidFill>
                  <a:srgbClr val="00E5D4"/>
                </a:solidFill>
                <a:latin typeface="Times New Roman"/>
                <a:ea typeface="Times New Roman"/>
                <a:cs typeface="Times New Roman"/>
              </a:rPr>
              <a:t>Objective:  </a:t>
            </a:r>
            <a:r>
              <a:rPr sz="1350" b="0" i="0">
                <a:solidFill>
                  <a:srgbClr val="D7E1F5"/>
                </a:solidFill>
                <a:latin typeface="Times New Roman"/>
                <a:ea typeface="Times New Roman"/>
                <a:cs typeface="Times New Roman"/>
              </a:rPr>
              <a:t>Clean up the noisy raw brightness readings and search for repeating dips that could be planets.</a:t>
            </a:r>
          </a:p>
        </p:txBody>
      </p:sp>
      <p:sp>
        <p:nvSpPr>
          <p:cNvPr id="5" name="Row"/>
          <p:cNvSpPr/>
          <p:nvPr/>
        </p:nvSpPr>
        <p:spPr>
          <a:xfrm>
            <a:off x="548640" y="182880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6" name="Icon"/>
          <p:cNvSpPr/>
          <p:nvPr/>
        </p:nvSpPr>
        <p:spPr>
          <a:xfrm>
            <a:off x="694944" y="19735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7" name="RowText"/>
          <p:cNvSpPr txBox="1"/>
          <p:nvPr/>
        </p:nvSpPr>
        <p:spPr>
          <a:xfrm>
            <a:off x="1170432" y="1856231"/>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Normalization</a:t>
            </a:r>
            <a:r>
              <a:rPr sz="1300" b="0" i="0">
                <a:solidFill>
                  <a:srgbClr val="000000"/>
                </a:solidFill>
                <a:latin typeface="Times New Roman"/>
                <a:ea typeface="Times New Roman"/>
                <a:cs typeface="Times New Roman"/>
              </a:rPr>
              <a:t>   Every light curve is divided by its median flux so all stars sit on the same brightness scale.</a:t>
            </a:r>
          </a:p>
        </p:txBody>
      </p:sp>
      <p:sp>
        <p:nvSpPr>
          <p:cNvPr id="8" name="Row"/>
          <p:cNvSpPr/>
          <p:nvPr/>
        </p:nvSpPr>
        <p:spPr>
          <a:xfrm>
            <a:off x="548640" y="257556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694944" y="272034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0" name="RowText"/>
          <p:cNvSpPr txBox="1"/>
          <p:nvPr/>
        </p:nvSpPr>
        <p:spPr>
          <a:xfrm>
            <a:off x="1170432" y="260299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Outlier Removal</a:t>
            </a:r>
            <a:r>
              <a:rPr sz="1300" b="0" i="0">
                <a:solidFill>
                  <a:srgbClr val="000000"/>
                </a:solidFill>
                <a:latin typeface="Times New Roman"/>
                <a:ea typeface="Times New Roman"/>
                <a:cs typeface="Times New Roman"/>
              </a:rPr>
              <a:t>   Iterative 3σ sigma-clipping, up to 5 passes, strips cosmic-ray hits and bad cadences.</a:t>
            </a:r>
          </a:p>
        </p:txBody>
      </p:sp>
      <p:sp>
        <p:nvSpPr>
          <p:cNvPr id="11" name="Row"/>
          <p:cNvSpPr/>
          <p:nvPr/>
        </p:nvSpPr>
        <p:spPr>
          <a:xfrm>
            <a:off x="548640" y="332232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694944" y="346710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3" name="RowText"/>
          <p:cNvSpPr txBox="1"/>
          <p:nvPr/>
        </p:nvSpPr>
        <p:spPr>
          <a:xfrm>
            <a:off x="1170432" y="334975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Gap Handling</a:t>
            </a:r>
            <a:r>
              <a:rPr sz="1300" b="0" i="0">
                <a:solidFill>
                  <a:srgbClr val="000000"/>
                </a:solidFill>
                <a:latin typeface="Times New Roman"/>
                <a:ea typeface="Times New Roman"/>
                <a:cs typeface="Times New Roman"/>
              </a:rPr>
              <a:t>   Small gaps (≤3 cadences) are filled by interpolation; longer gaps are flagged, not guessed.</a:t>
            </a:r>
          </a:p>
        </p:txBody>
      </p:sp>
      <p:sp>
        <p:nvSpPr>
          <p:cNvPr id="14" name="Row"/>
          <p:cNvSpPr/>
          <p:nvPr/>
        </p:nvSpPr>
        <p:spPr>
          <a:xfrm>
            <a:off x="548640" y="406908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694944" y="421386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6" name="RowText"/>
          <p:cNvSpPr txBox="1"/>
          <p:nvPr/>
        </p:nvSpPr>
        <p:spPr>
          <a:xfrm>
            <a:off x="1170432" y="409651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Detrending</a:t>
            </a:r>
            <a:r>
              <a:rPr sz="1300" b="0" i="0">
                <a:solidFill>
                  <a:srgbClr val="000000"/>
                </a:solidFill>
                <a:latin typeface="Times New Roman"/>
                <a:ea typeface="Times New Roman"/>
                <a:cs typeface="Times New Roman"/>
              </a:rPr>
              <a:t>   A wotan bi-weight filter (0.75-day window) removes slow drift while keeping the transit dip intact.</a:t>
            </a:r>
          </a:p>
        </p:txBody>
      </p:sp>
      <p:sp>
        <p:nvSpPr>
          <p:cNvPr id="17" name="Row"/>
          <p:cNvSpPr/>
          <p:nvPr/>
        </p:nvSpPr>
        <p:spPr>
          <a:xfrm>
            <a:off x="548640" y="481584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18" name="Icon"/>
          <p:cNvSpPr/>
          <p:nvPr/>
        </p:nvSpPr>
        <p:spPr>
          <a:xfrm>
            <a:off x="694944" y="496062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9" name="RowText"/>
          <p:cNvSpPr txBox="1"/>
          <p:nvPr/>
        </p:nvSpPr>
        <p:spPr>
          <a:xfrm>
            <a:off x="1170432" y="484327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Quality Gating</a:t>
            </a:r>
            <a:r>
              <a:rPr sz="1300" b="0" i="0">
                <a:solidFill>
                  <a:srgbClr val="000000"/>
                </a:solidFill>
                <a:latin typeface="Times New Roman"/>
                <a:ea typeface="Times New Roman"/>
                <a:cs typeface="Times New Roman"/>
              </a:rPr>
              <a:t>   Targets with &lt;13.5 days of data, or noise &gt;5× the expected photon noise, are dropped automatically.</a:t>
            </a:r>
          </a:p>
        </p:txBody>
      </p:sp>
      <p:sp>
        <p:nvSpPr>
          <p:cNvPr id="20" name="Row"/>
          <p:cNvSpPr/>
          <p:nvPr/>
        </p:nvSpPr>
        <p:spPr>
          <a:xfrm>
            <a:off x="548640" y="5562600"/>
            <a:ext cx="7360920" cy="655320"/>
          </a:xfrm>
          <a:prstGeom prst="roundRect">
            <a:avLst>
              <a:gd name="adj" fmla="val 12558"/>
            </a:avLst>
          </a:prstGeom>
          <a:solidFill>
            <a:srgbClr val="FFFFFF"/>
          </a:solidFill>
          <a:ln w="12700">
            <a:solidFill>
              <a:srgbClr val="2C4C8C"/>
            </a:solidFill>
          </a:ln>
        </p:spPr>
        <p:txBody>
          <a:bodyPr rtlCol="0" anchor="ctr"/>
          <a:lstStyle/>
          <a:p>
            <a:pPr algn="ctr"/>
            <a:endParaRPr/>
          </a:p>
        </p:txBody>
      </p:sp>
      <p:sp>
        <p:nvSpPr>
          <p:cNvPr id="21" name="Icon"/>
          <p:cNvSpPr/>
          <p:nvPr/>
        </p:nvSpPr>
        <p:spPr>
          <a:xfrm>
            <a:off x="694944" y="57073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06</a:t>
            </a:r>
          </a:p>
        </p:txBody>
      </p:sp>
      <p:sp>
        <p:nvSpPr>
          <p:cNvPr id="22" name="RowText"/>
          <p:cNvSpPr txBox="1"/>
          <p:nvPr/>
        </p:nvSpPr>
        <p:spPr>
          <a:xfrm>
            <a:off x="1170432" y="5590032"/>
            <a:ext cx="6629400" cy="600456"/>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BLS / TLS Search</a:t>
            </a:r>
            <a:r>
              <a:rPr sz="1300" b="0" i="0">
                <a:solidFill>
                  <a:srgbClr val="000000"/>
                </a:solidFill>
                <a:latin typeface="Times New Roman"/>
                <a:ea typeface="Times New Roman"/>
                <a:cs typeface="Times New Roman"/>
              </a:rPr>
              <a:t>   A Box/Transit Least Squares scan tests thousands of trial periods to find the strongest repeating dip.</a:t>
            </a:r>
          </a:p>
        </p:txBody>
      </p:sp>
      <p:sp>
        <p:nvSpPr>
          <p:cNvPr id="23" name="Label"/>
          <p:cNvSpPr txBox="1"/>
          <p:nvPr/>
        </p:nvSpPr>
        <p:spPr>
          <a:xfrm>
            <a:off x="8183879" y="18288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STAGE FLOW</a:t>
            </a:r>
          </a:p>
        </p:txBody>
      </p:sp>
      <p:sp>
        <p:nvSpPr>
          <p:cNvPr id="24" name="Card"/>
          <p:cNvSpPr/>
          <p:nvPr/>
        </p:nvSpPr>
        <p:spPr>
          <a:xfrm>
            <a:off x="8183879" y="2176272"/>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25" name="Icon"/>
          <p:cNvSpPr/>
          <p:nvPr/>
        </p:nvSpPr>
        <p:spPr>
          <a:xfrm>
            <a:off x="8330183" y="2273198"/>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26" name="TextBox 25"/>
          <p:cNvSpPr txBox="1"/>
          <p:nvPr/>
        </p:nvSpPr>
        <p:spPr>
          <a:xfrm>
            <a:off x="8805672" y="2194560"/>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Raw PDCSAP Flux</a:t>
            </a:r>
          </a:p>
        </p:txBody>
      </p:sp>
      <p:sp>
        <p:nvSpPr>
          <p:cNvPr id="27" name="Arrow"/>
          <p:cNvSpPr/>
          <p:nvPr/>
        </p:nvSpPr>
        <p:spPr>
          <a:xfrm>
            <a:off x="9797796" y="2799892"/>
            <a:ext cx="201168" cy="219456"/>
          </a:xfrm>
          <a:prstGeom prst="downArrow">
            <a:avLst/>
          </a:prstGeom>
          <a:solidFill>
            <a:srgbClr val="FFFFFF"/>
          </a:solidFill>
          <a:ln>
            <a:noFill/>
          </a:ln>
        </p:spPr>
        <p:txBody>
          <a:bodyPr rtlCol="0" anchor="ctr"/>
          <a:lstStyle/>
          <a:p>
            <a:pPr algn="ctr"/>
            <a:endParaRPr/>
          </a:p>
        </p:txBody>
      </p:sp>
      <p:sp>
        <p:nvSpPr>
          <p:cNvPr id="28" name="Card"/>
          <p:cNvSpPr/>
          <p:nvPr/>
        </p:nvSpPr>
        <p:spPr>
          <a:xfrm>
            <a:off x="8183879" y="3065068"/>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29" name="Icon"/>
          <p:cNvSpPr/>
          <p:nvPr/>
        </p:nvSpPr>
        <p:spPr>
          <a:xfrm>
            <a:off x="8330183" y="3161995"/>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30" name="TextBox 29"/>
          <p:cNvSpPr txBox="1"/>
          <p:nvPr/>
        </p:nvSpPr>
        <p:spPr>
          <a:xfrm>
            <a:off x="8805672" y="3083356"/>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Sigma-Clip 3σ × 5 passes</a:t>
            </a:r>
          </a:p>
        </p:txBody>
      </p:sp>
      <p:sp>
        <p:nvSpPr>
          <p:cNvPr id="31" name="Arrow"/>
          <p:cNvSpPr/>
          <p:nvPr/>
        </p:nvSpPr>
        <p:spPr>
          <a:xfrm>
            <a:off x="9797796" y="3688689"/>
            <a:ext cx="201168" cy="219456"/>
          </a:xfrm>
          <a:prstGeom prst="downArrow">
            <a:avLst/>
          </a:prstGeom>
          <a:solidFill>
            <a:srgbClr val="FFFFFF"/>
          </a:solidFill>
          <a:ln>
            <a:noFill/>
          </a:ln>
        </p:spPr>
        <p:txBody>
          <a:bodyPr rtlCol="0" anchor="ctr"/>
          <a:lstStyle/>
          <a:p>
            <a:pPr algn="ctr"/>
            <a:endParaRPr/>
          </a:p>
        </p:txBody>
      </p:sp>
      <p:sp>
        <p:nvSpPr>
          <p:cNvPr id="32" name="Card"/>
          <p:cNvSpPr/>
          <p:nvPr/>
        </p:nvSpPr>
        <p:spPr>
          <a:xfrm>
            <a:off x="8183879" y="3953865"/>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33" name="Icon"/>
          <p:cNvSpPr/>
          <p:nvPr/>
        </p:nvSpPr>
        <p:spPr>
          <a:xfrm>
            <a:off x="8330183" y="4050791"/>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34" name="TextBox 33"/>
          <p:cNvSpPr txBox="1"/>
          <p:nvPr/>
        </p:nvSpPr>
        <p:spPr>
          <a:xfrm>
            <a:off x="8805672" y="3972153"/>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Wotan Detrend (biweight, 0.75 d)</a:t>
            </a:r>
          </a:p>
        </p:txBody>
      </p:sp>
      <p:sp>
        <p:nvSpPr>
          <p:cNvPr id="35" name="Arrow"/>
          <p:cNvSpPr/>
          <p:nvPr/>
        </p:nvSpPr>
        <p:spPr>
          <a:xfrm>
            <a:off x="9797796" y="4577486"/>
            <a:ext cx="201168" cy="219456"/>
          </a:xfrm>
          <a:prstGeom prst="downArrow">
            <a:avLst/>
          </a:prstGeom>
          <a:solidFill>
            <a:srgbClr val="FFFFFF"/>
          </a:solidFill>
          <a:ln>
            <a:noFill/>
          </a:ln>
        </p:spPr>
        <p:txBody>
          <a:bodyPr rtlCol="0" anchor="ctr"/>
          <a:lstStyle/>
          <a:p>
            <a:pPr algn="ctr"/>
            <a:endParaRPr/>
          </a:p>
        </p:txBody>
      </p:sp>
      <p:sp>
        <p:nvSpPr>
          <p:cNvPr id="36" name="Card"/>
          <p:cNvSpPr/>
          <p:nvPr/>
        </p:nvSpPr>
        <p:spPr>
          <a:xfrm>
            <a:off x="8183879" y="4842662"/>
            <a:ext cx="3429000" cy="577900"/>
          </a:xfrm>
          <a:prstGeom prst="roundRect">
            <a:avLst>
              <a:gd name="adj" fmla="val 14240"/>
            </a:avLst>
          </a:prstGeom>
          <a:solidFill>
            <a:srgbClr val="FFFFFF"/>
          </a:solidFill>
          <a:ln w="12700">
            <a:solidFill>
              <a:srgbClr val="2C4C8C"/>
            </a:solidFill>
          </a:ln>
        </p:spPr>
        <p:txBody>
          <a:bodyPr rtlCol="0" anchor="ctr"/>
          <a:lstStyle/>
          <a:p>
            <a:pPr algn="ctr"/>
            <a:endParaRPr/>
          </a:p>
        </p:txBody>
      </p:sp>
      <p:sp>
        <p:nvSpPr>
          <p:cNvPr id="37" name="Icon"/>
          <p:cNvSpPr/>
          <p:nvPr/>
        </p:nvSpPr>
        <p:spPr>
          <a:xfrm>
            <a:off x="8330183" y="4939588"/>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38" name="TextBox 37"/>
          <p:cNvSpPr txBox="1"/>
          <p:nvPr/>
        </p:nvSpPr>
        <p:spPr>
          <a:xfrm>
            <a:off x="8805672" y="4860950"/>
            <a:ext cx="2697480" cy="5413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BLS / TLS Period Search</a:t>
            </a:r>
          </a:p>
        </p:txBody>
      </p:sp>
      <p:sp>
        <p:nvSpPr>
          <p:cNvPr id="39" name="Arrow"/>
          <p:cNvSpPr/>
          <p:nvPr/>
        </p:nvSpPr>
        <p:spPr>
          <a:xfrm>
            <a:off x="9797796" y="5466283"/>
            <a:ext cx="201168" cy="219456"/>
          </a:xfrm>
          <a:prstGeom prst="downArrow">
            <a:avLst/>
          </a:prstGeom>
          <a:solidFill>
            <a:srgbClr val="FFFFFF"/>
          </a:solidFill>
          <a:ln>
            <a:noFill/>
          </a:ln>
        </p:spPr>
        <p:txBody>
          <a:bodyPr rtlCol="0" anchor="ctr"/>
          <a:lstStyle/>
          <a:p>
            <a:pPr algn="ctr"/>
            <a:endParaRPr/>
          </a:p>
        </p:txBody>
      </p:sp>
      <p:sp>
        <p:nvSpPr>
          <p:cNvPr id="40" name="Card"/>
          <p:cNvSpPr/>
          <p:nvPr/>
        </p:nvSpPr>
        <p:spPr>
          <a:xfrm>
            <a:off x="8183879" y="5731459"/>
            <a:ext cx="3429000" cy="577900"/>
          </a:xfrm>
          <a:prstGeom prst="roundRect">
            <a:avLst>
              <a:gd name="adj" fmla="val 14240"/>
            </a:avLst>
          </a:prstGeom>
          <a:solidFill>
            <a:srgbClr val="2F5296"/>
          </a:solidFill>
          <a:ln w="12700">
            <a:solidFill>
              <a:srgbClr val="2C4C8C"/>
            </a:solidFill>
          </a:ln>
        </p:spPr>
        <p:txBody>
          <a:bodyPr rtlCol="0" anchor="ctr"/>
          <a:lstStyle/>
          <a:p>
            <a:pPr algn="ctr"/>
            <a:endParaRPr/>
          </a:p>
        </p:txBody>
      </p:sp>
      <p:sp>
        <p:nvSpPr>
          <p:cNvPr id="41" name="Icon"/>
          <p:cNvSpPr/>
          <p:nvPr/>
        </p:nvSpPr>
        <p:spPr>
          <a:xfrm>
            <a:off x="8330183" y="5828385"/>
            <a:ext cx="384048" cy="384048"/>
          </a:xfrm>
          <a:prstGeom prst="ellipse">
            <a:avLst/>
          </a:prstGeom>
          <a:solidFill>
            <a:srgbClr val="3A5FA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42" name="TextBox 41"/>
          <p:cNvSpPr txBox="1"/>
          <p:nvPr/>
        </p:nvSpPr>
        <p:spPr>
          <a:xfrm>
            <a:off x="8805672" y="5749747"/>
            <a:ext cx="2697480" cy="541324"/>
          </a:xfrm>
          <a:prstGeom prst="rect">
            <a:avLst/>
          </a:prstGeom>
          <a:noFill/>
        </p:spPr>
        <p:txBody>
          <a:bodyPr wrap="square" lIns="45720" rIns="45720" anchor="ctr">
            <a:spAutoFit/>
          </a:bodyPr>
          <a:lstStyle/>
          <a:p>
            <a:pPr algn="l"/>
            <a:r>
              <a:rPr sz="1250" b="1" i="0">
                <a:solidFill>
                  <a:srgbClr val="FFFFFF"/>
                </a:solidFill>
                <a:latin typeface="Times New Roman"/>
                <a:ea typeface="Times New Roman"/>
                <a:cs typeface="Times New Roman"/>
              </a:rPr>
              <a:t>Candidate List (period, depth, SDE)</a:t>
            </a:r>
          </a:p>
        </p:txBody>
      </p:sp>
      <p:sp>
        <p:nvSpPr>
          <p:cNvPr id="43"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44"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19</a:t>
            </a:r>
          </a:p>
        </p:txBody>
      </p:sp>
      <p:sp>
        <p:nvSpPr>
          <p:cNvPr id="45"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46"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47"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48"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49"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PREPROCESSING &amp; TRANSIT SEARCH</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Modules 3 &amp; 4 — Visual Explanation &amp; Output</a:t>
            </a:r>
          </a:p>
        </p:txBody>
      </p:sp>
      <p:sp>
        <p:nvSpPr>
          <p:cNvPr id="4" name="Card"/>
          <p:cNvSpPr/>
          <p:nvPr/>
        </p:nvSpPr>
        <p:spPr>
          <a:xfrm>
            <a:off x="548640" y="1371600"/>
            <a:ext cx="7360920" cy="4937760"/>
          </a:xfrm>
          <a:prstGeom prst="roundRect">
            <a:avLst>
              <a:gd name="adj" fmla="val 1666"/>
            </a:avLst>
          </a:prstGeom>
          <a:solidFill>
            <a:srgbClr val="FFFFFF"/>
          </a:solidFill>
          <a:ln w="12700">
            <a:solidFill>
              <a:srgbClr val="2C4C8C"/>
            </a:solidFill>
          </a:ln>
        </p:spPr>
        <p:txBody>
          <a:bodyPr rtlCol="0" anchor="ctr"/>
          <a:lstStyle/>
          <a:p>
            <a:pPr algn="ctr"/>
            <a:endParaRPr/>
          </a:p>
        </p:txBody>
      </p:sp>
      <p:pic>
        <p:nvPicPr>
          <p:cNvPr id="5" name="Picture 4" descr="p1.png"/>
          <p:cNvPicPr>
            <a:picLocks noChangeAspect="1"/>
          </p:cNvPicPr>
          <p:nvPr/>
        </p:nvPicPr>
        <p:blipFill>
          <a:blip r:embed="rId2"/>
          <a:stretch>
            <a:fillRect/>
          </a:stretch>
        </p:blipFill>
        <p:spPr>
          <a:xfrm>
            <a:off x="685800" y="1481328"/>
            <a:ext cx="7086600" cy="4015740"/>
          </a:xfrm>
          <a:prstGeom prst="rect">
            <a:avLst/>
          </a:prstGeom>
        </p:spPr>
      </p:pic>
      <p:sp>
        <p:nvSpPr>
          <p:cNvPr id="6" name="Caption"/>
          <p:cNvSpPr txBox="1"/>
          <p:nvPr/>
        </p:nvSpPr>
        <p:spPr>
          <a:xfrm>
            <a:off x="685800" y="5577840"/>
            <a:ext cx="7086600" cy="640080"/>
          </a:xfrm>
          <a:prstGeom prst="rect">
            <a:avLst/>
          </a:prstGeom>
          <a:noFill/>
        </p:spPr>
        <p:txBody>
          <a:bodyPr wrap="square" lIns="45720" rIns="45720" anchor="ctr">
            <a:spAutoFit/>
          </a:bodyPr>
          <a:lstStyle/>
          <a:p>
            <a:pPr algn="l"/>
            <a:r>
              <a:rPr sz="1050" b="1" i="0">
                <a:solidFill>
                  <a:srgbClr val="2F5296"/>
                </a:solidFill>
                <a:latin typeface="Times New Roman"/>
                <a:ea typeface="Times New Roman"/>
                <a:cs typeface="Times New Roman"/>
              </a:rPr>
              <a:t>Illustration of: Normalization, Outlier Removal, Gap Handling, Detrending, Quality Gating, BLS / TLS Search.</a:t>
            </a:r>
          </a:p>
          <a:p>
            <a:pPr algn="l"/>
            <a:r>
              <a:rPr sz="1000" b="0" i="1">
                <a:solidFill>
                  <a:srgbClr val="5B6B8C"/>
                </a:solidFill>
                <a:latin typeface="Times New Roman"/>
                <a:ea typeface="Times New Roman"/>
                <a:cs typeface="Times New Roman"/>
              </a:rPr>
              <a:t>Schematic drawn for explanation only; it is not measured pipeline output.</a:t>
            </a:r>
          </a:p>
        </p:txBody>
      </p:sp>
      <p:sp>
        <p:nvSpPr>
          <p:cNvPr id="7" name="Label"/>
          <p:cNvSpPr txBox="1"/>
          <p:nvPr/>
        </p:nvSpPr>
        <p:spPr>
          <a:xfrm>
            <a:off x="8183879" y="13716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OUTPUT</a:t>
            </a:r>
          </a:p>
        </p:txBody>
      </p:sp>
      <p:sp>
        <p:nvSpPr>
          <p:cNvPr id="8" name="Row"/>
          <p:cNvSpPr/>
          <p:nvPr/>
        </p:nvSpPr>
        <p:spPr>
          <a:xfrm>
            <a:off x="8183879" y="1719072"/>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8330183" y="198424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10" name="RowText"/>
          <p:cNvSpPr txBox="1"/>
          <p:nvPr/>
        </p:nvSpPr>
        <p:spPr>
          <a:xfrm>
            <a:off x="8805672" y="1746504"/>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Cleaned &amp; detrended light curves</a:t>
            </a:r>
          </a:p>
        </p:txBody>
      </p:sp>
      <p:sp>
        <p:nvSpPr>
          <p:cNvPr id="11" name="Row"/>
          <p:cNvSpPr/>
          <p:nvPr/>
        </p:nvSpPr>
        <p:spPr>
          <a:xfrm>
            <a:off x="8183879" y="2743200"/>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8330183" y="300837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3" name="RowText"/>
          <p:cNvSpPr txBox="1"/>
          <p:nvPr/>
        </p:nvSpPr>
        <p:spPr>
          <a:xfrm>
            <a:off x="8805672" y="2770632"/>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Candidate list (period, depth, duration)</a:t>
            </a:r>
          </a:p>
        </p:txBody>
      </p:sp>
      <p:sp>
        <p:nvSpPr>
          <p:cNvPr id="14" name="Row"/>
          <p:cNvSpPr/>
          <p:nvPr/>
        </p:nvSpPr>
        <p:spPr>
          <a:xfrm>
            <a:off x="8183879" y="3767328"/>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8330183" y="4032504"/>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6" name="RowText"/>
          <p:cNvSpPr txBox="1"/>
          <p:nvPr/>
        </p:nvSpPr>
        <p:spPr>
          <a:xfrm>
            <a:off x="8805672" y="3794760"/>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BLS / TLS parameters (SDE, FAP)</a:t>
            </a:r>
          </a:p>
        </p:txBody>
      </p:sp>
      <p:sp>
        <p:nvSpPr>
          <p:cNvPr id="17" name="Card"/>
          <p:cNvSpPr/>
          <p:nvPr/>
        </p:nvSpPr>
        <p:spPr>
          <a:xfrm>
            <a:off x="8183879" y="4901184"/>
            <a:ext cx="3429000" cy="1408176"/>
          </a:xfrm>
          <a:prstGeom prst="roundRect">
            <a:avLst>
              <a:gd name="adj" fmla="val 5844"/>
            </a:avLst>
          </a:prstGeom>
          <a:solidFill>
            <a:srgbClr val="2F5296"/>
          </a:solidFill>
          <a:ln w="12700">
            <a:solidFill>
              <a:srgbClr val="2C4C8C"/>
            </a:solidFill>
          </a:ln>
        </p:spPr>
        <p:txBody>
          <a:bodyPr rtlCol="0" anchor="ctr"/>
          <a:lstStyle/>
          <a:p>
            <a:pPr algn="ctr"/>
            <a:endParaRPr/>
          </a:p>
        </p:txBody>
      </p:sp>
      <p:sp>
        <p:nvSpPr>
          <p:cNvPr id="18" name="TextBox 17"/>
          <p:cNvSpPr txBox="1"/>
          <p:nvPr/>
        </p:nvSpPr>
        <p:spPr>
          <a:xfrm>
            <a:off x="8366760" y="4992624"/>
            <a:ext cx="3063240" cy="292608"/>
          </a:xfrm>
          <a:prstGeom prst="rect">
            <a:avLst/>
          </a:prstGeom>
          <a:noFill/>
        </p:spPr>
        <p:txBody>
          <a:bodyPr wrap="square" lIns="45720" rIns="45720" anchor="ctr">
            <a:spAutoFit/>
          </a:bodyPr>
          <a:lstStyle/>
          <a:p>
            <a:pPr algn="l"/>
            <a:r>
              <a:rPr sz="1000" b="1" i="0" spc="150">
                <a:solidFill>
                  <a:srgbClr val="00E5D4"/>
                </a:solidFill>
                <a:latin typeface="Times New Roman"/>
                <a:ea typeface="Times New Roman"/>
                <a:cs typeface="Times New Roman"/>
              </a:rPr>
              <a:t>STAGE FLOW</a:t>
            </a:r>
          </a:p>
        </p:txBody>
      </p:sp>
      <p:sp>
        <p:nvSpPr>
          <p:cNvPr id="19" name="Flow recap"/>
          <p:cNvSpPr txBox="1"/>
          <p:nvPr/>
        </p:nvSpPr>
        <p:spPr>
          <a:xfrm>
            <a:off x="8366760" y="5303520"/>
            <a:ext cx="3063240" cy="914400"/>
          </a:xfrm>
          <a:prstGeom prst="rect">
            <a:avLst/>
          </a:prstGeom>
          <a:noFill/>
        </p:spPr>
        <p:txBody>
          <a:bodyPr wrap="square" lIns="45720" rIns="45720" anchor="t">
            <a:spAutoFit/>
          </a:bodyPr>
          <a:lstStyle/>
          <a:p>
            <a:pPr algn="l"/>
            <a:r>
              <a:rPr sz="1250" b="0" i="0">
                <a:solidFill>
                  <a:srgbClr val="FFFFFF"/>
                </a:solidFill>
                <a:latin typeface="Times New Roman"/>
                <a:ea typeface="Times New Roman"/>
                <a:cs typeface="Times New Roman"/>
              </a:rPr>
              <a:t>Raw PDCSAP Flux  →  Sigma-Clip 3σ × 5 passes  →  Wotan Detrend (biweight, 0.75 d)  →  BLS / TLS Period Search  →  Candidate List (period, depth, SDE)</a:t>
            </a:r>
          </a:p>
        </p:txBody>
      </p:sp>
      <p:sp>
        <p:nvSpPr>
          <p:cNvPr id="20"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21"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20</a:t>
            </a:r>
          </a:p>
        </p:txBody>
      </p:sp>
      <p:sp>
        <p:nvSpPr>
          <p:cNvPr id="22" name="Home">
            <a:hlinkClick r:id="rId3"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23"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24"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25"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26"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FEATURE ENGINEERING (GPU-ACCELERATED)</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5 — Feature Engineering Agent (GPU)</a:t>
            </a:r>
          </a:p>
        </p:txBody>
      </p:sp>
      <p:sp>
        <p:nvSpPr>
          <p:cNvPr id="4" name="Objective"/>
          <p:cNvSpPr txBox="1"/>
          <p:nvPr/>
        </p:nvSpPr>
        <p:spPr>
          <a:xfrm>
            <a:off x="548640" y="1188720"/>
            <a:ext cx="11064240" cy="502920"/>
          </a:xfrm>
          <a:prstGeom prst="rect">
            <a:avLst/>
          </a:prstGeom>
          <a:noFill/>
        </p:spPr>
        <p:txBody>
          <a:bodyPr wrap="square" lIns="45720" rIns="45720" anchor="ctr">
            <a:spAutoFit/>
          </a:bodyPr>
          <a:lstStyle/>
          <a:p>
            <a:pPr algn="l"/>
            <a:r>
              <a:rPr sz="1350" b="1" i="0">
                <a:solidFill>
                  <a:srgbClr val="00E5D4"/>
                </a:solidFill>
                <a:latin typeface="Times New Roman"/>
                <a:ea typeface="Times New Roman"/>
                <a:cs typeface="Times New Roman"/>
              </a:rPr>
              <a:t>Objective:  </a:t>
            </a:r>
            <a:r>
              <a:rPr sz="1350" b="0" i="0">
                <a:solidFill>
                  <a:srgbClr val="D7E1F5"/>
                </a:solidFill>
                <a:latin typeface="Times New Roman"/>
                <a:ea typeface="Times New Roman"/>
                <a:cs typeface="Times New Roman"/>
              </a:rPr>
              <a:t>Turn each candidate signal into a set of numbers a machine-learning model can actually learn from.</a:t>
            </a:r>
          </a:p>
        </p:txBody>
      </p:sp>
      <p:sp>
        <p:nvSpPr>
          <p:cNvPr id="5" name="Row"/>
          <p:cNvSpPr/>
          <p:nvPr/>
        </p:nvSpPr>
        <p:spPr>
          <a:xfrm>
            <a:off x="548640" y="1828800"/>
            <a:ext cx="7360920" cy="804672"/>
          </a:xfrm>
          <a:prstGeom prst="roundRect">
            <a:avLst>
              <a:gd name="adj" fmla="val 10227"/>
            </a:avLst>
          </a:prstGeom>
          <a:solidFill>
            <a:srgbClr val="FFFFFF"/>
          </a:solidFill>
          <a:ln w="12700">
            <a:solidFill>
              <a:srgbClr val="2C4C8C"/>
            </a:solidFill>
          </a:ln>
        </p:spPr>
        <p:txBody>
          <a:bodyPr rtlCol="0" anchor="ctr"/>
          <a:lstStyle/>
          <a:p>
            <a:pPr algn="ctr"/>
            <a:endParaRPr/>
          </a:p>
        </p:txBody>
      </p:sp>
      <p:sp>
        <p:nvSpPr>
          <p:cNvPr id="6" name="Icon"/>
          <p:cNvSpPr/>
          <p:nvPr/>
        </p:nvSpPr>
        <p:spPr>
          <a:xfrm>
            <a:off x="694944" y="204825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7" name="RowText"/>
          <p:cNvSpPr txBox="1"/>
          <p:nvPr/>
        </p:nvSpPr>
        <p:spPr>
          <a:xfrm>
            <a:off x="1170432" y="1856231"/>
            <a:ext cx="6629400" cy="749808"/>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35+ Engineered Features</a:t>
            </a:r>
            <a:r>
              <a:rPr sz="1300" b="0" i="0">
                <a:solidFill>
                  <a:srgbClr val="000000"/>
                </a:solidFill>
                <a:latin typeface="Times New Roman"/>
                <a:ea typeface="Times New Roman"/>
                <a:cs typeface="Times New Roman"/>
              </a:rPr>
              <a:t>   Transit geometry, signal quality, shape, odd/even depth, secondary eclipse, centroid and stellar stats.</a:t>
            </a:r>
          </a:p>
        </p:txBody>
      </p:sp>
      <p:sp>
        <p:nvSpPr>
          <p:cNvPr id="8" name="Row"/>
          <p:cNvSpPr/>
          <p:nvPr/>
        </p:nvSpPr>
        <p:spPr>
          <a:xfrm>
            <a:off x="548640" y="2724912"/>
            <a:ext cx="7360920" cy="804672"/>
          </a:xfrm>
          <a:prstGeom prst="roundRect">
            <a:avLst>
              <a:gd name="adj" fmla="val 10227"/>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694944" y="294436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0" name="RowText"/>
          <p:cNvSpPr txBox="1"/>
          <p:nvPr/>
        </p:nvSpPr>
        <p:spPr>
          <a:xfrm>
            <a:off x="1170432" y="2752344"/>
            <a:ext cx="6629400" cy="749808"/>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GPU Acceleration</a:t>
            </a:r>
            <a:r>
              <a:rPr sz="1300" b="0" i="0">
                <a:solidFill>
                  <a:srgbClr val="000000"/>
                </a:solidFill>
                <a:latin typeface="Times New Roman"/>
                <a:ea typeface="Times New Roman"/>
                <a:cs typeface="Times New Roman"/>
              </a:rPr>
              <a:t>   Phase-folding, FFTs and statistics run on an NVIDIA GPU via CuPy and PyTorch, with automatic CPU fallback.</a:t>
            </a:r>
          </a:p>
        </p:txBody>
      </p:sp>
      <p:sp>
        <p:nvSpPr>
          <p:cNvPr id="11" name="Row"/>
          <p:cNvSpPr/>
          <p:nvPr/>
        </p:nvSpPr>
        <p:spPr>
          <a:xfrm>
            <a:off x="548640" y="3621024"/>
            <a:ext cx="7360920" cy="804672"/>
          </a:xfrm>
          <a:prstGeom prst="roundRect">
            <a:avLst>
              <a:gd name="adj" fmla="val 10227"/>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694944" y="3840480"/>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3" name="RowText"/>
          <p:cNvSpPr txBox="1"/>
          <p:nvPr/>
        </p:nvSpPr>
        <p:spPr>
          <a:xfrm>
            <a:off x="1170432" y="3648456"/>
            <a:ext cx="6629400" cy="749808"/>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Anti-Hang Safeguards</a:t>
            </a:r>
            <a:r>
              <a:rPr sz="1300" b="0" i="0">
                <a:solidFill>
                  <a:srgbClr val="000000"/>
                </a:solidFill>
                <a:latin typeface="Times New Roman"/>
                <a:ea typeface="Times New Roman"/>
                <a:cs typeface="Times New Roman"/>
              </a:rPr>
              <a:t>   Capped worker count, per-task timeouts and RAM monitoring stop one stuck light curve from freezing the run.</a:t>
            </a:r>
          </a:p>
        </p:txBody>
      </p:sp>
      <p:sp>
        <p:nvSpPr>
          <p:cNvPr id="14" name="Row"/>
          <p:cNvSpPr/>
          <p:nvPr/>
        </p:nvSpPr>
        <p:spPr>
          <a:xfrm>
            <a:off x="548640" y="4517136"/>
            <a:ext cx="7360920" cy="804672"/>
          </a:xfrm>
          <a:prstGeom prst="roundRect">
            <a:avLst>
              <a:gd name="adj" fmla="val 10227"/>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694944" y="473659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6" name="RowText"/>
          <p:cNvSpPr txBox="1"/>
          <p:nvPr/>
        </p:nvSpPr>
        <p:spPr>
          <a:xfrm>
            <a:off x="1170432" y="4544568"/>
            <a:ext cx="6629400" cy="749808"/>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Batch Checkpointing</a:t>
            </a:r>
            <a:r>
              <a:rPr sz="1300" b="0" i="0">
                <a:solidFill>
                  <a:srgbClr val="000000"/>
                </a:solidFill>
                <a:latin typeface="Times New Roman"/>
                <a:ea typeface="Times New Roman"/>
                <a:cs typeface="Times New Roman"/>
              </a:rPr>
              <a:t>   Progress saves every batch, so a long feature-extraction job can resume instead of restarting.</a:t>
            </a:r>
          </a:p>
        </p:txBody>
      </p:sp>
      <p:sp>
        <p:nvSpPr>
          <p:cNvPr id="17" name="Row"/>
          <p:cNvSpPr/>
          <p:nvPr/>
        </p:nvSpPr>
        <p:spPr>
          <a:xfrm>
            <a:off x="548640" y="5413248"/>
            <a:ext cx="7360920" cy="804672"/>
          </a:xfrm>
          <a:prstGeom prst="roundRect">
            <a:avLst>
              <a:gd name="adj" fmla="val 10227"/>
            </a:avLst>
          </a:prstGeom>
          <a:solidFill>
            <a:srgbClr val="FFFFFF"/>
          </a:solidFill>
          <a:ln w="12700">
            <a:solidFill>
              <a:srgbClr val="2C4C8C"/>
            </a:solidFill>
          </a:ln>
        </p:spPr>
        <p:txBody>
          <a:bodyPr rtlCol="0" anchor="ctr"/>
          <a:lstStyle/>
          <a:p>
            <a:pPr algn="ctr"/>
            <a:endParaRPr/>
          </a:p>
        </p:txBody>
      </p:sp>
      <p:sp>
        <p:nvSpPr>
          <p:cNvPr id="18" name="Icon"/>
          <p:cNvSpPr/>
          <p:nvPr/>
        </p:nvSpPr>
        <p:spPr>
          <a:xfrm>
            <a:off x="694944" y="5632704"/>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9" name="RowText"/>
          <p:cNvSpPr txBox="1"/>
          <p:nvPr/>
        </p:nvSpPr>
        <p:spPr>
          <a:xfrm>
            <a:off x="1170432" y="5440680"/>
            <a:ext cx="6629400" cy="749808"/>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Stellar Cross-Match</a:t>
            </a:r>
            <a:r>
              <a:rPr sz="1300" b="0" i="0">
                <a:solidFill>
                  <a:srgbClr val="000000"/>
                </a:solidFill>
                <a:latin typeface="Times New Roman"/>
                <a:ea typeface="Times New Roman"/>
                <a:cs typeface="Times New Roman"/>
              </a:rPr>
              <a:t>   Pulls Teff, log g, radius, mass and distance from the TIC catalog for astrophysical context.</a:t>
            </a:r>
          </a:p>
        </p:txBody>
      </p:sp>
      <p:sp>
        <p:nvSpPr>
          <p:cNvPr id="20" name="Label"/>
          <p:cNvSpPr txBox="1"/>
          <p:nvPr/>
        </p:nvSpPr>
        <p:spPr>
          <a:xfrm>
            <a:off x="8183879" y="18288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STAGE FLOW</a:t>
            </a:r>
          </a:p>
        </p:txBody>
      </p:sp>
      <p:sp>
        <p:nvSpPr>
          <p:cNvPr id="21" name="Card"/>
          <p:cNvSpPr/>
          <p:nvPr/>
        </p:nvSpPr>
        <p:spPr>
          <a:xfrm>
            <a:off x="8183879" y="2176272"/>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2" name="Icon"/>
          <p:cNvSpPr/>
          <p:nvPr/>
        </p:nvSpPr>
        <p:spPr>
          <a:xfrm>
            <a:off x="8330183" y="2384298"/>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23" name="TextBox 22"/>
          <p:cNvSpPr txBox="1"/>
          <p:nvPr/>
        </p:nvSpPr>
        <p:spPr>
          <a:xfrm>
            <a:off x="8805672" y="2194560"/>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Detrended Light Curve</a:t>
            </a:r>
          </a:p>
        </p:txBody>
      </p:sp>
      <p:sp>
        <p:nvSpPr>
          <p:cNvPr id="24" name="Arrow"/>
          <p:cNvSpPr/>
          <p:nvPr/>
        </p:nvSpPr>
        <p:spPr>
          <a:xfrm>
            <a:off x="9797796" y="3022091"/>
            <a:ext cx="201168" cy="219456"/>
          </a:xfrm>
          <a:prstGeom prst="downArrow">
            <a:avLst/>
          </a:prstGeom>
          <a:solidFill>
            <a:srgbClr val="FFFFFF"/>
          </a:solidFill>
          <a:ln>
            <a:noFill/>
          </a:ln>
        </p:spPr>
        <p:txBody>
          <a:bodyPr rtlCol="0" anchor="ctr"/>
          <a:lstStyle/>
          <a:p>
            <a:pPr algn="ctr"/>
            <a:endParaRPr/>
          </a:p>
        </p:txBody>
      </p:sp>
      <p:sp>
        <p:nvSpPr>
          <p:cNvPr id="25" name="Card"/>
          <p:cNvSpPr/>
          <p:nvPr/>
        </p:nvSpPr>
        <p:spPr>
          <a:xfrm>
            <a:off x="8183879" y="3287268"/>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6" name="Icon"/>
          <p:cNvSpPr/>
          <p:nvPr/>
        </p:nvSpPr>
        <p:spPr>
          <a:xfrm>
            <a:off x="8330183" y="3495294"/>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27" name="TextBox 26"/>
          <p:cNvSpPr txBox="1"/>
          <p:nvPr/>
        </p:nvSpPr>
        <p:spPr>
          <a:xfrm>
            <a:off x="8805672" y="3305556"/>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Phase-Fold Signal</a:t>
            </a:r>
          </a:p>
        </p:txBody>
      </p:sp>
      <p:sp>
        <p:nvSpPr>
          <p:cNvPr id="28" name="Arrow"/>
          <p:cNvSpPr/>
          <p:nvPr/>
        </p:nvSpPr>
        <p:spPr>
          <a:xfrm>
            <a:off x="9797796" y="4133087"/>
            <a:ext cx="201168" cy="219456"/>
          </a:xfrm>
          <a:prstGeom prst="downArrow">
            <a:avLst/>
          </a:prstGeom>
          <a:solidFill>
            <a:srgbClr val="FFFFFF"/>
          </a:solidFill>
          <a:ln>
            <a:noFill/>
          </a:ln>
        </p:spPr>
        <p:txBody>
          <a:bodyPr rtlCol="0" anchor="ctr"/>
          <a:lstStyle/>
          <a:p>
            <a:pPr algn="ctr"/>
            <a:endParaRPr/>
          </a:p>
        </p:txBody>
      </p:sp>
      <p:sp>
        <p:nvSpPr>
          <p:cNvPr id="29" name="Card"/>
          <p:cNvSpPr/>
          <p:nvPr/>
        </p:nvSpPr>
        <p:spPr>
          <a:xfrm>
            <a:off x="8183879" y="4398264"/>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30" name="Icon"/>
          <p:cNvSpPr/>
          <p:nvPr/>
        </p:nvSpPr>
        <p:spPr>
          <a:xfrm>
            <a:off x="8330183" y="4606290"/>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31" name="TextBox 30"/>
          <p:cNvSpPr txBox="1"/>
          <p:nvPr/>
        </p:nvSpPr>
        <p:spPr>
          <a:xfrm>
            <a:off x="8805672" y="4416552"/>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GPU Kernels (CuPy + PyTorch)</a:t>
            </a:r>
          </a:p>
        </p:txBody>
      </p:sp>
      <p:sp>
        <p:nvSpPr>
          <p:cNvPr id="32" name="Arrow"/>
          <p:cNvSpPr/>
          <p:nvPr/>
        </p:nvSpPr>
        <p:spPr>
          <a:xfrm>
            <a:off x="9797796" y="5244084"/>
            <a:ext cx="201168" cy="219456"/>
          </a:xfrm>
          <a:prstGeom prst="downArrow">
            <a:avLst/>
          </a:prstGeom>
          <a:solidFill>
            <a:srgbClr val="FFFFFF"/>
          </a:solidFill>
          <a:ln>
            <a:noFill/>
          </a:ln>
        </p:spPr>
        <p:txBody>
          <a:bodyPr rtlCol="0" anchor="ctr"/>
          <a:lstStyle/>
          <a:p>
            <a:pPr algn="ctr"/>
            <a:endParaRPr/>
          </a:p>
        </p:txBody>
      </p:sp>
      <p:sp>
        <p:nvSpPr>
          <p:cNvPr id="33" name="Card"/>
          <p:cNvSpPr/>
          <p:nvPr/>
        </p:nvSpPr>
        <p:spPr>
          <a:xfrm>
            <a:off x="8183879" y="5509260"/>
            <a:ext cx="3429000" cy="800100"/>
          </a:xfrm>
          <a:prstGeom prst="roundRect">
            <a:avLst>
              <a:gd name="adj" fmla="val 10285"/>
            </a:avLst>
          </a:prstGeom>
          <a:solidFill>
            <a:srgbClr val="2F5296"/>
          </a:solidFill>
          <a:ln w="12700">
            <a:solidFill>
              <a:srgbClr val="2C4C8C"/>
            </a:solidFill>
          </a:ln>
        </p:spPr>
        <p:txBody>
          <a:bodyPr rtlCol="0" anchor="ctr"/>
          <a:lstStyle/>
          <a:p>
            <a:pPr algn="ctr"/>
            <a:endParaRPr/>
          </a:p>
        </p:txBody>
      </p:sp>
      <p:sp>
        <p:nvSpPr>
          <p:cNvPr id="34" name="Icon"/>
          <p:cNvSpPr/>
          <p:nvPr/>
        </p:nvSpPr>
        <p:spPr>
          <a:xfrm>
            <a:off x="8330183" y="5717286"/>
            <a:ext cx="384048" cy="384048"/>
          </a:xfrm>
          <a:prstGeom prst="ellipse">
            <a:avLst/>
          </a:prstGeom>
          <a:solidFill>
            <a:srgbClr val="3A5FA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35" name="TextBox 34"/>
          <p:cNvSpPr txBox="1"/>
          <p:nvPr/>
        </p:nvSpPr>
        <p:spPr>
          <a:xfrm>
            <a:off x="8805672" y="5527548"/>
            <a:ext cx="2697480" cy="763524"/>
          </a:xfrm>
          <a:prstGeom prst="rect">
            <a:avLst/>
          </a:prstGeom>
          <a:noFill/>
        </p:spPr>
        <p:txBody>
          <a:bodyPr wrap="square" lIns="45720" rIns="45720" anchor="ctr">
            <a:spAutoFit/>
          </a:bodyPr>
          <a:lstStyle/>
          <a:p>
            <a:pPr algn="l"/>
            <a:r>
              <a:rPr sz="1250" b="1" i="0">
                <a:solidFill>
                  <a:srgbClr val="FFFFFF"/>
                </a:solidFill>
                <a:latin typeface="Times New Roman"/>
                <a:ea typeface="Times New Roman"/>
                <a:cs typeface="Times New Roman"/>
              </a:rPr>
              <a:t>35+ Feature Vector</a:t>
            </a:r>
          </a:p>
        </p:txBody>
      </p:sp>
      <p:sp>
        <p:nvSpPr>
          <p:cNvPr id="36"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37"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21</a:t>
            </a:r>
          </a:p>
        </p:txBody>
      </p:sp>
      <p:sp>
        <p:nvSpPr>
          <p:cNvPr id="38"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39"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40"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41"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42"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FEATURE ENGINEERING (GPU-ACCELERATED)</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5 — Visual Explanation &amp; Output</a:t>
            </a:r>
          </a:p>
        </p:txBody>
      </p:sp>
      <p:sp>
        <p:nvSpPr>
          <p:cNvPr id="4" name="Card"/>
          <p:cNvSpPr/>
          <p:nvPr/>
        </p:nvSpPr>
        <p:spPr>
          <a:xfrm>
            <a:off x="548640" y="1371600"/>
            <a:ext cx="7360920" cy="4937760"/>
          </a:xfrm>
          <a:prstGeom prst="roundRect">
            <a:avLst>
              <a:gd name="adj" fmla="val 1666"/>
            </a:avLst>
          </a:prstGeom>
          <a:solidFill>
            <a:srgbClr val="FFFFFF"/>
          </a:solidFill>
          <a:ln w="12700">
            <a:solidFill>
              <a:srgbClr val="2C4C8C"/>
            </a:solidFill>
          </a:ln>
        </p:spPr>
        <p:txBody>
          <a:bodyPr rtlCol="0" anchor="ctr"/>
          <a:lstStyle/>
          <a:p>
            <a:pPr algn="ctr"/>
            <a:endParaRPr/>
          </a:p>
        </p:txBody>
      </p:sp>
      <p:pic>
        <p:nvPicPr>
          <p:cNvPr id="5" name="Picture 4" descr="p2.png"/>
          <p:cNvPicPr>
            <a:picLocks noChangeAspect="1"/>
          </p:cNvPicPr>
          <p:nvPr/>
        </p:nvPicPr>
        <p:blipFill>
          <a:blip r:embed="rId2"/>
          <a:stretch>
            <a:fillRect/>
          </a:stretch>
        </p:blipFill>
        <p:spPr>
          <a:xfrm>
            <a:off x="685800" y="1481328"/>
            <a:ext cx="7086600" cy="4015740"/>
          </a:xfrm>
          <a:prstGeom prst="rect">
            <a:avLst/>
          </a:prstGeom>
        </p:spPr>
      </p:pic>
      <p:sp>
        <p:nvSpPr>
          <p:cNvPr id="6" name="Caption"/>
          <p:cNvSpPr txBox="1"/>
          <p:nvPr/>
        </p:nvSpPr>
        <p:spPr>
          <a:xfrm>
            <a:off x="685800" y="5577840"/>
            <a:ext cx="7086600" cy="640080"/>
          </a:xfrm>
          <a:prstGeom prst="rect">
            <a:avLst/>
          </a:prstGeom>
          <a:noFill/>
        </p:spPr>
        <p:txBody>
          <a:bodyPr wrap="square" lIns="45720" rIns="45720" anchor="ctr">
            <a:spAutoFit/>
          </a:bodyPr>
          <a:lstStyle/>
          <a:p>
            <a:pPr algn="l"/>
            <a:r>
              <a:rPr sz="1050" b="1" i="0">
                <a:solidFill>
                  <a:srgbClr val="2F5296"/>
                </a:solidFill>
                <a:latin typeface="Times New Roman"/>
                <a:ea typeface="Times New Roman"/>
                <a:cs typeface="Times New Roman"/>
              </a:rPr>
              <a:t>Illustration of: 35+ Engineered Features, GPU Acceleration, Anti-Hang Safeguards, Batch Checkpointing, Stellar Cross-Match.</a:t>
            </a:r>
          </a:p>
          <a:p>
            <a:pPr algn="l"/>
            <a:r>
              <a:rPr sz="1000" b="0" i="1">
                <a:solidFill>
                  <a:srgbClr val="5B6B8C"/>
                </a:solidFill>
                <a:latin typeface="Times New Roman"/>
                <a:ea typeface="Times New Roman"/>
                <a:cs typeface="Times New Roman"/>
              </a:rPr>
              <a:t>Schematic drawn for explanation only; it is not measured pipeline output.</a:t>
            </a:r>
          </a:p>
        </p:txBody>
      </p:sp>
      <p:sp>
        <p:nvSpPr>
          <p:cNvPr id="7" name="Label"/>
          <p:cNvSpPr txBox="1"/>
          <p:nvPr/>
        </p:nvSpPr>
        <p:spPr>
          <a:xfrm>
            <a:off x="8183879" y="13716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OUTPUT</a:t>
            </a:r>
          </a:p>
        </p:txBody>
      </p:sp>
      <p:sp>
        <p:nvSpPr>
          <p:cNvPr id="8" name="Row"/>
          <p:cNvSpPr/>
          <p:nvPr/>
        </p:nvSpPr>
        <p:spPr>
          <a:xfrm>
            <a:off x="8183879" y="1719072"/>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8330183" y="198424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10" name="RowText"/>
          <p:cNvSpPr txBox="1"/>
          <p:nvPr/>
        </p:nvSpPr>
        <p:spPr>
          <a:xfrm>
            <a:off x="8805672" y="1746504"/>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feature_matrix.csv — one row per candidate</a:t>
            </a:r>
          </a:p>
        </p:txBody>
      </p:sp>
      <p:sp>
        <p:nvSpPr>
          <p:cNvPr id="11" name="Row"/>
          <p:cNvSpPr/>
          <p:nvPr/>
        </p:nvSpPr>
        <p:spPr>
          <a:xfrm>
            <a:off x="8183879" y="2743200"/>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8330183" y="300837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3" name="RowText"/>
          <p:cNvSpPr txBox="1"/>
          <p:nvPr/>
        </p:nvSpPr>
        <p:spPr>
          <a:xfrm>
            <a:off x="8805672" y="2770632"/>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35+ columns, ready for machine learning</a:t>
            </a:r>
          </a:p>
        </p:txBody>
      </p:sp>
      <p:sp>
        <p:nvSpPr>
          <p:cNvPr id="14" name="Card"/>
          <p:cNvSpPr/>
          <p:nvPr/>
        </p:nvSpPr>
        <p:spPr>
          <a:xfrm>
            <a:off x="8183879" y="3877056"/>
            <a:ext cx="3429000" cy="2432304"/>
          </a:xfrm>
          <a:prstGeom prst="roundRect">
            <a:avLst>
              <a:gd name="adj" fmla="val 3383"/>
            </a:avLst>
          </a:prstGeom>
          <a:solidFill>
            <a:srgbClr val="2F5296"/>
          </a:solidFill>
          <a:ln w="12700">
            <a:solidFill>
              <a:srgbClr val="2C4C8C"/>
            </a:solidFill>
          </a:ln>
        </p:spPr>
        <p:txBody>
          <a:bodyPr rtlCol="0" anchor="ctr"/>
          <a:lstStyle/>
          <a:p>
            <a:pPr algn="ctr"/>
            <a:endParaRPr/>
          </a:p>
        </p:txBody>
      </p:sp>
      <p:sp>
        <p:nvSpPr>
          <p:cNvPr id="15" name="TextBox 14"/>
          <p:cNvSpPr txBox="1"/>
          <p:nvPr/>
        </p:nvSpPr>
        <p:spPr>
          <a:xfrm>
            <a:off x="8366760" y="3968496"/>
            <a:ext cx="3063240" cy="292608"/>
          </a:xfrm>
          <a:prstGeom prst="rect">
            <a:avLst/>
          </a:prstGeom>
          <a:noFill/>
        </p:spPr>
        <p:txBody>
          <a:bodyPr wrap="square" lIns="45720" rIns="45720" anchor="ctr">
            <a:spAutoFit/>
          </a:bodyPr>
          <a:lstStyle/>
          <a:p>
            <a:pPr algn="l"/>
            <a:r>
              <a:rPr sz="1000" b="1" i="0" spc="150">
                <a:solidFill>
                  <a:srgbClr val="00E5D4"/>
                </a:solidFill>
                <a:latin typeface="Times New Roman"/>
                <a:ea typeface="Times New Roman"/>
                <a:cs typeface="Times New Roman"/>
              </a:rPr>
              <a:t>STAGE FLOW</a:t>
            </a:r>
          </a:p>
        </p:txBody>
      </p:sp>
      <p:sp>
        <p:nvSpPr>
          <p:cNvPr id="16" name="Flow recap"/>
          <p:cNvSpPr txBox="1"/>
          <p:nvPr/>
        </p:nvSpPr>
        <p:spPr>
          <a:xfrm>
            <a:off x="8366760" y="4279392"/>
            <a:ext cx="3063240" cy="1938528"/>
          </a:xfrm>
          <a:prstGeom prst="rect">
            <a:avLst/>
          </a:prstGeom>
          <a:noFill/>
        </p:spPr>
        <p:txBody>
          <a:bodyPr wrap="square" lIns="45720" rIns="45720" anchor="t">
            <a:spAutoFit/>
          </a:bodyPr>
          <a:lstStyle/>
          <a:p>
            <a:pPr algn="l"/>
            <a:r>
              <a:rPr sz="1250" b="0" i="0">
                <a:solidFill>
                  <a:srgbClr val="FFFFFF"/>
                </a:solidFill>
                <a:latin typeface="Times New Roman"/>
                <a:ea typeface="Times New Roman"/>
                <a:cs typeface="Times New Roman"/>
              </a:rPr>
              <a:t>Detrended Light Curve  →  Phase-Fold Signal  →  GPU Kernels (CuPy + PyTorch)  →  35+ Feature Vector</a:t>
            </a:r>
          </a:p>
        </p:txBody>
      </p:sp>
      <p:sp>
        <p:nvSpPr>
          <p:cNvPr id="17"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18"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22</a:t>
            </a:r>
          </a:p>
        </p:txBody>
      </p:sp>
      <p:sp>
        <p:nvSpPr>
          <p:cNvPr id="19" name="Home">
            <a:hlinkClick r:id="rId3"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20"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21"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22"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23"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ENSEMBLE MACHINE-LEARNING CLASSIFIER</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6 — Classification Agent</a:t>
            </a:r>
          </a:p>
        </p:txBody>
      </p:sp>
      <p:sp>
        <p:nvSpPr>
          <p:cNvPr id="4" name="Objective"/>
          <p:cNvSpPr txBox="1"/>
          <p:nvPr/>
        </p:nvSpPr>
        <p:spPr>
          <a:xfrm>
            <a:off x="548640" y="1188720"/>
            <a:ext cx="11064240" cy="502920"/>
          </a:xfrm>
          <a:prstGeom prst="rect">
            <a:avLst/>
          </a:prstGeom>
          <a:noFill/>
        </p:spPr>
        <p:txBody>
          <a:bodyPr wrap="square" lIns="45720" rIns="45720" anchor="ctr">
            <a:spAutoFit/>
          </a:bodyPr>
          <a:lstStyle/>
          <a:p>
            <a:pPr algn="l"/>
            <a:r>
              <a:rPr sz="1350" b="1" i="0">
                <a:solidFill>
                  <a:srgbClr val="00E5D4"/>
                </a:solidFill>
                <a:latin typeface="Times New Roman"/>
                <a:ea typeface="Times New Roman"/>
                <a:cs typeface="Times New Roman"/>
              </a:rPr>
              <a:t>Objective:  </a:t>
            </a:r>
            <a:r>
              <a:rPr sz="1350" b="0" i="0">
                <a:solidFill>
                  <a:srgbClr val="D7E1F5"/>
                </a:solidFill>
                <a:latin typeface="Times New Roman"/>
                <a:ea typeface="Times New Roman"/>
                <a:cs typeface="Times New Roman"/>
              </a:rPr>
              <a:t>Let the model decide, on its own, whether a candidate signal is really a planet or something else.</a:t>
            </a:r>
          </a:p>
        </p:txBody>
      </p:sp>
      <p:sp>
        <p:nvSpPr>
          <p:cNvPr id="5" name="Row"/>
          <p:cNvSpPr/>
          <p:nvPr/>
        </p:nvSpPr>
        <p:spPr>
          <a:xfrm>
            <a:off x="548640" y="1828800"/>
            <a:ext cx="7360920" cy="691286"/>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6" name="Icon"/>
          <p:cNvSpPr/>
          <p:nvPr/>
        </p:nvSpPr>
        <p:spPr>
          <a:xfrm>
            <a:off x="694944" y="1991563"/>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7" name="RowText"/>
          <p:cNvSpPr txBox="1"/>
          <p:nvPr/>
        </p:nvSpPr>
        <p:spPr>
          <a:xfrm>
            <a:off x="1170432" y="1856231"/>
            <a:ext cx="6629400" cy="636422"/>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Class Balancing</a:t>
            </a:r>
            <a:r>
              <a:rPr sz="1300" b="0" i="0">
                <a:solidFill>
                  <a:srgbClr val="000000"/>
                </a:solidFill>
                <a:latin typeface="Times New Roman"/>
                <a:ea typeface="Times New Roman"/>
                <a:cs typeface="Times New Roman"/>
              </a:rPr>
              <a:t>   SMOTE oversampling fixes the natural imbalance — real planets are rare next to false positives.</a:t>
            </a:r>
          </a:p>
        </p:txBody>
      </p:sp>
      <p:sp>
        <p:nvSpPr>
          <p:cNvPr id="8" name="Row"/>
          <p:cNvSpPr/>
          <p:nvPr/>
        </p:nvSpPr>
        <p:spPr>
          <a:xfrm>
            <a:off x="548640" y="2611526"/>
            <a:ext cx="7360920" cy="691286"/>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694944" y="2774289"/>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0" name="RowText"/>
          <p:cNvSpPr txBox="1"/>
          <p:nvPr/>
        </p:nvSpPr>
        <p:spPr>
          <a:xfrm>
            <a:off x="1170432" y="2638958"/>
            <a:ext cx="6629400" cy="636422"/>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Ensemble Models</a:t>
            </a:r>
            <a:r>
              <a:rPr sz="1300" b="0" i="0">
                <a:solidFill>
                  <a:srgbClr val="000000"/>
                </a:solidFill>
                <a:latin typeface="Times New Roman"/>
                <a:ea typeface="Times New Roman"/>
                <a:cs typeface="Times New Roman"/>
              </a:rPr>
              <a:t>   Random Forest, XGBoost and Extra Trees are trained together and combined via a stacked meta-learner.</a:t>
            </a:r>
          </a:p>
        </p:txBody>
      </p:sp>
      <p:sp>
        <p:nvSpPr>
          <p:cNvPr id="11" name="Row"/>
          <p:cNvSpPr/>
          <p:nvPr/>
        </p:nvSpPr>
        <p:spPr>
          <a:xfrm>
            <a:off x="548640" y="3394252"/>
            <a:ext cx="7360920" cy="691286"/>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694944" y="355701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3" name="RowText"/>
          <p:cNvSpPr txBox="1"/>
          <p:nvPr/>
        </p:nvSpPr>
        <p:spPr>
          <a:xfrm>
            <a:off x="1170432" y="3421684"/>
            <a:ext cx="6629400" cy="636422"/>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Probability Calibration</a:t>
            </a:r>
            <a:r>
              <a:rPr sz="1300" b="0" i="0">
                <a:solidFill>
                  <a:srgbClr val="000000"/>
                </a:solidFill>
                <a:latin typeface="Times New Roman"/>
                <a:ea typeface="Times New Roman"/>
                <a:cs typeface="Times New Roman"/>
              </a:rPr>
              <a:t>   Platt scaling makes predicted probabilities trustworthy — a "0.9" really means ~90% confident.</a:t>
            </a:r>
          </a:p>
        </p:txBody>
      </p:sp>
      <p:sp>
        <p:nvSpPr>
          <p:cNvPr id="14" name="Row"/>
          <p:cNvSpPr/>
          <p:nvPr/>
        </p:nvSpPr>
        <p:spPr>
          <a:xfrm>
            <a:off x="548640" y="4176979"/>
            <a:ext cx="7360920" cy="691286"/>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694944" y="4339742"/>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04</a:t>
            </a:r>
          </a:p>
        </p:txBody>
      </p:sp>
      <p:sp>
        <p:nvSpPr>
          <p:cNvPr id="16" name="RowText"/>
          <p:cNvSpPr txBox="1"/>
          <p:nvPr/>
        </p:nvSpPr>
        <p:spPr>
          <a:xfrm>
            <a:off x="1170432" y="4204411"/>
            <a:ext cx="6629400" cy="636422"/>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Explainability (SHAP)</a:t>
            </a:r>
            <a:r>
              <a:rPr sz="1300" b="0" i="0">
                <a:solidFill>
                  <a:srgbClr val="000000"/>
                </a:solidFill>
                <a:latin typeface="Times New Roman"/>
                <a:ea typeface="Times New Roman"/>
                <a:cs typeface="Times New Roman"/>
              </a:rPr>
              <a:t>   SHAP values confirm the model relies on physically meaningful features like depth and SDE, not noise.</a:t>
            </a:r>
          </a:p>
        </p:txBody>
      </p:sp>
      <p:sp>
        <p:nvSpPr>
          <p:cNvPr id="17" name="Row"/>
          <p:cNvSpPr/>
          <p:nvPr/>
        </p:nvSpPr>
        <p:spPr>
          <a:xfrm>
            <a:off x="548640" y="4959705"/>
            <a:ext cx="7360920" cy="691286"/>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8" name="Icon"/>
          <p:cNvSpPr/>
          <p:nvPr/>
        </p:nvSpPr>
        <p:spPr>
          <a:xfrm>
            <a:off x="694944" y="512246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19" name="RowText"/>
          <p:cNvSpPr txBox="1"/>
          <p:nvPr/>
        </p:nvSpPr>
        <p:spPr>
          <a:xfrm>
            <a:off x="1170432" y="4987137"/>
            <a:ext cx="6629400" cy="636422"/>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Confidence Routing</a:t>
            </a:r>
            <a:r>
              <a:rPr sz="1300" b="0" i="0">
                <a:solidFill>
                  <a:srgbClr val="000000"/>
                </a:solidFill>
                <a:latin typeface="Times New Roman"/>
                <a:ea typeface="Times New Roman"/>
                <a:cs typeface="Times New Roman"/>
              </a:rPr>
              <a:t>   Predictions below 65% confidence are flagged for human review instead of being trusted blindly.</a:t>
            </a:r>
          </a:p>
        </p:txBody>
      </p:sp>
      <p:sp>
        <p:nvSpPr>
          <p:cNvPr id="20" name="Badge"/>
          <p:cNvSpPr/>
          <p:nvPr/>
        </p:nvSpPr>
        <p:spPr>
          <a:xfrm>
            <a:off x="548640" y="5870448"/>
            <a:ext cx="7360920" cy="420624"/>
          </a:xfrm>
          <a:prstGeom prst="roundRect">
            <a:avLst>
              <a:gd name="adj" fmla="val 50000"/>
            </a:avLst>
          </a:prstGeom>
          <a:solidFill>
            <a:srgbClr val="FF7A5C"/>
          </a:solidFill>
          <a:ln>
            <a:noFill/>
          </a:ln>
        </p:spPr>
        <p:txBody>
          <a:bodyPr wrap="square" lIns="18288" tIns="18288" rIns="18288" bIns="18288" rtlCol="0" anchor="ctr"/>
          <a:lstStyle/>
          <a:p>
            <a:pPr algn="ctr"/>
            <a:r>
              <a:rPr sz="1250" b="1" i="0" spc="40">
                <a:solidFill>
                  <a:srgbClr val="FFFFFF"/>
                </a:solidFill>
                <a:latin typeface="Times New Roman"/>
                <a:ea typeface="Times New Roman"/>
                <a:cs typeface="Times New Roman"/>
              </a:rPr>
              <a:t>Target: macro F1-score ≥ 90% on held-out test data</a:t>
            </a:r>
          </a:p>
        </p:txBody>
      </p:sp>
      <p:sp>
        <p:nvSpPr>
          <p:cNvPr id="21" name="Label"/>
          <p:cNvSpPr txBox="1"/>
          <p:nvPr/>
        </p:nvSpPr>
        <p:spPr>
          <a:xfrm>
            <a:off x="8183879" y="18288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STAGE FLOW</a:t>
            </a:r>
          </a:p>
        </p:txBody>
      </p:sp>
      <p:sp>
        <p:nvSpPr>
          <p:cNvPr id="22" name="Card"/>
          <p:cNvSpPr/>
          <p:nvPr/>
        </p:nvSpPr>
        <p:spPr>
          <a:xfrm>
            <a:off x="8183879" y="2176272"/>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3" name="Icon"/>
          <p:cNvSpPr/>
          <p:nvPr/>
        </p:nvSpPr>
        <p:spPr>
          <a:xfrm>
            <a:off x="8330183" y="2384298"/>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24" name="TextBox 23"/>
          <p:cNvSpPr txBox="1"/>
          <p:nvPr/>
        </p:nvSpPr>
        <p:spPr>
          <a:xfrm>
            <a:off x="8805672" y="2194560"/>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Feature Matrix + SMOTE Balancing</a:t>
            </a:r>
          </a:p>
        </p:txBody>
      </p:sp>
      <p:sp>
        <p:nvSpPr>
          <p:cNvPr id="25" name="Arrow"/>
          <p:cNvSpPr/>
          <p:nvPr/>
        </p:nvSpPr>
        <p:spPr>
          <a:xfrm>
            <a:off x="8624316" y="3022091"/>
            <a:ext cx="201168" cy="219456"/>
          </a:xfrm>
          <a:prstGeom prst="downArrow">
            <a:avLst/>
          </a:prstGeom>
          <a:solidFill>
            <a:srgbClr val="FFFFFF"/>
          </a:solidFill>
          <a:ln>
            <a:noFill/>
          </a:ln>
        </p:spPr>
        <p:txBody>
          <a:bodyPr rtlCol="0" anchor="ctr"/>
          <a:lstStyle/>
          <a:p>
            <a:pPr algn="ctr"/>
            <a:endParaRPr/>
          </a:p>
        </p:txBody>
      </p:sp>
      <p:sp>
        <p:nvSpPr>
          <p:cNvPr id="26" name="Arrow"/>
          <p:cNvSpPr/>
          <p:nvPr/>
        </p:nvSpPr>
        <p:spPr>
          <a:xfrm>
            <a:off x="9797796" y="3022091"/>
            <a:ext cx="201168" cy="219456"/>
          </a:xfrm>
          <a:prstGeom prst="downArrow">
            <a:avLst/>
          </a:prstGeom>
          <a:solidFill>
            <a:srgbClr val="FFFFFF"/>
          </a:solidFill>
          <a:ln>
            <a:noFill/>
          </a:ln>
        </p:spPr>
        <p:txBody>
          <a:bodyPr rtlCol="0" anchor="ctr"/>
          <a:lstStyle/>
          <a:p>
            <a:pPr algn="ctr"/>
            <a:endParaRPr/>
          </a:p>
        </p:txBody>
      </p:sp>
      <p:sp>
        <p:nvSpPr>
          <p:cNvPr id="27" name="Arrow"/>
          <p:cNvSpPr/>
          <p:nvPr/>
        </p:nvSpPr>
        <p:spPr>
          <a:xfrm>
            <a:off x="10971276" y="3022091"/>
            <a:ext cx="201168" cy="219456"/>
          </a:xfrm>
          <a:prstGeom prst="downArrow">
            <a:avLst/>
          </a:prstGeom>
          <a:solidFill>
            <a:srgbClr val="FFFFFF"/>
          </a:solidFill>
          <a:ln>
            <a:noFill/>
          </a:ln>
        </p:spPr>
        <p:txBody>
          <a:bodyPr rtlCol="0" anchor="ctr"/>
          <a:lstStyle/>
          <a:p>
            <a:pPr algn="ctr"/>
            <a:endParaRPr/>
          </a:p>
        </p:txBody>
      </p:sp>
      <p:sp>
        <p:nvSpPr>
          <p:cNvPr id="28" name="Card"/>
          <p:cNvSpPr/>
          <p:nvPr/>
        </p:nvSpPr>
        <p:spPr>
          <a:xfrm>
            <a:off x="8183879" y="3287268"/>
            <a:ext cx="1082040" cy="800100"/>
          </a:xfrm>
          <a:prstGeom prst="roundRect">
            <a:avLst>
              <a:gd name="adj" fmla="val 10285"/>
            </a:avLst>
          </a:prstGeom>
          <a:solidFill>
            <a:srgbClr val="FFFFFF"/>
          </a:solidFill>
          <a:ln w="12700">
            <a:solidFill>
              <a:srgbClr val="2C4C8C"/>
            </a:solidFill>
          </a:ln>
        </p:spPr>
        <p:txBody>
          <a:bodyPr wrap="square" lIns="36576" tIns="36576" rIns="36576" bIns="36576" rtlCol="0" anchor="ctr"/>
          <a:lstStyle/>
          <a:p>
            <a:pPr algn="ctr"/>
            <a:r>
              <a:rPr sz="1200" b="1" i="0">
                <a:solidFill>
                  <a:srgbClr val="000000"/>
                </a:solidFill>
                <a:latin typeface="Times New Roman"/>
                <a:ea typeface="Times New Roman"/>
                <a:cs typeface="Times New Roman"/>
              </a:rPr>
              <a:t>Random Forest</a:t>
            </a:r>
          </a:p>
        </p:txBody>
      </p:sp>
      <p:sp>
        <p:nvSpPr>
          <p:cNvPr id="29" name="Arrow"/>
          <p:cNvSpPr/>
          <p:nvPr/>
        </p:nvSpPr>
        <p:spPr>
          <a:xfrm>
            <a:off x="8624316" y="4133087"/>
            <a:ext cx="201168" cy="219456"/>
          </a:xfrm>
          <a:prstGeom prst="downArrow">
            <a:avLst/>
          </a:prstGeom>
          <a:solidFill>
            <a:srgbClr val="FFFFFF"/>
          </a:solidFill>
          <a:ln>
            <a:noFill/>
          </a:ln>
        </p:spPr>
        <p:txBody>
          <a:bodyPr rtlCol="0" anchor="ctr"/>
          <a:lstStyle/>
          <a:p>
            <a:pPr algn="ctr"/>
            <a:endParaRPr/>
          </a:p>
        </p:txBody>
      </p:sp>
      <p:sp>
        <p:nvSpPr>
          <p:cNvPr id="30" name="Card"/>
          <p:cNvSpPr/>
          <p:nvPr/>
        </p:nvSpPr>
        <p:spPr>
          <a:xfrm>
            <a:off x="9357360" y="3287268"/>
            <a:ext cx="1082040" cy="800100"/>
          </a:xfrm>
          <a:prstGeom prst="roundRect">
            <a:avLst>
              <a:gd name="adj" fmla="val 10285"/>
            </a:avLst>
          </a:prstGeom>
          <a:solidFill>
            <a:srgbClr val="FFFFFF"/>
          </a:solidFill>
          <a:ln w="12700">
            <a:solidFill>
              <a:srgbClr val="2C4C8C"/>
            </a:solidFill>
          </a:ln>
        </p:spPr>
        <p:txBody>
          <a:bodyPr wrap="square" lIns="36576" tIns="36576" rIns="36576" bIns="36576" rtlCol="0" anchor="ctr"/>
          <a:lstStyle/>
          <a:p>
            <a:pPr algn="ctr"/>
            <a:r>
              <a:rPr sz="1200" b="1" i="0">
                <a:solidFill>
                  <a:srgbClr val="000000"/>
                </a:solidFill>
                <a:latin typeface="Times New Roman"/>
                <a:ea typeface="Times New Roman"/>
                <a:cs typeface="Times New Roman"/>
              </a:rPr>
              <a:t>XGBoost</a:t>
            </a:r>
          </a:p>
        </p:txBody>
      </p:sp>
      <p:sp>
        <p:nvSpPr>
          <p:cNvPr id="31" name="Arrow"/>
          <p:cNvSpPr/>
          <p:nvPr/>
        </p:nvSpPr>
        <p:spPr>
          <a:xfrm>
            <a:off x="9797796" y="4133087"/>
            <a:ext cx="201168" cy="219456"/>
          </a:xfrm>
          <a:prstGeom prst="downArrow">
            <a:avLst/>
          </a:prstGeom>
          <a:solidFill>
            <a:srgbClr val="FFFFFF"/>
          </a:solidFill>
          <a:ln>
            <a:noFill/>
          </a:ln>
        </p:spPr>
        <p:txBody>
          <a:bodyPr rtlCol="0" anchor="ctr"/>
          <a:lstStyle/>
          <a:p>
            <a:pPr algn="ctr"/>
            <a:endParaRPr/>
          </a:p>
        </p:txBody>
      </p:sp>
      <p:sp>
        <p:nvSpPr>
          <p:cNvPr id="32" name="Card"/>
          <p:cNvSpPr/>
          <p:nvPr/>
        </p:nvSpPr>
        <p:spPr>
          <a:xfrm>
            <a:off x="10530840" y="3287268"/>
            <a:ext cx="1082040" cy="800100"/>
          </a:xfrm>
          <a:prstGeom prst="roundRect">
            <a:avLst>
              <a:gd name="adj" fmla="val 10285"/>
            </a:avLst>
          </a:prstGeom>
          <a:solidFill>
            <a:srgbClr val="FFFFFF"/>
          </a:solidFill>
          <a:ln w="12700">
            <a:solidFill>
              <a:srgbClr val="2C4C8C"/>
            </a:solidFill>
          </a:ln>
        </p:spPr>
        <p:txBody>
          <a:bodyPr wrap="square" lIns="36576" tIns="36576" rIns="36576" bIns="36576" rtlCol="0" anchor="ctr"/>
          <a:lstStyle/>
          <a:p>
            <a:pPr algn="ctr"/>
            <a:r>
              <a:rPr sz="1200" b="1" i="0">
                <a:solidFill>
                  <a:srgbClr val="000000"/>
                </a:solidFill>
                <a:latin typeface="Times New Roman"/>
                <a:ea typeface="Times New Roman"/>
                <a:cs typeface="Times New Roman"/>
              </a:rPr>
              <a:t>Extra Trees</a:t>
            </a:r>
          </a:p>
        </p:txBody>
      </p:sp>
      <p:sp>
        <p:nvSpPr>
          <p:cNvPr id="33" name="Arrow"/>
          <p:cNvSpPr/>
          <p:nvPr/>
        </p:nvSpPr>
        <p:spPr>
          <a:xfrm>
            <a:off x="10971276" y="4133087"/>
            <a:ext cx="201168" cy="219456"/>
          </a:xfrm>
          <a:prstGeom prst="downArrow">
            <a:avLst/>
          </a:prstGeom>
          <a:solidFill>
            <a:srgbClr val="FFFFFF"/>
          </a:solidFill>
          <a:ln>
            <a:noFill/>
          </a:ln>
        </p:spPr>
        <p:txBody>
          <a:bodyPr rtlCol="0" anchor="ctr"/>
          <a:lstStyle/>
          <a:p>
            <a:pPr algn="ctr"/>
            <a:endParaRPr/>
          </a:p>
        </p:txBody>
      </p:sp>
      <p:sp>
        <p:nvSpPr>
          <p:cNvPr id="34" name="Card"/>
          <p:cNvSpPr/>
          <p:nvPr/>
        </p:nvSpPr>
        <p:spPr>
          <a:xfrm>
            <a:off x="8183879" y="4398264"/>
            <a:ext cx="3429000" cy="8001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35" name="Icon"/>
          <p:cNvSpPr/>
          <p:nvPr/>
        </p:nvSpPr>
        <p:spPr>
          <a:xfrm>
            <a:off x="8330183" y="4606290"/>
            <a:ext cx="384048" cy="384048"/>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05</a:t>
            </a:r>
          </a:p>
        </p:txBody>
      </p:sp>
      <p:sp>
        <p:nvSpPr>
          <p:cNvPr id="36" name="TextBox 35"/>
          <p:cNvSpPr txBox="1"/>
          <p:nvPr/>
        </p:nvSpPr>
        <p:spPr>
          <a:xfrm>
            <a:off x="8805672" y="4416552"/>
            <a:ext cx="2697480" cy="763524"/>
          </a:xfrm>
          <a:prstGeom prst="rect">
            <a:avLst/>
          </a:prstGeom>
          <a:noFill/>
        </p:spPr>
        <p:txBody>
          <a:bodyPr wrap="square" lIns="45720" rIns="45720" anchor="ctr">
            <a:spAutoFit/>
          </a:bodyPr>
          <a:lstStyle/>
          <a:p>
            <a:pPr algn="l"/>
            <a:r>
              <a:rPr sz="1250" b="1" i="0">
                <a:solidFill>
                  <a:srgbClr val="000000"/>
                </a:solidFill>
                <a:latin typeface="Times New Roman"/>
                <a:ea typeface="Times New Roman"/>
                <a:cs typeface="Times New Roman"/>
              </a:rPr>
              <a:t>Meta-Learner + Platt Calibration</a:t>
            </a:r>
          </a:p>
        </p:txBody>
      </p:sp>
      <p:sp>
        <p:nvSpPr>
          <p:cNvPr id="37" name="Arrow"/>
          <p:cNvSpPr/>
          <p:nvPr/>
        </p:nvSpPr>
        <p:spPr>
          <a:xfrm>
            <a:off x="9797796" y="5244084"/>
            <a:ext cx="201168" cy="219456"/>
          </a:xfrm>
          <a:prstGeom prst="downArrow">
            <a:avLst/>
          </a:prstGeom>
          <a:solidFill>
            <a:srgbClr val="FFFFFF"/>
          </a:solidFill>
          <a:ln>
            <a:noFill/>
          </a:ln>
        </p:spPr>
        <p:txBody>
          <a:bodyPr rtlCol="0" anchor="ctr"/>
          <a:lstStyle/>
          <a:p>
            <a:pPr algn="ctr"/>
            <a:endParaRPr/>
          </a:p>
        </p:txBody>
      </p:sp>
      <p:sp>
        <p:nvSpPr>
          <p:cNvPr id="38" name="Card"/>
          <p:cNvSpPr/>
          <p:nvPr/>
        </p:nvSpPr>
        <p:spPr>
          <a:xfrm>
            <a:off x="8183879" y="5509260"/>
            <a:ext cx="3429000" cy="800100"/>
          </a:xfrm>
          <a:prstGeom prst="roundRect">
            <a:avLst>
              <a:gd name="adj" fmla="val 10285"/>
            </a:avLst>
          </a:prstGeom>
          <a:solidFill>
            <a:srgbClr val="2F5296"/>
          </a:solidFill>
          <a:ln w="12700">
            <a:solidFill>
              <a:srgbClr val="2C4C8C"/>
            </a:solidFill>
          </a:ln>
        </p:spPr>
        <p:txBody>
          <a:bodyPr rtlCol="0" anchor="ctr"/>
          <a:lstStyle/>
          <a:p>
            <a:pPr algn="ctr"/>
            <a:endParaRPr/>
          </a:p>
        </p:txBody>
      </p:sp>
      <p:sp>
        <p:nvSpPr>
          <p:cNvPr id="39" name="Icon"/>
          <p:cNvSpPr/>
          <p:nvPr/>
        </p:nvSpPr>
        <p:spPr>
          <a:xfrm>
            <a:off x="8330183" y="5717286"/>
            <a:ext cx="384048" cy="384048"/>
          </a:xfrm>
          <a:prstGeom prst="ellipse">
            <a:avLst/>
          </a:prstGeom>
          <a:solidFill>
            <a:srgbClr val="3A5FA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06</a:t>
            </a:r>
          </a:p>
        </p:txBody>
      </p:sp>
      <p:sp>
        <p:nvSpPr>
          <p:cNvPr id="40" name="TextBox 39"/>
          <p:cNvSpPr txBox="1"/>
          <p:nvPr/>
        </p:nvSpPr>
        <p:spPr>
          <a:xfrm>
            <a:off x="8805672" y="5527548"/>
            <a:ext cx="2697480" cy="763524"/>
          </a:xfrm>
          <a:prstGeom prst="rect">
            <a:avLst/>
          </a:prstGeom>
          <a:noFill/>
        </p:spPr>
        <p:txBody>
          <a:bodyPr wrap="square" lIns="45720" rIns="45720" anchor="ctr">
            <a:spAutoFit/>
          </a:bodyPr>
          <a:lstStyle/>
          <a:p>
            <a:pPr algn="l"/>
            <a:r>
              <a:rPr sz="1250" b="1" i="0">
                <a:solidFill>
                  <a:srgbClr val="FFFFFF"/>
                </a:solidFill>
                <a:latin typeface="Times New Roman"/>
                <a:ea typeface="Times New Roman"/>
                <a:cs typeface="Times New Roman"/>
              </a:rPr>
              <a:t>Planet Probability</a:t>
            </a:r>
          </a:p>
        </p:txBody>
      </p:sp>
      <p:sp>
        <p:nvSpPr>
          <p:cNvPr id="41"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42"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23</a:t>
            </a:r>
          </a:p>
        </p:txBody>
      </p:sp>
      <p:sp>
        <p:nvSpPr>
          <p:cNvPr id="43"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44"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45"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46"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47"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EXOPLANET DETECTION PIPELINE  —  ENSEMBLE MACHINE-LEARNING CLASSIFIER</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Module 6 — Visual Explanation &amp; Output</a:t>
            </a:r>
          </a:p>
        </p:txBody>
      </p:sp>
      <p:sp>
        <p:nvSpPr>
          <p:cNvPr id="4" name="Card"/>
          <p:cNvSpPr/>
          <p:nvPr/>
        </p:nvSpPr>
        <p:spPr>
          <a:xfrm>
            <a:off x="548640" y="1371600"/>
            <a:ext cx="7360920" cy="4937760"/>
          </a:xfrm>
          <a:prstGeom prst="roundRect">
            <a:avLst>
              <a:gd name="adj" fmla="val 1666"/>
            </a:avLst>
          </a:prstGeom>
          <a:solidFill>
            <a:srgbClr val="FFFFFF"/>
          </a:solidFill>
          <a:ln w="12700">
            <a:solidFill>
              <a:srgbClr val="2C4C8C"/>
            </a:solidFill>
          </a:ln>
        </p:spPr>
        <p:txBody>
          <a:bodyPr rtlCol="0" anchor="ctr"/>
          <a:lstStyle/>
          <a:p>
            <a:pPr algn="ctr"/>
            <a:endParaRPr/>
          </a:p>
        </p:txBody>
      </p:sp>
      <p:pic>
        <p:nvPicPr>
          <p:cNvPr id="5" name="Picture 4" descr="p3.png"/>
          <p:cNvPicPr>
            <a:picLocks noChangeAspect="1"/>
          </p:cNvPicPr>
          <p:nvPr/>
        </p:nvPicPr>
        <p:blipFill>
          <a:blip r:embed="rId2"/>
          <a:stretch>
            <a:fillRect/>
          </a:stretch>
        </p:blipFill>
        <p:spPr>
          <a:xfrm>
            <a:off x="685800" y="1481328"/>
            <a:ext cx="7086600" cy="4015740"/>
          </a:xfrm>
          <a:prstGeom prst="rect">
            <a:avLst/>
          </a:prstGeom>
        </p:spPr>
      </p:pic>
      <p:sp>
        <p:nvSpPr>
          <p:cNvPr id="6" name="Caption"/>
          <p:cNvSpPr txBox="1"/>
          <p:nvPr/>
        </p:nvSpPr>
        <p:spPr>
          <a:xfrm>
            <a:off x="685800" y="5577840"/>
            <a:ext cx="7086600" cy="640080"/>
          </a:xfrm>
          <a:prstGeom prst="rect">
            <a:avLst/>
          </a:prstGeom>
          <a:noFill/>
        </p:spPr>
        <p:txBody>
          <a:bodyPr wrap="square" lIns="45720" rIns="45720" anchor="ctr">
            <a:spAutoFit/>
          </a:bodyPr>
          <a:lstStyle/>
          <a:p>
            <a:pPr algn="l"/>
            <a:r>
              <a:rPr sz="1050" b="1" i="0">
                <a:solidFill>
                  <a:srgbClr val="2F5296"/>
                </a:solidFill>
                <a:latin typeface="Times New Roman"/>
                <a:ea typeface="Times New Roman"/>
                <a:cs typeface="Times New Roman"/>
              </a:rPr>
              <a:t>Illustration of: Class Balancing, Ensemble Models, Probability Calibration, Explainability (SHAP), Confidence Routing.</a:t>
            </a:r>
          </a:p>
          <a:p>
            <a:pPr algn="l"/>
            <a:r>
              <a:rPr sz="1000" b="0" i="1">
                <a:solidFill>
                  <a:srgbClr val="5B6B8C"/>
                </a:solidFill>
                <a:latin typeface="Times New Roman"/>
                <a:ea typeface="Times New Roman"/>
                <a:cs typeface="Times New Roman"/>
              </a:rPr>
              <a:t>Schematic drawn for explanation only; it is not measured pipeline output.</a:t>
            </a:r>
          </a:p>
        </p:txBody>
      </p:sp>
      <p:sp>
        <p:nvSpPr>
          <p:cNvPr id="7" name="Label"/>
          <p:cNvSpPr txBox="1"/>
          <p:nvPr/>
        </p:nvSpPr>
        <p:spPr>
          <a:xfrm>
            <a:off x="8183879" y="137160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OUTPUT</a:t>
            </a:r>
          </a:p>
        </p:txBody>
      </p:sp>
      <p:sp>
        <p:nvSpPr>
          <p:cNvPr id="8" name="Row"/>
          <p:cNvSpPr/>
          <p:nvPr/>
        </p:nvSpPr>
        <p:spPr>
          <a:xfrm>
            <a:off x="8183879" y="1719072"/>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9" name="Icon"/>
          <p:cNvSpPr/>
          <p:nvPr/>
        </p:nvSpPr>
        <p:spPr>
          <a:xfrm>
            <a:off x="8330183" y="1984248"/>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01</a:t>
            </a:r>
          </a:p>
        </p:txBody>
      </p:sp>
      <p:sp>
        <p:nvSpPr>
          <p:cNvPr id="10" name="RowText"/>
          <p:cNvSpPr txBox="1"/>
          <p:nvPr/>
        </p:nvSpPr>
        <p:spPr>
          <a:xfrm>
            <a:off x="8805672" y="1746504"/>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Trained ML ensemble model</a:t>
            </a:r>
          </a:p>
        </p:txBody>
      </p:sp>
      <p:sp>
        <p:nvSpPr>
          <p:cNvPr id="11" name="Row"/>
          <p:cNvSpPr/>
          <p:nvPr/>
        </p:nvSpPr>
        <p:spPr>
          <a:xfrm>
            <a:off x="8183879" y="2743200"/>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12" name="Icon"/>
          <p:cNvSpPr/>
          <p:nvPr/>
        </p:nvSpPr>
        <p:spPr>
          <a:xfrm>
            <a:off x="8330183" y="3008376"/>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02</a:t>
            </a:r>
          </a:p>
        </p:txBody>
      </p:sp>
      <p:sp>
        <p:nvSpPr>
          <p:cNvPr id="13" name="RowText"/>
          <p:cNvSpPr txBox="1"/>
          <p:nvPr/>
        </p:nvSpPr>
        <p:spPr>
          <a:xfrm>
            <a:off x="8805672" y="2770632"/>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Calibrated planet probability per candidate</a:t>
            </a:r>
          </a:p>
        </p:txBody>
      </p:sp>
      <p:sp>
        <p:nvSpPr>
          <p:cNvPr id="14" name="Row"/>
          <p:cNvSpPr/>
          <p:nvPr/>
        </p:nvSpPr>
        <p:spPr>
          <a:xfrm>
            <a:off x="8183879" y="3767328"/>
            <a:ext cx="3429000" cy="896112"/>
          </a:xfrm>
          <a:prstGeom prst="roundRect">
            <a:avLst>
              <a:gd name="adj" fmla="val 9183"/>
            </a:avLst>
          </a:prstGeom>
          <a:solidFill>
            <a:srgbClr val="FFFFFF"/>
          </a:solidFill>
          <a:ln w="12700">
            <a:solidFill>
              <a:srgbClr val="2C4C8C"/>
            </a:solidFill>
          </a:ln>
        </p:spPr>
        <p:txBody>
          <a:bodyPr rtlCol="0" anchor="ctr"/>
          <a:lstStyle/>
          <a:p>
            <a:pPr algn="ctr"/>
            <a:endParaRPr/>
          </a:p>
        </p:txBody>
      </p:sp>
      <p:sp>
        <p:nvSpPr>
          <p:cNvPr id="15" name="Icon"/>
          <p:cNvSpPr/>
          <p:nvPr/>
        </p:nvSpPr>
        <p:spPr>
          <a:xfrm>
            <a:off x="8330183" y="4032504"/>
            <a:ext cx="365760" cy="365760"/>
          </a:xfrm>
          <a:prstGeom prst="ellipse">
            <a:avLst/>
          </a:prstGeom>
          <a:solidFill>
            <a:srgbClr val="2F5296"/>
          </a:solidFill>
          <a:ln w="12700">
            <a:solidFill>
              <a:srgbClr val="2C4C8C"/>
            </a:solidFill>
          </a:ln>
        </p:spPr>
        <p:txBody>
          <a:bodyPr wrap="square" lIns="0" tIns="0" rIns="0" bIns="0" rtlCol="0" anchor="ctr"/>
          <a:lstStyle/>
          <a:p>
            <a:pPr algn="ctr"/>
            <a:r>
              <a:rPr sz="1050" b="1" i="0">
                <a:solidFill>
                  <a:srgbClr val="00E5D4"/>
                </a:solidFill>
                <a:latin typeface="Times New Roman"/>
                <a:ea typeface="Times New Roman"/>
                <a:cs typeface="Times New Roman"/>
              </a:rPr>
              <a:t>03</a:t>
            </a:r>
          </a:p>
        </p:txBody>
      </p:sp>
      <p:sp>
        <p:nvSpPr>
          <p:cNvPr id="16" name="RowText"/>
          <p:cNvSpPr txBox="1"/>
          <p:nvPr/>
        </p:nvSpPr>
        <p:spPr>
          <a:xfrm>
            <a:off x="8805672" y="3794760"/>
            <a:ext cx="2697480" cy="841247"/>
          </a:xfrm>
          <a:prstGeom prst="rect">
            <a:avLst/>
          </a:prstGeom>
          <a:noFill/>
        </p:spPr>
        <p:txBody>
          <a:bodyPr wrap="square" lIns="45720" rIns="45720" anchor="ctr">
            <a:spAutoFit/>
          </a:bodyPr>
          <a:lstStyle/>
          <a:p>
            <a:pPr algn="l"/>
            <a:r>
              <a:rPr sz="1300" b="1" i="0">
                <a:solidFill>
                  <a:srgbClr val="000000"/>
                </a:solidFill>
                <a:latin typeface="Times New Roman"/>
                <a:ea typeface="Times New Roman"/>
                <a:cs typeface="Times New Roman"/>
              </a:rPr>
              <a:t>Planet / EB / Blend / Other class label</a:t>
            </a:r>
          </a:p>
        </p:txBody>
      </p:sp>
      <p:sp>
        <p:nvSpPr>
          <p:cNvPr id="17" name="Card"/>
          <p:cNvSpPr/>
          <p:nvPr/>
        </p:nvSpPr>
        <p:spPr>
          <a:xfrm>
            <a:off x="8183879" y="4901184"/>
            <a:ext cx="3429000" cy="1408176"/>
          </a:xfrm>
          <a:prstGeom prst="roundRect">
            <a:avLst>
              <a:gd name="adj" fmla="val 5844"/>
            </a:avLst>
          </a:prstGeom>
          <a:solidFill>
            <a:srgbClr val="2F5296"/>
          </a:solidFill>
          <a:ln w="12700">
            <a:solidFill>
              <a:srgbClr val="2C4C8C"/>
            </a:solidFill>
          </a:ln>
        </p:spPr>
        <p:txBody>
          <a:bodyPr rtlCol="0" anchor="ctr"/>
          <a:lstStyle/>
          <a:p>
            <a:pPr algn="ctr"/>
            <a:endParaRPr/>
          </a:p>
        </p:txBody>
      </p:sp>
      <p:sp>
        <p:nvSpPr>
          <p:cNvPr id="18" name="TextBox 17"/>
          <p:cNvSpPr txBox="1"/>
          <p:nvPr/>
        </p:nvSpPr>
        <p:spPr>
          <a:xfrm>
            <a:off x="8366760" y="4992624"/>
            <a:ext cx="3063240" cy="292608"/>
          </a:xfrm>
          <a:prstGeom prst="rect">
            <a:avLst/>
          </a:prstGeom>
          <a:noFill/>
        </p:spPr>
        <p:txBody>
          <a:bodyPr wrap="square" lIns="45720" rIns="45720" anchor="ctr">
            <a:spAutoFit/>
          </a:bodyPr>
          <a:lstStyle/>
          <a:p>
            <a:pPr algn="l"/>
            <a:r>
              <a:rPr sz="1000" b="1" i="0" spc="150">
                <a:solidFill>
                  <a:srgbClr val="00E5D4"/>
                </a:solidFill>
                <a:latin typeface="Times New Roman"/>
                <a:ea typeface="Times New Roman"/>
                <a:cs typeface="Times New Roman"/>
              </a:rPr>
              <a:t>STAGE FLOW</a:t>
            </a:r>
          </a:p>
        </p:txBody>
      </p:sp>
      <p:sp>
        <p:nvSpPr>
          <p:cNvPr id="19" name="Flow recap"/>
          <p:cNvSpPr txBox="1"/>
          <p:nvPr/>
        </p:nvSpPr>
        <p:spPr>
          <a:xfrm>
            <a:off x="8366760" y="5303520"/>
            <a:ext cx="3063240" cy="914400"/>
          </a:xfrm>
          <a:prstGeom prst="rect">
            <a:avLst/>
          </a:prstGeom>
          <a:noFill/>
        </p:spPr>
        <p:txBody>
          <a:bodyPr wrap="square" lIns="45720" rIns="45720" anchor="t">
            <a:spAutoFit/>
          </a:bodyPr>
          <a:lstStyle/>
          <a:p>
            <a:pPr algn="l"/>
            <a:r>
              <a:rPr sz="1250" b="0" i="0">
                <a:solidFill>
                  <a:srgbClr val="FFFFFF"/>
                </a:solidFill>
                <a:latin typeface="Times New Roman"/>
                <a:ea typeface="Times New Roman"/>
                <a:cs typeface="Times New Roman"/>
              </a:rPr>
              <a:t>Feature Matrix + SMOTE Balancing  →  Random Forest + XGBoost + Extra Trees  →  Meta-Learner + Platt Calibration  →  Planet Probability</a:t>
            </a:r>
          </a:p>
        </p:txBody>
      </p:sp>
      <p:sp>
        <p:nvSpPr>
          <p:cNvPr id="20"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21"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24</a:t>
            </a:r>
          </a:p>
        </p:txBody>
      </p:sp>
      <p:sp>
        <p:nvSpPr>
          <p:cNvPr id="22" name="Home">
            <a:hlinkClick r:id="rId3"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23"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24"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25"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26"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LUNAVISION AI</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Conclusion</a:t>
            </a:r>
          </a:p>
        </p:txBody>
      </p:sp>
      <p:sp>
        <p:nvSpPr>
          <p:cNvPr id="4" name="Row"/>
          <p:cNvSpPr/>
          <p:nvPr/>
        </p:nvSpPr>
        <p:spPr>
          <a:xfrm>
            <a:off x="548640" y="1463040"/>
            <a:ext cx="7360920" cy="74000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5" name="Icon"/>
          <p:cNvSpPr/>
          <p:nvPr/>
        </p:nvSpPr>
        <p:spPr>
          <a:xfrm>
            <a:off x="694944" y="165016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01</a:t>
            </a:r>
          </a:p>
        </p:txBody>
      </p:sp>
      <p:sp>
        <p:nvSpPr>
          <p:cNvPr id="6" name="RowText"/>
          <p:cNvSpPr txBox="1"/>
          <p:nvPr/>
        </p:nvSpPr>
        <p:spPr>
          <a:xfrm>
            <a:off x="1170432" y="1490472"/>
            <a:ext cx="6629400" cy="685136"/>
          </a:xfrm>
          <a:prstGeom prst="rect">
            <a:avLst/>
          </a:prstGeom>
          <a:noFill/>
        </p:spPr>
        <p:txBody>
          <a:bodyPr wrap="square" lIns="45720" rIns="45720" anchor="ctr">
            <a:noAutofit/>
          </a:bodyPr>
          <a:lstStyle/>
          <a:p>
            <a:pPr algn="l"/>
            <a:r>
              <a:rPr lang="en-US" sz="1300" b="1" i="0" dirty="0">
                <a:solidFill>
                  <a:srgbClr val="000000"/>
                </a:solidFill>
                <a:latin typeface="Times New Roman"/>
                <a:ea typeface="Times New Roman"/>
                <a:cs typeface="Times New Roman"/>
              </a:rPr>
              <a:t xml:space="preserve">End-to-End Automation</a:t>
            </a:r>
            <a:r>
              <a:rPr lang="en-US" sz="1300" b="0" i="0" dirty="0">
                <a:solidFill>
                  <a:srgbClr val="000000"/>
                </a:solidFill>
                <a:latin typeface="Times New Roman"/>
                <a:ea typeface="Times New Roman"/>
                <a:cs typeface="Times New Roman"/>
              </a:rPr>
              <a:t xml:space="preserve">   LuNaVision AI automates exoplanet discovery from TESS data acquisition through to the scientific report.</a:t>
            </a:r>
          </a:p>
        </p:txBody>
      </p:sp>
      <p:sp>
        <p:nvSpPr>
          <p:cNvPr id="7" name="Row"/>
          <p:cNvSpPr/>
          <p:nvPr/>
        </p:nvSpPr>
        <p:spPr>
          <a:xfrm>
            <a:off x="548640" y="2313040"/>
            <a:ext cx="7360920" cy="74000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8" name="Icon"/>
          <p:cNvSpPr/>
          <p:nvPr/>
        </p:nvSpPr>
        <p:spPr>
          <a:xfrm>
            <a:off x="694944" y="250016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02</a:t>
            </a:r>
          </a:p>
        </p:txBody>
      </p:sp>
      <p:sp>
        <p:nvSpPr>
          <p:cNvPr id="9" name="RowText"/>
          <p:cNvSpPr txBox="1"/>
          <p:nvPr/>
        </p:nvSpPr>
        <p:spPr>
          <a:xfrm>
            <a:off x="1170432" y="2340472"/>
            <a:ext cx="6629400" cy="685136"/>
          </a:xfrm>
          <a:prstGeom prst="rect">
            <a:avLst/>
          </a:prstGeom>
          <a:noFill/>
        </p:spPr>
        <p:txBody>
          <a:bodyPr wrap="square" lIns="45720" rIns="45720" anchor="ctr">
            <a:noAutofit/>
          </a:bodyPr>
          <a:lstStyle/>
          <a:p>
            <a:pPr algn="l"/>
            <a:r>
              <a:rPr lang="en-US" sz="1300" b="1" i="0" dirty="0">
                <a:solidFill>
                  <a:srgbClr val="000000"/>
                </a:solidFill>
                <a:latin typeface="Times New Roman"/>
                <a:ea typeface="Times New Roman"/>
                <a:cs typeface="Times New Roman"/>
              </a:rPr>
              <a:t xml:space="preserve">Multi-Agent Architecture</a:t>
            </a:r>
            <a:r>
              <a:rPr lang="en-US" sz="1300" b="0" i="0" dirty="0">
                <a:solidFill>
                  <a:srgbClr val="000000"/>
                </a:solidFill>
                <a:latin typeface="Times New Roman"/>
                <a:ea typeface="Times New Roman"/>
                <a:cs typeface="Times New Roman"/>
              </a:rPr>
              <a:t xml:space="preserve">   Nine specialised agents, coordinated by an Orchestrator, keep the pipeline modular, resumable and scalable.</a:t>
            </a:r>
          </a:p>
        </p:txBody>
      </p:sp>
      <p:sp>
        <p:nvSpPr>
          <p:cNvPr id="10" name="Row"/>
          <p:cNvSpPr/>
          <p:nvPr/>
        </p:nvSpPr>
        <p:spPr>
          <a:xfrm>
            <a:off x="548640" y="3163040"/>
            <a:ext cx="7360920" cy="74000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1" name="Icon"/>
          <p:cNvSpPr/>
          <p:nvPr/>
        </p:nvSpPr>
        <p:spPr>
          <a:xfrm>
            <a:off x="694944" y="335016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03</a:t>
            </a:r>
          </a:p>
        </p:txBody>
      </p:sp>
      <p:sp>
        <p:nvSpPr>
          <p:cNvPr id="12" name="RowText"/>
          <p:cNvSpPr txBox="1"/>
          <p:nvPr/>
        </p:nvSpPr>
        <p:spPr>
          <a:xfrm>
            <a:off x="1170432" y="3190472"/>
            <a:ext cx="6629400" cy="685136"/>
          </a:xfrm>
          <a:prstGeom prst="rect">
            <a:avLst/>
          </a:prstGeom>
          <a:noFill/>
        </p:spPr>
        <p:txBody>
          <a:bodyPr wrap="square" lIns="45720" rIns="45720" anchor="ctr">
            <a:noAutofit/>
          </a:bodyPr>
          <a:lstStyle/>
          <a:p>
            <a:pPr algn="l"/>
            <a:r>
              <a:rPr lang="en-US" sz="1300" b="1" i="0" dirty="0">
                <a:solidFill>
                  <a:srgbClr val="000000"/>
                </a:solidFill>
                <a:latin typeface="Times New Roman"/>
                <a:ea typeface="Times New Roman"/>
                <a:cs typeface="Times New Roman"/>
              </a:rPr>
              <a:t xml:space="preserve">Robust Signal Detection</a:t>
            </a:r>
            <a:r>
              <a:rPr lang="en-US" sz="1300" b="0" i="0" dirty="0">
                <a:solidFill>
                  <a:srgbClr val="000000"/>
                </a:solidFill>
                <a:latin typeface="Times New Roman"/>
                <a:ea typeface="Times New Roman"/>
                <a:cs typeface="Times New Roman"/>
              </a:rPr>
              <a:t xml:space="preserve">   Detrending, BLS / TLS search and 35+ GPU-accelerated features separate real transits from noise.</a:t>
            </a:r>
          </a:p>
        </p:txBody>
      </p:sp>
      <p:sp>
        <p:nvSpPr>
          <p:cNvPr id="13" name="Row"/>
          <p:cNvSpPr/>
          <p:nvPr/>
        </p:nvSpPr>
        <p:spPr>
          <a:xfrm>
            <a:off x="548640" y="4013040"/>
            <a:ext cx="7360920" cy="74000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694944" y="420016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04</a:t>
            </a:r>
          </a:p>
        </p:txBody>
      </p:sp>
      <p:sp>
        <p:nvSpPr>
          <p:cNvPr id="15" name="RowText"/>
          <p:cNvSpPr txBox="1"/>
          <p:nvPr/>
        </p:nvSpPr>
        <p:spPr>
          <a:xfrm>
            <a:off x="1170432" y="4040472"/>
            <a:ext cx="6629400" cy="685136"/>
          </a:xfrm>
          <a:prstGeom prst="rect">
            <a:avLst/>
          </a:prstGeom>
          <a:noFill/>
        </p:spPr>
        <p:txBody>
          <a:bodyPr wrap="square" lIns="45720" rIns="45720" anchor="ctr">
            <a:noAutofit/>
          </a:bodyPr>
          <a:lstStyle/>
          <a:p>
            <a:pPr algn="l"/>
            <a:r>
              <a:rPr lang="en-US" sz="1300" b="1" i="0" dirty="0">
                <a:solidFill>
                  <a:srgbClr val="000000"/>
                </a:solidFill>
                <a:latin typeface="Times New Roman"/>
                <a:ea typeface="Times New Roman"/>
                <a:cs typeface="Times New Roman"/>
              </a:rPr>
              <a:t xml:space="preserve">Reliable Classification</a:t>
            </a:r>
            <a:r>
              <a:rPr lang="en-US" sz="1300" b="0" i="0" dirty="0">
                <a:solidFill>
                  <a:srgbClr val="000000"/>
                </a:solidFill>
                <a:latin typeface="Times New Roman"/>
                <a:ea typeface="Times New Roman"/>
                <a:cs typeface="Times New Roman"/>
              </a:rPr>
              <a:t xml:space="preserve">   A calibrated stacked ensemble of Random Forest, XGBoost and Extra Trees reduces false positives.</a:t>
            </a:r>
          </a:p>
        </p:txBody>
      </p:sp>
      <p:sp>
        <p:nvSpPr>
          <p:cNvPr id="16" name="Row"/>
          <p:cNvSpPr/>
          <p:nvPr/>
        </p:nvSpPr>
        <p:spPr>
          <a:xfrm>
            <a:off x="548640" y="4863040"/>
            <a:ext cx="7360920" cy="74000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7" name="Icon"/>
          <p:cNvSpPr/>
          <p:nvPr/>
        </p:nvSpPr>
        <p:spPr>
          <a:xfrm>
            <a:off x="694944" y="505016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05</a:t>
            </a:r>
          </a:p>
        </p:txBody>
      </p:sp>
      <p:sp>
        <p:nvSpPr>
          <p:cNvPr id="18" name="RowText"/>
          <p:cNvSpPr txBox="1"/>
          <p:nvPr/>
        </p:nvSpPr>
        <p:spPr>
          <a:xfrm>
            <a:off x="1170432" y="4890472"/>
            <a:ext cx="6629400" cy="685136"/>
          </a:xfrm>
          <a:prstGeom prst="rect">
            <a:avLst/>
          </a:prstGeom>
          <a:noFill/>
        </p:spPr>
        <p:txBody>
          <a:bodyPr wrap="square" lIns="45720" rIns="45720" anchor="ctr">
            <a:noAutofit/>
          </a:bodyPr>
          <a:lstStyle/>
          <a:p>
            <a:pPr algn="l"/>
            <a:r>
              <a:rPr lang="en-US" sz="1300" b="1" i="0" dirty="0">
                <a:solidFill>
                  <a:srgbClr val="000000"/>
                </a:solidFill>
                <a:latin typeface="Times New Roman"/>
                <a:ea typeface="Times New Roman"/>
                <a:cs typeface="Times New Roman"/>
              </a:rPr>
              <a:t xml:space="preserve">Explainable and Human-Guided</a:t>
            </a:r>
            <a:r>
              <a:rPr lang="en-US" sz="1300" b="0" i="0" dirty="0">
                <a:solidFill>
                  <a:srgbClr val="000000"/>
                </a:solidFill>
                <a:latin typeface="Times New Roman"/>
                <a:ea typeface="Times New Roman"/>
                <a:cs typeface="Times New Roman"/>
              </a:rPr>
              <a:t xml:space="preserve">   SHAP explanations and confidence routing keep every decision interpretable and open to expert review.</a:t>
            </a:r>
          </a:p>
        </p:txBody>
      </p:sp>
      <p:sp>
        <p:nvSpPr>
          <p:cNvPr id="19" name="Badge"/>
          <p:cNvSpPr/>
          <p:nvPr/>
        </p:nvSpPr>
        <p:spPr>
          <a:xfrm>
            <a:off x="548640" y="5870448"/>
            <a:ext cx="7360920" cy="420624"/>
          </a:xfrm>
          <a:prstGeom prst="roundRect">
            <a:avLst>
              <a:gd name="adj" fmla="val 50000"/>
            </a:avLst>
          </a:prstGeom>
          <a:solidFill>
            <a:srgbClr val="FF7A5C"/>
          </a:solidFill>
          <a:ln>
            <a:noFill/>
          </a:ln>
        </p:spPr>
        <p:txBody>
          <a:bodyPr wrap="square" lIns="18288" tIns="18288" rIns="18288" bIns="18288" rtlCol="0" anchor="ctr"/>
          <a:lstStyle/>
          <a:p>
            <a:pPr algn="ctr"/>
            <a:r>
              <a:rPr sz="1250" b="1" i="0" spc="40">
                <a:solidFill>
                  <a:srgbClr val="FFFFFF"/>
                </a:solidFill>
                <a:latin typeface="Times New Roman"/>
                <a:ea typeface="Times New Roman"/>
                <a:cs typeface="Times New Roman"/>
              </a:rPr>
              <a:t>Phase 1 delivers Modules 1–6 — from orchestration to classification</a:t>
            </a:r>
          </a:p>
        </p:txBody>
      </p:sp>
      <p:sp>
        <p:nvSpPr>
          <p:cNvPr id="20" name="Label"/>
          <p:cNvSpPr txBox="1"/>
          <p:nvPr/>
        </p:nvSpPr>
        <p:spPr>
          <a:xfrm>
            <a:off x="8183879" y="1463040"/>
            <a:ext cx="3429000" cy="274320"/>
          </a:xfrm>
          <a:prstGeom prst="rect">
            <a:avLst/>
          </a:prstGeom>
          <a:noFill/>
        </p:spPr>
        <p:txBody>
          <a:bodyPr wrap="square" lIns="45720" rIns="45720" anchor="ctr">
            <a:spAutoFit/>
          </a:bodyPr>
          <a:lstStyle/>
          <a:p>
            <a:pPr algn="l"/>
            <a:r>
              <a:rPr sz="1050" b="1" i="0" spc="150">
                <a:solidFill>
                  <a:srgbClr val="00E5D4"/>
                </a:solidFill>
                <a:latin typeface="Times New Roman"/>
                <a:ea typeface="Times New Roman"/>
                <a:cs typeface="Times New Roman"/>
              </a:rPr>
              <a:t>NEXT PHASE</a:t>
            </a:r>
          </a:p>
        </p:txBody>
      </p:sp>
      <p:sp>
        <p:nvSpPr>
          <p:cNvPr id="21" name="Card"/>
          <p:cNvSpPr/>
          <p:nvPr/>
        </p:nvSpPr>
        <p:spPr>
          <a:xfrm>
            <a:off x="8183879" y="1810512"/>
            <a:ext cx="3429000" cy="9000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2" name="Icon"/>
          <p:cNvSpPr/>
          <p:nvPr/>
        </p:nvSpPr>
        <p:spPr>
          <a:xfrm>
            <a:off x="8330183" y="2068488"/>
            <a:ext cx="384048" cy="384048"/>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07</a:t>
            </a:r>
          </a:p>
        </p:txBody>
      </p:sp>
      <p:sp>
        <p:nvSpPr>
          <p:cNvPr id="23" name="CardText"/>
          <p:cNvSpPr txBox="1"/>
          <p:nvPr/>
        </p:nvSpPr>
        <p:spPr>
          <a:xfrm>
            <a:off x="8805672" y="1837944"/>
            <a:ext cx="2697480" cy="845136"/>
          </a:xfrm>
          <a:prstGeom prst="rect">
            <a:avLst/>
          </a:prstGeom>
          <a:noFill/>
        </p:spPr>
        <p:txBody>
          <a:bodyPr wrap="square" lIns="45720" rIns="45720" anchor="ctr">
            <a:noAutofit/>
          </a:bodyPr>
          <a:lstStyle/>
          <a:p>
            <a:pPr algn="l"/>
            <a:r>
              <a:rPr lang="en-US" sz="1250" b="1" i="0" dirty="0">
                <a:solidFill>
                  <a:srgbClr val="000000"/>
                </a:solidFill>
                <a:latin typeface="Times New Roman"/>
                <a:ea typeface="Times New Roman"/>
                <a:cs typeface="Times New Roman"/>
              </a:rPr>
              <a:t xml:space="preserve">Parameter Fitting Agent</a:t>
            </a:r>
          </a:p>
          <a:p>
            <a:pPr algn="l"/>
            <a:r>
              <a:rPr lang="en-US" sz="1100" b="0" i="0" dirty="0">
                <a:solidFill>
                  <a:srgbClr val="000000"/>
                </a:solidFill>
                <a:latin typeface="Times New Roman"/>
                <a:ea typeface="Times New Roman"/>
                <a:cs typeface="Times New Roman"/>
              </a:rPr>
              <a:t xml:space="preserve">Orbital parameters via batman + emcee MCMC.</a:t>
            </a:r>
          </a:p>
        </p:txBody>
      </p:sp>
      <p:sp>
        <p:nvSpPr>
          <p:cNvPr id="24" name="Card"/>
          <p:cNvSpPr/>
          <p:nvPr/>
        </p:nvSpPr>
        <p:spPr>
          <a:xfrm>
            <a:off x="8183879" y="2810512"/>
            <a:ext cx="3429000" cy="9000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5" name="Icon"/>
          <p:cNvSpPr/>
          <p:nvPr/>
        </p:nvSpPr>
        <p:spPr>
          <a:xfrm>
            <a:off x="8330183" y="3068488"/>
            <a:ext cx="384048" cy="384048"/>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08</a:t>
            </a:r>
          </a:p>
        </p:txBody>
      </p:sp>
      <p:sp>
        <p:nvSpPr>
          <p:cNvPr id="26" name="CardText"/>
          <p:cNvSpPr txBox="1"/>
          <p:nvPr/>
        </p:nvSpPr>
        <p:spPr>
          <a:xfrm>
            <a:off x="8805672" y="2837944"/>
            <a:ext cx="2697480" cy="845136"/>
          </a:xfrm>
          <a:prstGeom prst="rect">
            <a:avLst/>
          </a:prstGeom>
          <a:noFill/>
        </p:spPr>
        <p:txBody>
          <a:bodyPr wrap="square" lIns="45720" rIns="45720" anchor="ctr">
            <a:noAutofit/>
          </a:bodyPr>
          <a:lstStyle/>
          <a:p>
            <a:pPr algn="l"/>
            <a:r>
              <a:rPr lang="en-US" sz="1250" b="1" i="0" dirty="0">
                <a:solidFill>
                  <a:srgbClr val="000000"/>
                </a:solidFill>
                <a:latin typeface="Times New Roman"/>
                <a:ea typeface="Times New Roman"/>
                <a:cs typeface="Times New Roman"/>
              </a:rPr>
              <a:t xml:space="preserve">Active Learning Agent</a:t>
            </a:r>
          </a:p>
          <a:p>
            <a:pPr algn="l"/>
            <a:r>
              <a:rPr lang="en-US" sz="1100" b="0" i="0" dirty="0">
                <a:solidFill>
                  <a:srgbClr val="000000"/>
                </a:solidFill>
                <a:latin typeface="Times New Roman"/>
                <a:ea typeface="Times New Roman"/>
                <a:cs typeface="Times New Roman"/>
              </a:rPr>
              <a:t xml:space="preserve">Unsure candidates go to a human; the model retrains.</a:t>
            </a:r>
          </a:p>
        </p:txBody>
      </p:sp>
      <p:sp>
        <p:nvSpPr>
          <p:cNvPr id="27" name="Card"/>
          <p:cNvSpPr/>
          <p:nvPr/>
        </p:nvSpPr>
        <p:spPr>
          <a:xfrm>
            <a:off x="8183879" y="3810512"/>
            <a:ext cx="3429000" cy="900000"/>
          </a:xfrm>
          <a:prstGeom prst="roundRect">
            <a:avLst>
              <a:gd name="adj" fmla="val 10285"/>
            </a:avLst>
          </a:prstGeom>
          <a:solidFill>
            <a:srgbClr val="FFFFFF"/>
          </a:solidFill>
          <a:ln w="12700">
            <a:solidFill>
              <a:srgbClr val="2C4C8C"/>
            </a:solidFill>
          </a:ln>
        </p:spPr>
        <p:txBody>
          <a:bodyPr rtlCol="0" anchor="ctr"/>
          <a:lstStyle/>
          <a:p>
            <a:pPr algn="ctr"/>
            <a:endParaRPr/>
          </a:p>
        </p:txBody>
      </p:sp>
      <p:sp>
        <p:nvSpPr>
          <p:cNvPr id="28" name="Icon"/>
          <p:cNvSpPr/>
          <p:nvPr/>
        </p:nvSpPr>
        <p:spPr>
          <a:xfrm>
            <a:off x="8330183" y="4068488"/>
            <a:ext cx="384048" cy="384048"/>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09</a:t>
            </a:r>
          </a:p>
        </p:txBody>
      </p:sp>
      <p:sp>
        <p:nvSpPr>
          <p:cNvPr id="29" name="CardText"/>
          <p:cNvSpPr txBox="1"/>
          <p:nvPr/>
        </p:nvSpPr>
        <p:spPr>
          <a:xfrm>
            <a:off x="8805672" y="3837944"/>
            <a:ext cx="2697480" cy="845136"/>
          </a:xfrm>
          <a:prstGeom prst="rect">
            <a:avLst/>
          </a:prstGeom>
          <a:noFill/>
        </p:spPr>
        <p:txBody>
          <a:bodyPr wrap="square" lIns="45720" rIns="45720" anchor="ctr">
            <a:noAutofit/>
          </a:bodyPr>
          <a:lstStyle/>
          <a:p>
            <a:pPr algn="l"/>
            <a:r>
              <a:rPr lang="en-US" sz="1250" b="1" i="0" dirty="0">
                <a:solidFill>
                  <a:srgbClr val="000000"/>
                </a:solidFill>
                <a:latin typeface="Times New Roman"/>
                <a:ea typeface="Times New Roman"/>
                <a:cs typeface="Times New Roman"/>
              </a:rPr>
              <a:t xml:space="preserve">Reporting Agent</a:t>
            </a:r>
          </a:p>
          <a:p>
            <a:pPr algn="l"/>
            <a:r>
              <a:rPr lang="en-US" sz="1100" b="0" i="0" dirty="0">
                <a:solidFill>
                  <a:srgbClr val="000000"/>
                </a:solidFill>
                <a:latin typeface="Times New Roman"/>
                <a:ea typeface="Times New Roman"/>
                <a:cs typeface="Times New Roman"/>
              </a:rPr>
              <a:t xml:space="preserve">Plots, candidate catalog and the final report.</a:t>
            </a:r>
          </a:p>
        </p:txBody>
      </p:sp>
      <p:sp>
        <p:nvSpPr>
          <p:cNvPr id="30" name="Card"/>
          <p:cNvSpPr/>
          <p:nvPr/>
        </p:nvSpPr>
        <p:spPr>
          <a:xfrm>
            <a:off x="8183879" y="4810512"/>
            <a:ext cx="3429000" cy="1480560"/>
          </a:xfrm>
          <a:prstGeom prst="roundRect">
            <a:avLst>
              <a:gd name="adj" fmla="val 6000"/>
            </a:avLst>
          </a:prstGeom>
          <a:solidFill>
            <a:srgbClr val="2F5296"/>
          </a:solidFill>
          <a:ln w="12700">
            <a:solidFill>
              <a:srgbClr val="2C4C8C"/>
            </a:solidFill>
          </a:ln>
        </p:spPr>
        <p:txBody>
          <a:bodyPr rtlCol="0" anchor="ctr"/>
          <a:lstStyle/>
          <a:p>
            <a:pPr algn="ctr"/>
            <a:endParaRPr/>
          </a:p>
        </p:txBody>
      </p:sp>
      <p:sp>
        <p:nvSpPr>
          <p:cNvPr id="31" name="Label"/>
          <p:cNvSpPr txBox="1"/>
          <p:nvPr/>
        </p:nvSpPr>
        <p:spPr>
          <a:xfrm>
            <a:off x="8366760" y="4901952"/>
            <a:ext cx="3063240" cy="292608"/>
          </a:xfrm>
          <a:prstGeom prst="rect">
            <a:avLst/>
          </a:prstGeom>
          <a:noFill/>
        </p:spPr>
        <p:txBody>
          <a:bodyPr wrap="square" lIns="45720" rIns="45720" anchor="ctr">
            <a:noAutofit/>
          </a:bodyPr>
          <a:lstStyle/>
          <a:p>
            <a:pPr algn="l"/>
            <a:r>
              <a:rPr lang="en-US" sz="1050" b="1" i="0" spc="150" dirty="0">
                <a:solidFill>
                  <a:srgbClr val="00E5D4"/>
                </a:solidFill>
                <a:latin typeface="Times New Roman"/>
                <a:ea typeface="Times New Roman"/>
                <a:cs typeface="Times New Roman"/>
              </a:rPr>
              <a:t xml:space="preserve">KEY TAKEAWAY</a:t>
            </a:r>
          </a:p>
        </p:txBody>
      </p:sp>
      <p:sp>
        <p:nvSpPr>
          <p:cNvPr id="32" name="Takeaway"/>
          <p:cNvSpPr txBox="1"/>
          <p:nvPr/>
        </p:nvSpPr>
        <p:spPr>
          <a:xfrm>
            <a:off x="8366760" y="5194560"/>
            <a:ext cx="3063240" cy="1005072"/>
          </a:xfrm>
          <a:prstGeom prst="rect">
            <a:avLst/>
          </a:prstGeom>
          <a:noFill/>
        </p:spPr>
        <p:txBody>
          <a:bodyPr wrap="square" lIns="45720" rIns="45720" anchor="ctr">
            <a:noAutofit/>
          </a:bodyPr>
          <a:lstStyle/>
          <a:p>
            <a:pPr algn="l"/>
            <a:r>
              <a:rPr lang="en-US" sz="1400" b="0" i="1" dirty="0">
                <a:solidFill>
                  <a:srgbClr val="FFFFFF"/>
                </a:solidFill>
                <a:latin typeface="Times New Roman"/>
                <a:ea typeface="Times New Roman"/>
                <a:cs typeface="Times New Roman"/>
              </a:rPr>
              <a:t xml:space="preserve">An automated, scalable and interpretable path from raw TESS light curves to ranked planet candidates.</a:t>
            </a:r>
          </a:p>
        </p:txBody>
      </p:sp>
      <p:sp>
        <p:nvSpPr>
          <p:cNvPr id="33"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34"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25</a:t>
            </a:r>
          </a:p>
        </p:txBody>
      </p:sp>
      <p:sp>
        <p:nvSpPr>
          <p:cNvPr id="35"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36"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37"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38"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39"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Kicker"/>
          <p:cNvSpPr txBox="1"/>
          <p:nvPr/>
        </p:nvSpPr>
        <p:spPr>
          <a:xfrm>
            <a:off x="548640" y="329184"/>
            <a:ext cx="10058400" cy="320040"/>
          </a:xfrm>
          <a:prstGeom prst="rect">
            <a:avLst/>
          </a:prstGeom>
          <a:noFill/>
        </p:spPr>
        <p:txBody>
          <a:bodyPr wrap="square" lIns="45720" rIns="45720" anchor="ctr">
            <a:spAutoFit/>
          </a:bodyPr>
          <a:lstStyle/>
          <a:p>
            <a:pPr algn="l"/>
            <a:r>
              <a:rPr sz="1250" b="1" i="0" spc="200">
                <a:solidFill>
                  <a:srgbClr val="00E5D4"/>
                </a:solidFill>
                <a:latin typeface="Times New Roman"/>
                <a:ea typeface="Times New Roman"/>
                <a:cs typeface="Times New Roman"/>
              </a:rPr>
              <a:t>LUNAVISION AI</a:t>
            </a:r>
          </a:p>
        </p:txBody>
      </p:sp>
      <p:sp>
        <p:nvSpPr>
          <p:cNvPr id="3" name="Title"/>
          <p:cNvSpPr txBox="1"/>
          <p:nvPr/>
        </p:nvSpPr>
        <p:spPr>
          <a:xfrm>
            <a:off x="548640" y="621792"/>
            <a:ext cx="10424160" cy="640080"/>
          </a:xfrm>
          <a:prstGeom prst="rect">
            <a:avLst/>
          </a:prstGeom>
          <a:noFill/>
        </p:spPr>
        <p:txBody>
          <a:bodyPr wrap="square" lIns="45720" rIns="45720" anchor="ctr">
            <a:spAutoFit/>
          </a:bodyPr>
          <a:lstStyle/>
          <a:p>
            <a:pPr algn="l"/>
            <a:r>
              <a:rPr sz="2800" b="1" i="0">
                <a:solidFill>
                  <a:srgbClr val="FFFFFF"/>
                </a:solidFill>
                <a:latin typeface="Times New Roman"/>
                <a:ea typeface="Times New Roman"/>
                <a:cs typeface="Times New Roman"/>
              </a:rPr>
              <a:t>References</a:t>
            </a:r>
          </a:p>
        </p:txBody>
      </p:sp>
      <p:sp>
        <p:nvSpPr>
          <p:cNvPr id="4" name="Row"/>
          <p:cNvSpPr/>
          <p:nvPr/>
        </p:nvSpPr>
        <p:spPr>
          <a:xfrm>
            <a:off x="548640" y="137160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5" name="Icon"/>
          <p:cNvSpPr/>
          <p:nvPr/>
        </p:nvSpPr>
        <p:spPr>
          <a:xfrm>
            <a:off x="694944" y="146304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01</a:t>
            </a:r>
          </a:p>
        </p:txBody>
      </p:sp>
      <p:sp>
        <p:nvSpPr>
          <p:cNvPr id="6" name="RefText"/>
          <p:cNvSpPr txBox="1"/>
          <p:nvPr/>
        </p:nvSpPr>
        <p:spPr>
          <a:xfrm>
            <a:off x="1170432" y="138988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B. Y. Feng, R. Ferrer-Chávez, A. Levis, W. T. Freeman and J. J. Wang, “Exoplanet Imaging via Differentiable Rendering,” </a:t>
            </a:r>
            <a:r>
              <a:rPr lang="en-US" sz="1200" b="0" i="1" dirty="0">
                <a:solidFill>
                  <a:srgbClr val="000000"/>
                </a:solidFill>
                <a:latin typeface="Times New Roman"/>
                <a:ea typeface="Times New Roman"/>
                <a:cs typeface="Times New Roman"/>
              </a:rPr>
              <a:t xml:space="preserve">International Journal of Data Science and Analytics</a:t>
            </a:r>
            <a:r>
              <a:rPr lang="en-US" sz="1200" b="0" i="0" dirty="0">
                <a:solidFill>
                  <a:srgbClr val="000000"/>
                </a:solidFill>
                <a:latin typeface="Times New Roman"/>
                <a:ea typeface="Times New Roman"/>
                <a:cs typeface="Times New Roman"/>
              </a:rPr>
              <a:t xml:space="preserve"> (Springer), 2025.</a:t>
            </a:r>
          </a:p>
        </p:txBody>
      </p:sp>
      <p:sp>
        <p:nvSpPr>
          <p:cNvPr id="7" name="Row"/>
          <p:cNvSpPr/>
          <p:nvPr/>
        </p:nvSpPr>
        <p:spPr>
          <a:xfrm>
            <a:off x="548640" y="199856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8" name="Icon"/>
          <p:cNvSpPr/>
          <p:nvPr/>
        </p:nvSpPr>
        <p:spPr>
          <a:xfrm>
            <a:off x="694944" y="209000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02</a:t>
            </a:r>
          </a:p>
        </p:txBody>
      </p:sp>
      <p:sp>
        <p:nvSpPr>
          <p:cNvPr id="9" name="RefText"/>
          <p:cNvSpPr txBox="1"/>
          <p:nvPr/>
        </p:nvSpPr>
        <p:spPr>
          <a:xfrm>
            <a:off x="1170432" y="201684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J. Pimentel, J. Amorim and F. Rudzicz, “Feature Extraction for Exoplanet Detection,” </a:t>
            </a:r>
            <a:r>
              <a:rPr lang="en-US" sz="1200" b="0" i="1" dirty="0">
                <a:solidFill>
                  <a:srgbClr val="000000"/>
                </a:solidFill>
                <a:latin typeface="Times New Roman"/>
                <a:ea typeface="Times New Roman"/>
                <a:cs typeface="Times New Roman"/>
              </a:rPr>
              <a:t xml:space="preserve">International Journal of Data Science and Analytics</a:t>
            </a:r>
            <a:r>
              <a:rPr lang="en-US" sz="1200" b="0" i="0" dirty="0">
                <a:solidFill>
                  <a:srgbClr val="000000"/>
                </a:solidFill>
                <a:latin typeface="Times New Roman"/>
                <a:ea typeface="Times New Roman"/>
                <a:cs typeface="Times New Roman"/>
              </a:rPr>
              <a:t xml:space="preserve"> (Springer), 2024.</a:t>
            </a:r>
          </a:p>
        </p:txBody>
      </p:sp>
      <p:sp>
        <p:nvSpPr>
          <p:cNvPr id="10" name="Row"/>
          <p:cNvSpPr/>
          <p:nvPr/>
        </p:nvSpPr>
        <p:spPr>
          <a:xfrm>
            <a:off x="548640" y="262552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1" name="Icon"/>
          <p:cNvSpPr/>
          <p:nvPr/>
        </p:nvSpPr>
        <p:spPr>
          <a:xfrm>
            <a:off x="694944" y="271696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03</a:t>
            </a:r>
          </a:p>
        </p:txBody>
      </p:sp>
      <p:sp>
        <p:nvSpPr>
          <p:cNvPr id="12" name="RefText"/>
          <p:cNvSpPr txBox="1"/>
          <p:nvPr/>
        </p:nvSpPr>
        <p:spPr>
          <a:xfrm>
            <a:off x="1170432" y="264380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M. Jara-Maldonado et al., “Light Intensity of Stars for Exoplanet Detection,” </a:t>
            </a:r>
            <a:r>
              <a:rPr lang="en-US" sz="1200" b="0" i="1" dirty="0">
                <a:solidFill>
                  <a:srgbClr val="000000"/>
                </a:solidFill>
                <a:latin typeface="Times New Roman"/>
                <a:ea typeface="Times New Roman"/>
                <a:cs typeface="Times New Roman"/>
              </a:rPr>
              <a:t xml:space="preserve">IEEE Region 10 Symposium (TENSYMP)</a:t>
            </a:r>
            <a:r>
              <a:rPr lang="en-US" sz="1200" b="0" i="0" dirty="0">
                <a:solidFill>
                  <a:srgbClr val="000000"/>
                </a:solidFill>
                <a:latin typeface="Times New Roman"/>
                <a:ea typeface="Times New Roman"/>
                <a:cs typeface="Times New Roman"/>
              </a:rPr>
              <a:t xml:space="preserve">, 2022.</a:t>
            </a:r>
          </a:p>
        </p:txBody>
      </p:sp>
      <p:sp>
        <p:nvSpPr>
          <p:cNvPr id="13" name="Row"/>
          <p:cNvSpPr/>
          <p:nvPr/>
        </p:nvSpPr>
        <p:spPr>
          <a:xfrm>
            <a:off x="548640" y="325248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4" name="Icon"/>
          <p:cNvSpPr/>
          <p:nvPr/>
        </p:nvSpPr>
        <p:spPr>
          <a:xfrm>
            <a:off x="694944" y="334392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04</a:t>
            </a:r>
          </a:p>
        </p:txBody>
      </p:sp>
      <p:sp>
        <p:nvSpPr>
          <p:cNvPr id="15" name="RefText"/>
          <p:cNvSpPr txBox="1"/>
          <p:nvPr/>
        </p:nvSpPr>
        <p:spPr>
          <a:xfrm>
            <a:off x="1170432" y="327076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Z. L. de Beurs et al., “Identifying Exoplanets with Deep Learning IV: Removing Stellar Activity Signals from RV Data Using Neural Networks,” </a:t>
            </a:r>
            <a:r>
              <a:rPr lang="en-US" sz="1200" b="0" i="1" dirty="0">
                <a:solidFill>
                  <a:srgbClr val="000000"/>
                </a:solidFill>
                <a:latin typeface="Times New Roman"/>
                <a:ea typeface="Times New Roman"/>
                <a:cs typeface="Times New Roman"/>
              </a:rPr>
              <a:t xml:space="preserve">The Astronomical Journal</a:t>
            </a:r>
            <a:r>
              <a:rPr lang="en-US" sz="1200" b="0" i="0" dirty="0">
                <a:solidFill>
                  <a:srgbClr val="000000"/>
                </a:solidFill>
                <a:latin typeface="Times New Roman"/>
                <a:ea typeface="Times New Roman"/>
                <a:cs typeface="Times New Roman"/>
              </a:rPr>
              <a:t xml:space="preserve"> (IOP / AAS), 2022.</a:t>
            </a:r>
          </a:p>
        </p:txBody>
      </p:sp>
      <p:sp>
        <p:nvSpPr>
          <p:cNvPr id="16" name="Row"/>
          <p:cNvSpPr/>
          <p:nvPr/>
        </p:nvSpPr>
        <p:spPr>
          <a:xfrm>
            <a:off x="548640" y="387944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17" name="Icon"/>
          <p:cNvSpPr/>
          <p:nvPr/>
        </p:nvSpPr>
        <p:spPr>
          <a:xfrm>
            <a:off x="694944" y="397088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05</a:t>
            </a:r>
          </a:p>
        </p:txBody>
      </p:sp>
      <p:sp>
        <p:nvSpPr>
          <p:cNvPr id="18" name="RefText"/>
          <p:cNvSpPr txBox="1"/>
          <p:nvPr/>
        </p:nvSpPr>
        <p:spPr>
          <a:xfrm>
            <a:off x="1170432" y="389772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I. Priyadarshini and V. Puri, “A CNN-Based Ensemble Model for Exoplanet Detection,” </a:t>
            </a:r>
            <a:r>
              <a:rPr lang="en-US" sz="1200" b="0" i="1" dirty="0">
                <a:solidFill>
                  <a:srgbClr val="000000"/>
                </a:solidFill>
                <a:latin typeface="Times New Roman"/>
                <a:ea typeface="Times New Roman"/>
                <a:cs typeface="Times New Roman"/>
              </a:rPr>
              <a:t xml:space="preserve">Earth Science Informatics</a:t>
            </a:r>
            <a:r>
              <a:rPr lang="en-US" sz="1200" b="0" i="0" dirty="0">
                <a:solidFill>
                  <a:srgbClr val="000000"/>
                </a:solidFill>
                <a:latin typeface="Times New Roman"/>
                <a:ea typeface="Times New Roman"/>
                <a:cs typeface="Times New Roman"/>
              </a:rPr>
              <a:t xml:space="preserve"> (Springer), 2021.</a:t>
            </a:r>
          </a:p>
        </p:txBody>
      </p:sp>
      <p:sp>
        <p:nvSpPr>
          <p:cNvPr id="19" name="Row"/>
          <p:cNvSpPr/>
          <p:nvPr/>
        </p:nvSpPr>
        <p:spPr>
          <a:xfrm>
            <a:off x="548640" y="450640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20" name="Icon"/>
          <p:cNvSpPr/>
          <p:nvPr/>
        </p:nvSpPr>
        <p:spPr>
          <a:xfrm>
            <a:off x="694944" y="459784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06</a:t>
            </a:r>
          </a:p>
        </p:txBody>
      </p:sp>
      <p:sp>
        <p:nvSpPr>
          <p:cNvPr id="21" name="RefText"/>
          <p:cNvSpPr txBox="1"/>
          <p:nvPr/>
        </p:nvSpPr>
        <p:spPr>
          <a:xfrm>
            <a:off x="1170432" y="452468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M. Ansdell et al., “Scientific Domain Knowledge Improves Exoplanet Transit Classification with Deep Learning,” </a:t>
            </a:r>
            <a:r>
              <a:rPr lang="en-US" sz="1200" b="0" i="1" dirty="0">
                <a:solidFill>
                  <a:srgbClr val="000000"/>
                </a:solidFill>
                <a:latin typeface="Times New Roman"/>
                <a:ea typeface="Times New Roman"/>
                <a:cs typeface="Times New Roman"/>
              </a:rPr>
              <a:t xml:space="preserve">The Astrophysical Journal Letters</a:t>
            </a:r>
            <a:r>
              <a:rPr lang="en-US" sz="1200" b="0" i="0" dirty="0">
                <a:solidFill>
                  <a:srgbClr val="000000"/>
                </a:solidFill>
                <a:latin typeface="Times New Roman"/>
                <a:ea typeface="Times New Roman"/>
                <a:cs typeface="Times New Roman"/>
              </a:rPr>
              <a:t xml:space="preserve"> (IOP / AAS), 2018.</a:t>
            </a:r>
          </a:p>
        </p:txBody>
      </p:sp>
      <p:sp>
        <p:nvSpPr>
          <p:cNvPr id="22" name="Row"/>
          <p:cNvSpPr/>
          <p:nvPr/>
        </p:nvSpPr>
        <p:spPr>
          <a:xfrm>
            <a:off x="548640" y="513336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23" name="Icon"/>
          <p:cNvSpPr/>
          <p:nvPr/>
        </p:nvSpPr>
        <p:spPr>
          <a:xfrm>
            <a:off x="694944" y="522480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07</a:t>
            </a:r>
          </a:p>
        </p:txBody>
      </p:sp>
      <p:sp>
        <p:nvSpPr>
          <p:cNvPr id="24" name="RefText"/>
          <p:cNvSpPr txBox="1"/>
          <p:nvPr/>
        </p:nvSpPr>
        <p:spPr>
          <a:xfrm>
            <a:off x="1170432" y="515164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M. S. Khan, J. Jenkins and N. B. Yoma, “Discovering New Worlds: Signal Processing Methods for RV Exoplanet Detection,” </a:t>
            </a:r>
            <a:r>
              <a:rPr lang="en-US" sz="1200" b="0" i="1" dirty="0">
                <a:solidFill>
                  <a:srgbClr val="000000"/>
                </a:solidFill>
                <a:latin typeface="Times New Roman"/>
                <a:ea typeface="Times New Roman"/>
                <a:cs typeface="Times New Roman"/>
              </a:rPr>
              <a:t xml:space="preserve">IEEE Signal Processing Magazine</a:t>
            </a:r>
            <a:r>
              <a:rPr lang="en-US" sz="1200" b="0" i="0" dirty="0">
                <a:solidFill>
                  <a:srgbClr val="000000"/>
                </a:solidFill>
                <a:latin typeface="Times New Roman"/>
                <a:ea typeface="Times New Roman"/>
                <a:cs typeface="Times New Roman"/>
              </a:rPr>
              <a:t xml:space="preserve">, vol. 34, pp. 104–115, 2017.</a:t>
            </a:r>
          </a:p>
        </p:txBody>
      </p:sp>
      <p:sp>
        <p:nvSpPr>
          <p:cNvPr id="25" name="Row"/>
          <p:cNvSpPr/>
          <p:nvPr/>
        </p:nvSpPr>
        <p:spPr>
          <a:xfrm>
            <a:off x="548640" y="5760320"/>
            <a:ext cx="11064240" cy="548640"/>
          </a:xfrm>
          <a:prstGeom prst="roundRect">
            <a:avLst>
              <a:gd name="adj" fmla="val 11904"/>
            </a:avLst>
          </a:prstGeom>
          <a:solidFill>
            <a:srgbClr val="FFFFFF"/>
          </a:solidFill>
          <a:ln w="12700">
            <a:solidFill>
              <a:srgbClr val="2C4C8C"/>
            </a:solidFill>
          </a:ln>
        </p:spPr>
        <p:txBody>
          <a:bodyPr rtlCol="0" anchor="ctr"/>
          <a:lstStyle/>
          <a:p>
            <a:pPr algn="ctr"/>
            <a:endParaRPr/>
          </a:p>
        </p:txBody>
      </p:sp>
      <p:sp>
        <p:nvSpPr>
          <p:cNvPr id="26" name="Icon"/>
          <p:cNvSpPr/>
          <p:nvPr/>
        </p:nvSpPr>
        <p:spPr>
          <a:xfrm>
            <a:off x="694944" y="5851760"/>
            <a:ext cx="365760" cy="365760"/>
          </a:xfrm>
          <a:prstGeom prst="ellipse">
            <a:avLst/>
          </a:prstGeom>
          <a:solidFill>
            <a:srgbClr val="2F5296"/>
          </a:solidFill>
          <a:ln w="12700">
            <a:solidFill>
              <a:srgbClr val="2C4C8C"/>
            </a:solidFill>
          </a:ln>
        </p:spPr>
        <p:txBody>
          <a:bodyPr wrap="square" lIns="0" tIns="0" rIns="0" bIns="0" rtlCol="0" anchor="ctr"/>
          <a:lstStyle/>
          <a:p>
            <a:pPr algn="ctr"/>
            <a:r>
              <a:rPr lang="en-US" sz="1050" b="1" i="0" dirty="0">
                <a:solidFill>
                  <a:srgbClr val="00E5D4"/>
                </a:solidFill>
                <a:latin typeface="Times New Roman"/>
                <a:ea typeface="Times New Roman"/>
                <a:cs typeface="Times New Roman"/>
              </a:rPr>
              <a:t xml:space="preserve">08</a:t>
            </a:r>
          </a:p>
        </p:txBody>
      </p:sp>
      <p:sp>
        <p:nvSpPr>
          <p:cNvPr id="27" name="RefText"/>
          <p:cNvSpPr txBox="1"/>
          <p:nvPr/>
        </p:nvSpPr>
        <p:spPr>
          <a:xfrm>
            <a:off x="1170432" y="5778608"/>
            <a:ext cx="10332720" cy="512064"/>
          </a:xfrm>
          <a:prstGeom prst="rect">
            <a:avLst/>
          </a:prstGeom>
          <a:noFill/>
        </p:spPr>
        <p:txBody>
          <a:bodyPr wrap="square" lIns="45720" rIns="45720" anchor="ctr">
            <a:noAutofit/>
          </a:bodyPr>
          <a:lstStyle/>
          <a:p>
            <a:pPr algn="l"/>
            <a:r>
              <a:rPr lang="en-US" sz="1200" b="0" i="0" dirty="0">
                <a:solidFill>
                  <a:srgbClr val="000000"/>
                </a:solidFill>
                <a:latin typeface="Times New Roman"/>
                <a:ea typeface="Times New Roman"/>
                <a:cs typeface="Times New Roman"/>
              </a:rPr>
              <a:t xml:space="preserve">J. T. Wright and B. S. Gaudi, “Exoplanet Detection Methods,” in </a:t>
            </a:r>
            <a:r>
              <a:rPr lang="en-US" sz="1200" b="0" i="1" dirty="0">
                <a:solidFill>
                  <a:srgbClr val="000000"/>
                </a:solidFill>
                <a:latin typeface="Times New Roman"/>
                <a:ea typeface="Times New Roman"/>
                <a:cs typeface="Times New Roman"/>
              </a:rPr>
              <a:t xml:space="preserve">Planets, Stars and Stellar Systems</a:t>
            </a:r>
            <a:r>
              <a:rPr lang="en-US" sz="1200" b="0" i="0" dirty="0">
                <a:solidFill>
                  <a:srgbClr val="000000"/>
                </a:solidFill>
                <a:latin typeface="Times New Roman"/>
                <a:ea typeface="Times New Roman"/>
                <a:cs typeface="Times New Roman"/>
              </a:rPr>
              <a:t xml:space="preserve">, vol. 3, Springer Netherlands, 2012.</a:t>
            </a:r>
          </a:p>
        </p:txBody>
      </p:sp>
      <p:sp>
        <p:nvSpPr>
          <p:cNvPr id="28"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29"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26</a:t>
            </a:r>
          </a:p>
        </p:txBody>
      </p:sp>
      <p:sp>
        <p:nvSpPr>
          <p:cNvPr id="30" name="Home">
            <a:hlinkClick r:id="rId2" action="ppaction://hlinksldjump"/>
          </p:cNvPr>
          <p:cNvSpPr/>
          <p:nvPr/>
        </p:nvSpPr>
        <p:spPr>
          <a:xfrm>
            <a:off x="11247120" y="274320"/>
            <a:ext cx="384048" cy="384048"/>
          </a:xfrm>
          <a:prstGeom prst="ellipse">
            <a:avLst/>
          </a:prstGeom>
          <a:solidFill>
            <a:srgbClr val="2F5296"/>
          </a:solidFill>
          <a:ln w="12700">
            <a:solidFill>
              <a:srgbClr val="2C4C8C"/>
            </a:solidFill>
          </a:ln>
        </p:spPr>
        <p:txBody>
          <a:bodyPr rtlCol="0" anchor="ctr"/>
          <a:lstStyle/>
          <a:p>
            <a:pPr algn="ctr"/>
            <a:endParaRPr/>
          </a:p>
        </p:txBody>
      </p:sp>
      <p:sp>
        <p:nvSpPr>
          <p:cNvPr id="31" name="Home glyph"/>
          <p:cNvSpPr/>
          <p:nvPr/>
        </p:nvSpPr>
        <p:spPr>
          <a:xfrm>
            <a:off x="11352276" y="379476"/>
            <a:ext cx="73152" cy="73152"/>
          </a:xfrm>
          <a:prstGeom prst="rect">
            <a:avLst/>
          </a:prstGeom>
          <a:noFill/>
          <a:ln w="12700">
            <a:solidFill>
              <a:srgbClr val="00E5D4"/>
            </a:solidFill>
          </a:ln>
        </p:spPr>
        <p:txBody>
          <a:bodyPr rtlCol="0" anchor="ctr"/>
          <a:lstStyle/>
          <a:p>
            <a:pPr algn="ctr"/>
            <a:endParaRPr/>
          </a:p>
        </p:txBody>
      </p:sp>
      <p:sp>
        <p:nvSpPr>
          <p:cNvPr id="32" name="Home glyph"/>
          <p:cNvSpPr/>
          <p:nvPr/>
        </p:nvSpPr>
        <p:spPr>
          <a:xfrm>
            <a:off x="11352276" y="480060"/>
            <a:ext cx="73152" cy="73152"/>
          </a:xfrm>
          <a:prstGeom prst="rect">
            <a:avLst/>
          </a:prstGeom>
          <a:noFill/>
          <a:ln w="12700">
            <a:solidFill>
              <a:srgbClr val="00E5D4"/>
            </a:solidFill>
          </a:ln>
        </p:spPr>
        <p:txBody>
          <a:bodyPr rtlCol="0" anchor="ctr"/>
          <a:lstStyle/>
          <a:p>
            <a:pPr algn="ctr"/>
            <a:endParaRPr/>
          </a:p>
        </p:txBody>
      </p:sp>
      <p:sp>
        <p:nvSpPr>
          <p:cNvPr id="33" name="Home glyph"/>
          <p:cNvSpPr/>
          <p:nvPr/>
        </p:nvSpPr>
        <p:spPr>
          <a:xfrm>
            <a:off x="11452860" y="379476"/>
            <a:ext cx="73152" cy="73152"/>
          </a:xfrm>
          <a:prstGeom prst="rect">
            <a:avLst/>
          </a:prstGeom>
          <a:noFill/>
          <a:ln w="12700">
            <a:solidFill>
              <a:srgbClr val="00E5D4"/>
            </a:solidFill>
          </a:ln>
        </p:spPr>
        <p:txBody>
          <a:bodyPr rtlCol="0" anchor="ctr"/>
          <a:lstStyle/>
          <a:p>
            <a:pPr algn="ctr"/>
            <a:endParaRPr/>
          </a:p>
        </p:txBody>
      </p:sp>
      <p:sp>
        <p:nvSpPr>
          <p:cNvPr id="34" name="Home glyph"/>
          <p:cNvSpPr/>
          <p:nvPr/>
        </p:nvSpPr>
        <p:spPr>
          <a:xfrm>
            <a:off x="11452860" y="480060"/>
            <a:ext cx="73152" cy="73152"/>
          </a:xfrm>
          <a:prstGeom prst="rect">
            <a:avLst/>
          </a:prstGeom>
          <a:noFill/>
          <a:ln w="12700">
            <a:solidFill>
              <a:srgbClr val="00E5D4"/>
            </a:solidFill>
          </a:ln>
        </p:spPr>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Backdrop"/>
          <p:cNvSpPr/>
          <p:nvPr/>
        </p:nvSpPr>
        <p:spPr>
          <a:xfrm>
            <a:off x="8778240" y="-2194560"/>
            <a:ext cx="5943600" cy="5943600"/>
          </a:xfrm>
          <a:prstGeom prst="ellipse">
            <a:avLst/>
          </a:prstGeom>
          <a:solidFill>
            <a:srgbClr val="3A5FA6">
              <a:alpha val="60000"/>
            </a:srgbClr>
          </a:solidFill>
          <a:ln>
            <a:noFill/>
          </a:ln>
        </p:spPr>
        <p:txBody>
          <a:bodyPr rtlCol="0" anchor="ctr"/>
          <a:lstStyle/>
          <a:p>
            <a:pPr algn="ctr"/>
            <a:endParaRPr/>
          </a:p>
        </p:txBody>
      </p:sp>
      <p:sp>
        <p:nvSpPr>
          <p:cNvPr id="3" name="Backdrop"/>
          <p:cNvSpPr/>
          <p:nvPr/>
        </p:nvSpPr>
        <p:spPr>
          <a:xfrm>
            <a:off x="-2377440" y="4754880"/>
            <a:ext cx="4754880" cy="4754880"/>
          </a:xfrm>
          <a:prstGeom prst="ellipse">
            <a:avLst/>
          </a:prstGeom>
          <a:solidFill>
            <a:srgbClr val="3A5FA6">
              <a:alpha val="60000"/>
            </a:srgbClr>
          </a:solidFill>
          <a:ln>
            <a:noFill/>
          </a:ln>
        </p:spPr>
        <p:txBody>
          <a:bodyPr rtlCol="0" anchor="ctr"/>
          <a:lstStyle/>
          <a:p>
            <a:pPr algn="ctr"/>
            <a:endParaRPr/>
          </a:p>
        </p:txBody>
      </p:sp>
      <p:sp>
        <p:nvSpPr>
          <p:cNvPr id="4" name="TextBox 3"/>
          <p:cNvSpPr txBox="1"/>
          <p:nvPr/>
        </p:nvSpPr>
        <p:spPr>
          <a:xfrm>
            <a:off x="822960" y="640080"/>
            <a:ext cx="9144000" cy="365760"/>
          </a:xfrm>
          <a:prstGeom prst="rect">
            <a:avLst/>
          </a:prstGeom>
          <a:noFill/>
        </p:spPr>
        <p:txBody>
          <a:bodyPr wrap="square" lIns="45720" rIns="45720" anchor="ctr">
            <a:spAutoFit/>
          </a:bodyPr>
          <a:lstStyle/>
          <a:p>
            <a:pPr algn="l"/>
            <a:r>
              <a:rPr sz="1350" b="1" i="0" spc="250">
                <a:solidFill>
                  <a:srgbClr val="00E5D4"/>
                </a:solidFill>
                <a:latin typeface="Times New Roman"/>
                <a:ea typeface="Times New Roman"/>
                <a:cs typeface="Times New Roman"/>
              </a:rPr>
              <a:t>PROJECT PHASE 1 / AI&amp;DS</a:t>
            </a:r>
          </a:p>
        </p:txBody>
      </p:sp>
      <p:sp>
        <p:nvSpPr>
          <p:cNvPr id="5" name="Emblem"/>
          <p:cNvSpPr/>
          <p:nvPr/>
        </p:nvSpPr>
        <p:spPr>
          <a:xfrm>
            <a:off x="822960" y="1234440"/>
            <a:ext cx="777240" cy="777240"/>
          </a:xfrm>
          <a:prstGeom prst="ellipse">
            <a:avLst/>
          </a:prstGeom>
          <a:solidFill>
            <a:srgbClr val="3A5FA6"/>
          </a:solidFill>
          <a:ln w="12700">
            <a:solidFill>
              <a:srgbClr val="2C4C8C"/>
            </a:solidFill>
          </a:ln>
        </p:spPr>
        <p:txBody>
          <a:bodyPr rtlCol="0" anchor="ctr"/>
          <a:lstStyle/>
          <a:p>
            <a:pPr algn="ctr"/>
            <a:endParaRPr/>
          </a:p>
        </p:txBody>
      </p:sp>
      <p:sp>
        <p:nvSpPr>
          <p:cNvPr id="6" name="Emblem star"/>
          <p:cNvSpPr/>
          <p:nvPr/>
        </p:nvSpPr>
        <p:spPr>
          <a:xfrm>
            <a:off x="1005840" y="1417320"/>
            <a:ext cx="411480" cy="411480"/>
          </a:xfrm>
          <a:prstGeom prst="ellipse">
            <a:avLst/>
          </a:prstGeom>
          <a:noFill/>
          <a:ln w="28575">
            <a:solidFill>
              <a:srgbClr val="00E5D4"/>
            </a:solidFill>
          </a:ln>
        </p:spPr>
        <p:txBody>
          <a:bodyPr rtlCol="0" anchor="ctr"/>
          <a:lstStyle/>
          <a:p>
            <a:pPr algn="ctr"/>
            <a:endParaRPr/>
          </a:p>
        </p:txBody>
      </p:sp>
      <p:sp>
        <p:nvSpPr>
          <p:cNvPr id="7" name="Emblem planet"/>
          <p:cNvSpPr/>
          <p:nvPr/>
        </p:nvSpPr>
        <p:spPr>
          <a:xfrm>
            <a:off x="1252728" y="1572768"/>
            <a:ext cx="118872" cy="118872"/>
          </a:xfrm>
          <a:prstGeom prst="ellipse">
            <a:avLst/>
          </a:prstGeom>
          <a:solidFill>
            <a:srgbClr val="00E5D4"/>
          </a:solidFill>
          <a:ln>
            <a:noFill/>
          </a:ln>
        </p:spPr>
        <p:txBody>
          <a:bodyPr rtlCol="0" anchor="ctr"/>
          <a:lstStyle/>
          <a:p>
            <a:pPr algn="ctr"/>
            <a:endParaRPr/>
          </a:p>
        </p:txBody>
      </p:sp>
      <p:sp>
        <p:nvSpPr>
          <p:cNvPr id="8" name="Title"/>
          <p:cNvSpPr txBox="1"/>
          <p:nvPr/>
        </p:nvSpPr>
        <p:spPr>
          <a:xfrm>
            <a:off x="777240" y="2103120"/>
            <a:ext cx="10058400" cy="1005840"/>
          </a:xfrm>
          <a:prstGeom prst="rect">
            <a:avLst/>
          </a:prstGeom>
          <a:noFill/>
        </p:spPr>
        <p:txBody>
          <a:bodyPr wrap="square" lIns="45720" rIns="45720" anchor="ctr">
            <a:spAutoFit/>
          </a:bodyPr>
          <a:lstStyle/>
          <a:p>
            <a:pPr algn="l"/>
            <a:r>
              <a:rPr sz="5800" b="1" i="0" dirty="0">
                <a:solidFill>
                  <a:srgbClr val="FFFFFF"/>
                </a:solidFill>
                <a:latin typeface="Times New Roman"/>
                <a:ea typeface="Times New Roman"/>
                <a:cs typeface="Times New Roman"/>
              </a:rPr>
              <a:t>Thank You</a:t>
            </a:r>
            <a:r>
              <a:rPr sz="5800" b="1" i="0" dirty="0">
                <a:solidFill>
                  <a:srgbClr val="FFFFFF"/>
                </a:solidFill>
                <a:latin typeface="Times New Roman"/>
                <a:ea typeface="Times New Roman"/>
                <a:cs typeface="Times New Roman"/>
              </a:rPr>
              <a:t/>
            </a:r>
          </a:p>
        </p:txBody>
      </p:sp>
      <p:sp>
        <p:nvSpPr>
          <p:cNvPr id="9" name="Subtitle"/>
          <p:cNvSpPr txBox="1"/>
          <p:nvPr/>
        </p:nvSpPr>
        <p:spPr>
          <a:xfrm>
            <a:off x="822960" y="3108960"/>
            <a:ext cx="10424160" cy="731520"/>
          </a:xfrm>
          <a:prstGeom prst="rect">
            <a:avLst/>
          </a:prstGeom>
          <a:noFill/>
        </p:spPr>
        <p:txBody>
          <a:bodyPr wrap="square" lIns="45720" rIns="45720" anchor="ctr">
            <a:spAutoFit/>
          </a:bodyPr>
          <a:lstStyle/>
          <a:p>
            <a:pPr algn="l"/>
            <a:r>
              <a:rPr sz="1800" b="0" i="1" dirty="0">
                <a:solidFill>
                  <a:srgbClr val="D7E1F5"/>
                </a:solidFill>
                <a:latin typeface="Times New Roman"/>
                <a:ea typeface="Times New Roman"/>
                <a:cs typeface="Times New Roman"/>
              </a:rPr>
              <a:t>Questions and suggestions are welcome</a:t>
            </a:r>
          </a:p>
        </p:txBody>
      </p:sp>
      <p:sp>
        <p:nvSpPr>
          <p:cNvPr id="10" name="Card"/>
          <p:cNvSpPr/>
          <p:nvPr/>
        </p:nvSpPr>
        <p:spPr>
          <a:xfrm>
            <a:off x="822960" y="4160520"/>
            <a:ext cx="5760720" cy="1783080"/>
          </a:xfrm>
          <a:prstGeom prst="roundRect">
            <a:avLst>
              <a:gd name="adj" fmla="val 4615"/>
            </a:avLst>
          </a:prstGeom>
          <a:solidFill>
            <a:srgbClr val="FFFFFF"/>
          </a:solidFill>
          <a:ln w="12700">
            <a:solidFill>
              <a:srgbClr val="2C4C8C"/>
            </a:solidFill>
          </a:ln>
        </p:spPr>
        <p:txBody>
          <a:bodyPr rtlCol="0" anchor="ctr"/>
          <a:lstStyle/>
          <a:p>
            <a:pPr algn="ctr"/>
            <a:endParaRPr/>
          </a:p>
        </p:txBody>
      </p:sp>
      <p:sp>
        <p:nvSpPr>
          <p:cNvPr id="11" name="TextBox 10"/>
          <p:cNvSpPr txBox="1"/>
          <p:nvPr/>
        </p:nvSpPr>
        <p:spPr>
          <a:xfrm>
            <a:off x="1051560" y="4297680"/>
            <a:ext cx="5303520" cy="274320"/>
          </a:xfrm>
          <a:prstGeom prst="rect">
            <a:avLst/>
          </a:prstGeom>
          <a:noFill/>
        </p:spPr>
        <p:txBody>
          <a:bodyPr wrap="square" lIns="45720" rIns="45720" anchor="ctr">
            <a:spAutoFit/>
          </a:bodyPr>
          <a:lstStyle/>
          <a:p>
            <a:pPr algn="l"/>
            <a:r>
              <a:rPr sz="1050" b="1" i="0" spc="150">
                <a:solidFill>
                  <a:srgbClr val="2F5296"/>
                </a:solidFill>
                <a:latin typeface="Times New Roman"/>
                <a:ea typeface="Times New Roman"/>
                <a:cs typeface="Times New Roman"/>
              </a:rPr>
              <a:t>PROJECT GUIDE</a:t>
            </a:r>
          </a:p>
        </p:txBody>
      </p:sp>
      <p:sp>
        <p:nvSpPr>
          <p:cNvPr id="12" name="TextBox 11"/>
          <p:cNvSpPr txBox="1"/>
          <p:nvPr/>
        </p:nvSpPr>
        <p:spPr>
          <a:xfrm>
            <a:off x="1051560" y="4598594"/>
            <a:ext cx="5303520" cy="330860"/>
          </a:xfrm>
          <a:prstGeom prst="rect">
            <a:avLst/>
          </a:prstGeom>
          <a:noFill/>
        </p:spPr>
        <p:txBody>
          <a:bodyPr wrap="square" lIns="45720" rIns="45720" anchor="ctr">
            <a:spAutoFit/>
          </a:bodyPr>
          <a:lstStyle/>
          <a:p>
            <a:r>
              <a:rPr sz="1550" b="1" i="0" dirty="0">
                <a:solidFill>
                  <a:srgbClr val="000000"/>
                </a:solidFill>
                <a:latin typeface="Times New Roman"/>
                <a:ea typeface="Times New Roman"/>
                <a:cs typeface="Times New Roman"/>
              </a:rPr>
              <a:t>•   Dr. S. Sasikala</a:t>
            </a:r>
            <a:r>
              <a:rPr lang="en-US" sz="1550" b="1" dirty="0">
                <a:solidFill>
                  <a:srgbClr val="000000"/>
                </a:solidFill>
                <a:latin typeface="Times New Roman"/>
                <a:ea typeface="Times New Roman"/>
                <a:cs typeface="Times New Roman"/>
              </a:rPr>
              <a:t>	</a:t>
            </a:r>
            <a:r>
              <a:rPr lang="en-IN" sz="1550" b="1" dirty="0">
                <a:solidFill>
                  <a:srgbClr val="000000"/>
                </a:solidFill>
                <a:ea typeface="Times New Roman"/>
                <a:cs typeface="Times New Roman"/>
              </a:rPr>
              <a:t> •   Mrs. M. </a:t>
            </a:r>
            <a:r>
              <a:rPr lang="en-IN" sz="1550" b="1" dirty="0" err="1">
                <a:solidFill>
                  <a:srgbClr val="000000"/>
                </a:solidFill>
                <a:ea typeface="Times New Roman"/>
                <a:cs typeface="Times New Roman"/>
              </a:rPr>
              <a:t>Bhavadharini</a:t>
            </a:r>
            <a:r>
              <a:rPr lang="en-IN" sz="1550" b="1" dirty="0">
                <a:solidFill>
                  <a:srgbClr val="000000"/>
                </a:solidFill>
                <a:ea typeface="Times New Roman"/>
                <a:cs typeface="Times New Roman"/>
              </a:rPr>
              <a:t> </a:t>
            </a:r>
            <a:endParaRPr sz="1550" b="1" i="0" dirty="0">
              <a:solidFill>
                <a:srgbClr val="000000"/>
              </a:solidFill>
              <a:latin typeface="Times New Roman"/>
              <a:ea typeface="Times New Roman"/>
              <a:cs typeface="Times New Roman"/>
            </a:endParaRPr>
          </a:p>
        </p:txBody>
      </p:sp>
      <p:sp>
        <p:nvSpPr>
          <p:cNvPr id="13" name="Divider"/>
          <p:cNvSpPr/>
          <p:nvPr/>
        </p:nvSpPr>
        <p:spPr>
          <a:xfrm>
            <a:off x="1051560" y="5047488"/>
            <a:ext cx="5303520" cy="10972"/>
          </a:xfrm>
          <a:prstGeom prst="rect">
            <a:avLst/>
          </a:prstGeom>
          <a:solidFill>
            <a:srgbClr val="4472C4"/>
          </a:solidFill>
          <a:ln>
            <a:noFill/>
          </a:ln>
        </p:spPr>
        <p:txBody>
          <a:bodyPr rtlCol="0" anchor="ctr"/>
          <a:lstStyle/>
          <a:p>
            <a:pPr algn="ctr"/>
            <a:endParaRPr/>
          </a:p>
        </p:txBody>
      </p:sp>
      <p:sp>
        <p:nvSpPr>
          <p:cNvPr id="14" name="TextBox 13"/>
          <p:cNvSpPr txBox="1"/>
          <p:nvPr/>
        </p:nvSpPr>
        <p:spPr>
          <a:xfrm>
            <a:off x="1051560" y="5138928"/>
            <a:ext cx="5303520" cy="274320"/>
          </a:xfrm>
          <a:prstGeom prst="rect">
            <a:avLst/>
          </a:prstGeom>
          <a:noFill/>
        </p:spPr>
        <p:txBody>
          <a:bodyPr wrap="square" lIns="45720" rIns="45720" anchor="ctr">
            <a:spAutoFit/>
          </a:bodyPr>
          <a:lstStyle/>
          <a:p>
            <a:pPr algn="l"/>
            <a:r>
              <a:rPr sz="1050" b="1" i="0" spc="150">
                <a:solidFill>
                  <a:srgbClr val="2F5296"/>
                </a:solidFill>
                <a:latin typeface="Times New Roman"/>
                <a:ea typeface="Times New Roman"/>
                <a:cs typeface="Times New Roman"/>
              </a:rPr>
              <a:t>TEAM MEMBERS</a:t>
            </a:r>
          </a:p>
        </p:txBody>
      </p:sp>
      <p:sp>
        <p:nvSpPr>
          <p:cNvPr id="15" name="TextBox 14"/>
          <p:cNvSpPr txBox="1"/>
          <p:nvPr/>
        </p:nvSpPr>
        <p:spPr>
          <a:xfrm>
            <a:off x="1051560" y="5451383"/>
            <a:ext cx="5303520" cy="307777"/>
          </a:xfrm>
          <a:prstGeom prst="rect">
            <a:avLst/>
          </a:prstGeom>
          <a:noFill/>
        </p:spPr>
        <p:txBody>
          <a:bodyPr wrap="square" lIns="45720" rIns="45720" anchor="ctr">
            <a:spAutoFit/>
          </a:bodyPr>
          <a:lstStyle/>
          <a:p>
            <a:r>
              <a:rPr lang="en-IN" sz="1400" dirty="0">
                <a:solidFill>
                  <a:srgbClr val="000000"/>
                </a:solidFill>
                <a:ea typeface="Times New Roman"/>
                <a:cs typeface="Times New Roman"/>
              </a:rPr>
              <a:t>•</a:t>
            </a:r>
            <a:r>
              <a:rPr lang="en-IN" sz="1400" b="1" dirty="0">
                <a:solidFill>
                  <a:srgbClr val="000000"/>
                </a:solidFill>
                <a:ea typeface="Times New Roman"/>
                <a:cs typeface="Times New Roman"/>
              </a:rPr>
              <a:t>  </a:t>
            </a:r>
            <a:r>
              <a:rPr sz="1350" b="0" i="0" dirty="0">
                <a:solidFill>
                  <a:srgbClr val="000000"/>
                </a:solidFill>
                <a:latin typeface="Times New Roman"/>
                <a:ea typeface="Times New Roman"/>
                <a:cs typeface="Times New Roman"/>
              </a:rPr>
              <a:t>B R Prasanna   •   M Sandeep   •   S Gokul</a:t>
            </a:r>
          </a:p>
        </p:txBody>
      </p:sp>
      <p:sp>
        <p:nvSpPr>
          <p:cNvPr id="16" name="Footer"/>
          <p:cNvSpPr txBox="1"/>
          <p:nvPr/>
        </p:nvSpPr>
        <p:spPr>
          <a:xfrm>
            <a:off x="457200" y="6547104"/>
            <a:ext cx="6400800" cy="274320"/>
          </a:xfrm>
          <a:prstGeom prst="rect">
            <a:avLst/>
          </a:prstGeom>
          <a:noFill/>
        </p:spPr>
        <p:txBody>
          <a:bodyPr wrap="square" lIns="45720" rIns="45720" anchor="ctr">
            <a:spAutoFit/>
          </a:bodyPr>
          <a:lstStyle/>
          <a:p>
            <a:pPr algn="l"/>
            <a:r>
              <a:rPr sz="900" b="0" i="0">
                <a:solidFill>
                  <a:srgbClr val="A9C0E8"/>
                </a:solidFill>
                <a:latin typeface="Times New Roman"/>
                <a:ea typeface="Times New Roman"/>
                <a:cs typeface="Times New Roman"/>
              </a:rPr>
              <a:t>LUNAVISION AI  |  PROJECT PHASE 1 / AI&amp;DS</a:t>
            </a:r>
          </a:p>
        </p:txBody>
      </p:sp>
      <p:sp>
        <p:nvSpPr>
          <p:cNvPr id="17" name="Slide Number"/>
          <p:cNvSpPr txBox="1"/>
          <p:nvPr/>
        </p:nvSpPr>
        <p:spPr>
          <a:xfrm>
            <a:off x="11155680" y="6547104"/>
            <a:ext cx="640080" cy="274320"/>
          </a:xfrm>
          <a:prstGeom prst="rect">
            <a:avLst/>
          </a:prstGeom>
          <a:noFill/>
        </p:spPr>
        <p:txBody>
          <a:bodyPr wrap="square" lIns="45720" rIns="45720" anchor="ctr">
            <a:spAutoFit/>
          </a:bodyPr>
          <a:lstStyle/>
          <a:p>
            <a:pPr algn="r"/>
            <a:r>
              <a:rPr sz="900" b="0" i="0">
                <a:solidFill>
                  <a:srgbClr val="A9C0E8"/>
                </a:solidFill>
                <a:latin typeface="Times New Roman"/>
                <a:ea typeface="Times New Roman"/>
                <a:cs typeface="Times New Roman"/>
              </a:rPr>
              <a:t>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TotalTime>
  <Words>3699</Words>
  <Application>Microsoft Office PowerPoint</Application>
  <PresentationFormat>Widescreen</PresentationFormat>
  <Paragraphs>590</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Prasanna B R</dc:creator>
  <cp:keywords/>
  <dc:description>generated using python-pptx</dc:description>
  <cp:lastModifiedBy>Prasanna B R</cp:lastModifiedBy>
  <cp:revision>2</cp:revision>
  <dcterms:created xsi:type="dcterms:W3CDTF">2013-01-27T09:14:16Z</dcterms:created>
  <dcterms:modified xsi:type="dcterms:W3CDTF">2026-10-06T17:29:08Z</dcterms:modified>
  <cp:category/>
</cp:coreProperties>
</file>