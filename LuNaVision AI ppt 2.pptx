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78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71A1-9EE6-ECD6-78EE-07DC5905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51BDC-3FBA-97A4-413C-DAE81EC06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C1986-AC29-C8E3-7588-187A6C9DC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017EA-F261-7526-3A63-ACBC0C242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78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CF96B-3DE1-EE8E-B1C9-C160C837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7D55F-6C96-6F6A-78ED-3B07846EA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37492-7DAF-5E84-D22C-EC6F12EF1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D320D-B5AA-01D5-74B0-349FA157BB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21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08B4D-8EB4-2AE7-3A05-C278FBA3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EC742-F4CC-FCB4-68B0-94CEFF319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07D24-3E72-CBB2-4171-F4498089D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536DE-2537-6466-471B-964EBF263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93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63325-9B3A-9F2B-091B-03F7CD9E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CFE47-1F51-F640-D7B3-D778F6B81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0088A-5143-C2E7-E1A2-B74D8A58C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A5693-3EB0-E9AA-1796-1A4797748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02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E649-8B47-048D-72EB-5669E2BD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CFB45-5406-4B1E-A401-5F2FA9852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7311A-EBA5-746F-49BB-7F31E61EF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96253-3A3A-BF52-9A9D-0BB80FD46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92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4E66-2559-067B-EF55-7AADB140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648AD-FF9B-7512-A9D8-46AB971DA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22C71-4894-1117-B17A-2824AB5AE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6216D-E3FE-34B1-8495-5401BF7E5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98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1B2E2-3D44-C948-A2D5-A3716762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AC795-2CC1-1370-727A-0FCA7C802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2E7FF-DB59-795A-5BC5-5400F9516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5E2A2-5EA8-450A-77BA-DBE41CE5C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48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AC43-4355-CBDE-217B-4A8359B8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A9838-E45A-AC4D-D827-AC40B7CF8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EAE22-0B50-7DB6-EDA8-952916A6A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24B32-B77A-C905-421F-7AC058CD4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89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A639-3EE5-1FBC-83DF-155DB3C3C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1B8B7-CF20-1599-6A25-37269F814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01413-CAA9-E5D6-53AE-1C4FC55E1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5555F-639E-FDF1-AD3E-36B51F3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689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CF5C-96C9-6E5B-CAD2-592B4F0E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0A225-22E8-D7DA-A559-29C47F58E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D3FEC-BF16-754F-15EB-6D6D4034E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54E7C-DDAB-3CB4-9635-D7FDB9627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822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2716" y="1270853"/>
            <a:ext cx="11614484" cy="1584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LuNaVision</a:t>
            </a: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AI: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 Intelligent Multi-Agent Pipeline for Automated Exoplanet Discovery from TESS Observations</a:t>
            </a:r>
          </a:p>
          <a:p>
            <a:pPr marL="0" indent="0" algn="ctr">
              <a:buNone/>
            </a:pPr>
            <a:endParaRPr lang="en-US" sz="4000" b="1" dirty="0">
              <a:solidFill>
                <a:srgbClr val="FFFFF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2038" y="3668928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GUIDE</a:t>
            </a:r>
          </a:p>
          <a:p>
            <a:pPr marL="0" indent="0" algn="ctr">
              <a:buNone/>
            </a:pPr>
            <a:endParaRPr lang="en-US" b="1" kern="0" spc="150" dirty="0">
              <a:solidFill>
                <a:srgbClr val="FFFFF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Mrs. M. </a:t>
            </a:r>
            <a:r>
              <a:rPr lang="en-US" b="1" kern="0" spc="15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Bhavadharini</a:t>
            </a:r>
            <a:endParaRPr lang="en-US" b="1" kern="0" spc="150" dirty="0">
              <a:solidFill>
                <a:srgbClr val="FFFFF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algn="ctr"/>
            <a:r>
              <a:rPr lang="en-US" b="1" kern="0" spc="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S. Sasikala</a:t>
            </a:r>
          </a:p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5083" y="3668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</a:p>
          <a:p>
            <a:pPr marL="0" indent="0" algn="ctr">
              <a:buNone/>
            </a:pPr>
            <a:endParaRPr lang="en-US" b="1" kern="0" spc="150" dirty="0">
              <a:solidFill>
                <a:srgbClr val="FFFFFF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 R Prasanna</a:t>
            </a:r>
          </a:p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Sandeep</a:t>
            </a:r>
          </a:p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Gokul
</a:t>
            </a:r>
            <a:endParaRPr lang="en-US" dirty="0"/>
          </a:p>
        </p:txBody>
      </p:sp>
      <p:sp>
        <p:nvSpPr>
          <p:cNvPr id="100" name="Footer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101" name="TextBox 100"/>
          <p:cNvSpPr txBox="1"/>
          <p:nvPr/>
        </p:nvSpPr>
        <p:spPr>
          <a:xfrm>
            <a:off x="548640" y="299923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500">
                <a:solidFill>
                  <a:srgbClr val="FFFFFF"/>
                </a:solidFill>
                <a:latin typeface="Times New Roman"/>
              </a:rPr>
              <a:t>Artificial Intelligence &amp; Data Science  •  Astronomical Signal Processing  •  Multi-Agent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2526"/>
            <a:ext cx="11064240" cy="4798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Exoplanet discovery from TESS light-curve data is a fast-growing but data-intensive field — NASA's TESS mission produces far more stellar brightness data than can be reviewed manually.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work applies ML/DL models (Random Forest, SVM, CNN, LSTM, Transformers) to detect transit signals and separate them from noise and false positives.</a:t>
            </a:r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&amp; Drawbacks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are typically built for a single stage of the detection process (e.g. classification only).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require manual intervention for preprocessing, validation and interpretation.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existing system offers a complete, automated end-to-end discovery pipeline.</a:t>
            </a:r>
          </a:p>
          <a:p>
            <a:pPr mar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LuNaVision AI — an intelligent multi-agent pipeline that automates the complete exoplanet detection workflow using specialized AI agents for acquisition, preprocessing, noise reduction, transit detection, classification, orbital parameter estimation, explainable decision-making and report generation.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Multi-Agent Systems, LLMs, Explainable AI (XAI), Machine Learning, Deep Learning and time-series analysis for a scalable, interpretable solution.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Aims to improve detection accuracy, reduce false positives, minimize manual effort and accelerate exoplanet discovery.</a:t>
            </a:r>
          </a:p>
        </p:txBody>
      </p:sp>
      <p:sp>
        <p:nvSpPr>
          <p:cNvPr id="5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  <p:sp>
        <p:nvSpPr>
          <p:cNvPr id="100" name="Footer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101" name="TextBox 100"/>
          <p:cNvSpPr txBox="1"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  <a:latin typeface="Times New Roman"/>
              </a:rPr>
              <a:t>Key Highlights:  </a:t>
            </a:r>
            <a:r>
              <a:rPr b="0" sz="1300" i="1">
                <a:solidFill>
                  <a:srgbClr val="FFFFFF"/>
                </a:solidFill>
                <a:latin typeface="Times New Roman"/>
              </a:rPr>
              <a:t>8 Specialized AI Agents   |   GPU-Accelerated Feature Engineering   |   Ensemble ML + Bayesian MCMC   |   Explainable &amp; Human-in-the-Loop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1046"/>
            <a:ext cx="11064240" cy="52140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multi-agent framework for automated exoplanet discovery.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TESS data acquisition and preprocessing.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reduce noise in stellar light curves.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potential planetary transit signals.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classify exoplanet candidates and false positives.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estimate orbital parameters.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Explainable AI (XAI) for decisions.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automated scientific reports.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effort and improve scalability.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leverage GPU acceleration for scalable, high-throughput feature extraction.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incorporate human-in-the-loop active learning for continuous model improvement.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modular, orchestrated multi-agent architecture that is easy to extend.</a:t>
            </a:r>
          </a:p>
        </p:txBody>
      </p:sp>
      <p:sp>
        <p:nvSpPr>
          <p:cNvPr id="5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  <p:sp>
        <p:nvSpPr>
          <p:cNvPr id="100" name="Footer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  <p:sp>
        <p:nvSpPr>
          <p:cNvPr id="100" name="Footer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397868-07D5-0D0F-C115-0E167E8AAFCF}"/>
              </a:ext>
            </a:extLst>
          </p:cNvPr>
          <p:cNvSpPr txBox="1"/>
          <p:nvPr/>
        </p:nvSpPr>
        <p:spPr>
          <a:xfrm>
            <a:off x="2486526" y="33207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E8B48-DDBD-ADDC-7307-2FFBDE4CC3B9}"/>
              </a:ext>
            </a:extLst>
          </p:cNvPr>
          <p:cNvSpPr txBox="1"/>
          <p:nvPr/>
        </p:nvSpPr>
        <p:spPr>
          <a:xfrm>
            <a:off x="548640" y="917088"/>
            <a:ext cx="110642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Automates the exoplanet detection workflow. 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Reduces manual effort in data analysis. 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Reduces false positives during candidate identification. 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Handles large datasets efficiently. 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Improves interpretability using XAI. 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Generates automated scientific reports. 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Accelerates exoplanet discovery. </a:t>
            </a: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One-line Scope:</a:t>
            </a:r>
          </a:p>
          <a:p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LuNaVision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can be used as an intelligent assistance system for astronomers and space-research applications to automatically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TESS observations and identify potential exoplanet candidates.</a:t>
            </a: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Capabilities: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GPU-Accelerated Processing –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Speeds up feature extraction for large-scale sector analysis.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Human-in-the-Loop Active Learning –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improves accuracy using expert feedback. 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Modular Multi-Agent Design –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extend with new detection or analysis stages.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600"/>
              </a:spcAft>
              <a:buSzPct val="100000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  <p:sp>
        <p:nvSpPr>
          <p:cNvPr id="100" name="Footer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F25801-5C3B-6CE2-65E5-CFBFC50C7280}"/>
              </a:ext>
            </a:extLst>
          </p:cNvPr>
          <p:cNvSpPr txBox="1"/>
          <p:nvPr/>
        </p:nvSpPr>
        <p:spPr>
          <a:xfrm>
            <a:off x="548640" y="711201"/>
            <a:ext cx="110642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CNN-Based Ensemble Model for Exoplanet Detection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Uses stellar flux (light intensity) for exoplanet detection.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Uses CNN-based ensemble learning for classification.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The proposed Ensemble-CNN achieved 99.62% accuracy in the study. 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Workflow: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Stellar Light Intensity → Data Processing → ML/DL Models → Ensemble-CNN → Exoplanet Classification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: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Mainly focuses on exoplanet classification. 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Does not provide a complete automated end-to-end discovery pipeline. 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Does not cover all stages such as data acquisition, orbital parameter estimation, XAI and automated scientific reporting. </a:t>
            </a:r>
          </a:p>
          <a:p>
            <a:pPr lvl="0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:</a:t>
            </a: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automated, scalable, and interpretable end-to-end exoplanet discovery pipeline.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gap directly motivates the multi-agent, end-to-end design of LuNaVision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100" dirty="0"/>
          </a:p>
        </p:txBody>
      </p:sp>
      <p:sp>
        <p:nvSpPr>
          <p:cNvPr id="100" name="Footer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C5E47C-CB08-2C89-6699-7F53F1A5D486}"/>
              </a:ext>
            </a:extLst>
          </p:cNvPr>
          <p:cNvSpPr txBox="1"/>
          <p:nvPr/>
        </p:nvSpPr>
        <p:spPr>
          <a:xfrm>
            <a:off x="548640" y="1233726"/>
            <a:ext cx="11064240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LuNaVision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multi-agent pipeline that automates the complete exoplanet discovery workflow.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:</a:t>
            </a: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TESS Data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Noise Reduction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 Detection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Exoplanet Classification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Orbital Parameter Estimation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XAI Interpretation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Idea 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stage is handled by a dedicated AI agent and coordinated by a central Orchestrator Agent, enabling fully automated, end-to-end execution with no manual intervention.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3217A-0290-2C5F-C030-D333C6F1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75757F4-BF7B-7E87-E10D-9CD97E487567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D8D7DE-EF33-4444-7DB6-4EDAF35F23F9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B09375-4718-00FB-8528-222952834B55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7E053DD4-C475-1011-6941-88654992FB35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FAF25-3910-7915-B426-393CBFC6D905}"/>
              </a:ext>
            </a:extLst>
          </p:cNvPr>
          <p:cNvSpPr txBox="1"/>
          <p:nvPr/>
        </p:nvSpPr>
        <p:spPr>
          <a:xfrm>
            <a:off x="548640" y="1298586"/>
            <a:ext cx="110642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 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&amp; Deep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</a:t>
            </a:r>
          </a:p>
          <a:p>
            <a:pPr lvl="0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Inference (MCMC)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Computing (CuPy / PyTorch) </a:t>
            </a: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automation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Fewer false positives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interpretable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via active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GPU-accelerated for large-scale data </a:t>
            </a:r>
          </a:p>
        </p:txBody>
      </p:sp>
    </p:spTree>
    <p:extLst>
      <p:ext uri="{BB962C8B-B14F-4D97-AF65-F5344CB8AC3E}">
        <p14:creationId xmlns:p14="http://schemas.microsoft.com/office/powerpoint/2010/main" val="114293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467993"/>
              </p:ext>
            </p:extLst>
          </p:nvPr>
        </p:nvGraphicFramePr>
        <p:xfrm>
          <a:off x="457200" y="1031631"/>
          <a:ext cx="11247120" cy="510951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15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32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250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Journal Name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Methodology Used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 and Cons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0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Exoplanet Imaging via Differentiable Rendering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Brandon Y. Feng, Rodrigo Ferrer-Chávez, Aviad Levis, William T. Freeman, Jason J. Wang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International Journal of Data Science and Analytics (Springer)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Differentiable Rendering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Pros:</a:t>
                      </a:r>
                      <a:r>
                        <a:rPr lang="en-IN" sz="11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Better contrast; improves faint-planet detection; uses wavefront data. </a:t>
                      </a:r>
                      <a:r>
                        <a:rPr lang="en-IN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Cons:</a:t>
                      </a:r>
                      <a:r>
                        <a:rPr lang="en-IN" sz="11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High complexity; simulation-based; depends on wavefront data.</a:t>
                      </a:r>
                      <a:endParaRPr lang="en-US" sz="11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Times New Roman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41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extraction for exoplanet detection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Pimentel J, Amorim J, Rudzicz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International Journal of Data Science and Analytics (Springer)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Extraction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Pros: Uses multiple feature domains; strong classification performance; reduces dataset bias through cross-validation.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Cons: Depends on preprocessing; requires feature engineering; feature importance needs further analysis.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32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Light intensity of stars for exoplanet detection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Jara-Maldonado, M. et 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IEEE Region 10 Symposium (TENSYMP)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KNN + SMOTE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Pros: High accuracy; handles class imbalance; works with limited observations.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Cons: Limited dataset; performance decreases with less data; mainly classification-focused.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Identifying Exoplanets with Deep Learning IV: Removing stellar activity signals from RV data using neural networks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nl-NL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 Beurs Z.L. et 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Astronomical Journal (IOP / AAS)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Neural Networks + Linear Regression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Pros: Removes stellar activity signals; improves RV quality; validated with real observations. Cons: Requires spectral information; generalization needs further testing; RV-focused.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100" dirty="0"/>
          </a:p>
        </p:txBody>
      </p:sp>
      <p:sp>
        <p:nvSpPr>
          <p:cNvPr id="100" name="Footer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737C8-BF9F-5BD8-4686-18D2BAB5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0BE77CD-31C0-944C-8681-10BACDAC29D5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C37C2FE0-0048-722C-D637-41914AE15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93714"/>
              </p:ext>
            </p:extLst>
          </p:nvPr>
        </p:nvGraphicFramePr>
        <p:xfrm>
          <a:off x="472440" y="928233"/>
          <a:ext cx="11247120" cy="524865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Journal Name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Methodology Used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 and Cons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CNN-based ensemble model for exoplanet detection.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t-BR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Priyadarshini I, Puri V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Earth Science Informatics (Springer)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Ensemble-CNN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Pros: High detection accuracy; improves model performance; combines multiple models.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Cons: Higher complexity; increased computational cost; mainly classification-focused.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3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Scientific domain knowledge &amp; deep learning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nb-NO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Ansdell, M. et 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Astrophysical Journal Letters (IOP / AAS)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2018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Domain-Informed DL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Pros: Improves accuracy and recall; better detection of low-SNR transits; supports smaller models.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Cons: Needs additional input data; requires centroid information; risk of overfitting.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Discovering new worlds: signal processing methods for RV exoplanet detection. IEEE Signal Process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Khan, M.S., Jenkins, J., Yoma, N.B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IEEE Signal Processing Magazine (Vol. 34, pp.104–115)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2017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Signal Processing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Pros: Improves signal-to-noise ratio; provides statistical methods; useful for weak signals.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Cons: Mainly RV-focused; relies on signal-processing techniques; not an automated AI pipeline.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Exoplanet detection methods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Wright, J.T., Gaudi, B.S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Book chapter — Planets, Stars and Stellar Systems, Vol. 3 (Springer Netherlands); also on </a:t>
                      </a:r>
                      <a:r>
                        <a:rPr lang="en-US" sz="1100" dirty="0" err="1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arXiv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(2012)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2012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Detection Methods Review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Pros: Covers major detection methods; explains detection requirements; compares method sensitivity. Cons: Broad review; less focus on AI/ML; does not provide a new detection model.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0815300E-CFBD-0580-E36D-17C53502FB69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5BA518B4-D53B-C920-B2C8-36F01878D0AB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74574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AND METHODOLOGIES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100" name="Footer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6288D-EB98-2B8E-D0B3-2AE3351081B1}"/>
              </a:ext>
            </a:extLst>
          </p:cNvPr>
          <p:cNvSpPr txBox="1"/>
          <p:nvPr/>
        </p:nvSpPr>
        <p:spPr>
          <a:xfrm>
            <a:off x="548640" y="722769"/>
            <a:ext cx="110642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Modules :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Orchestrator Agent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Coordinates every stage and logs the full pipeline run.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Acquisition Agent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Downloads TESS FITS light curves and reference catalogs.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Preprocessing Agent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Cleans, normalizes and detrends every light curve.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Transit Detection Agent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Runs a BLS / TLS search to find repeating dip signals.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Feature Engineering Agent (GPU)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Extracts 35+ features using CuPy / PyTorch acceleration.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Classification Agent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Ensemble ML model assigns a calibrated planet probability.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Parameter Fitting Agent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Estimates orbital parameters via batman + emcee MCMC.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Active Learning Agent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Sends unsure candidates to a human and retrains on new labels.</a:t>
            </a:r>
          </a:p>
          <a:p>
            <a:pPr marL="285750" lvl="0" indent="-285750">
              <a:spcAft>
                <a:spcPts val="200"/>
              </a:spcAft>
              <a:buFont typeface="+mj-lt"/>
              <a:buAutoNum type="arabicPeriod"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Reporting Agent</a:t>
            </a:r>
            <a:b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Generates plots, the candidate catalog and the final report.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Methodology :</a:t>
            </a:r>
          </a:p>
          <a:p>
            <a:pPr lvl="0"/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TESS Data → Acquire → Preprocess &amp; Detrend → BLS/TLS Detect → GPU Feature Extraction → Ensemble Classify → MCMC Parameter Fit → Visualize &amp; Report  (Active Learning feeds unsure cases back into training)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71C48-077A-2749-A63A-AF613693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24EE925-2767-477E-1FE6-8F420FD405B3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DIAGRAM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E21C21-6E4F-840A-98CD-EC39EB44ED14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B50BB3-AB1C-7588-2DE3-3A6F22CBE28D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8CBC0363-71E7-AE5F-83AE-4565776C5062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pic>
        <p:nvPicPr>
          <p:cNvPr id="101" name="Picture 10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831" y="929639"/>
            <a:ext cx="8151446" cy="543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34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0E864-49A1-262F-EAD6-62C81E3F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E38BE1D-9066-822C-18D6-AB308E11EF8F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EXOPLANET DETECTION PIPELINE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291B28-6FD6-5979-B516-4B17892100F1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644E71-E5E6-45C7-AADF-DE2A0345676E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D83E01F9-CE14-FBE2-8A98-217BD0220576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9CB22-719A-2EFF-CF1E-F7853C5B4E46}"/>
              </a:ext>
            </a:extLst>
          </p:cNvPr>
          <p:cNvSpPr txBox="1"/>
          <p:nvPr/>
        </p:nvSpPr>
        <p:spPr>
          <a:xfrm>
            <a:off x="548640" y="1143000"/>
            <a:ext cx="67208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7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Phase 0 — Data Acquisition &amp; Setup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US" sz="1400" b="1" dirty="0">
                <a:solidFill>
                  <a:srgbClr val="6FE3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— real Sector-1 data processed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Automatically fetch raw star-brightness data from NASA's TESS satellite and get it ready for analysis.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MAST Archive Queries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astroquery searches NASA's MAST archive for TESS light curves by sector, camera and CCD.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Reference Catalog Downloads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Auto-downloads and parses the ExoFOP TOI list, NASA Confirmed Planets table and the SPOC TCE catalog.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FITS Parsing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astropy reads each FITS file to pull out time, PDCSAP flux and data-quality flags.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Label Unification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Messy disposition codes (PC, KP, CP, EB, BEB, FP, V) are mapped into 4 clean classes.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Synthetic Transit Injection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batman injects artificial planet dips into quiet light curves to boost the rare Transit class.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Parallel, Resumable Downloads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thread pool downloads many files at once and skips files already saved if a run is interrupted.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Raw TESS light-curve .npz files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Unified label catalog &amp; TIC stellar parameters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Download manifest + initial EDA results</a:t>
            </a:r>
          </a:p>
        </p:txBody>
      </p:sp>
      <p:pic>
        <p:nvPicPr>
          <p:cNvPr id="101" name="Picture 100" descr="phase0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3977639" cy="471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22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6DC7E-D5E0-A2F7-1246-6CE5CADD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ECE834-290E-95F1-6109-890CAB28A660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EXOPLANET DETECTION PIPELINE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0B7594-222B-C0DA-2254-A910B6038AD1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06DCCE-EF88-8C84-BFCC-88CEF63E0B15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05778B86-7314-8593-A66D-0062EEA64453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7F6FB-6CF0-8CA3-1CCF-D5ECFE5059D3}"/>
              </a:ext>
            </a:extLst>
          </p:cNvPr>
          <p:cNvSpPr txBox="1"/>
          <p:nvPr/>
        </p:nvSpPr>
        <p:spPr>
          <a:xfrm>
            <a:off x="548640" y="1143000"/>
            <a:ext cx="67208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7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Phase 1 — Preprocessing &amp; Transit Search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US" sz="1400" b="1" dirty="0">
                <a:solidFill>
                  <a:srgbClr val="6FE3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— real Sector-1 data processed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Clean up the noisy raw brightness readings and search for repeating dips that could be planets.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Normalization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Every light curve is divided by its median flux so all stars sit on the same brightness scale.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Outlier Removal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Iterative 3σ sigma-clipping, up to 5 passes, strips cosmic-ray hits and bad cadences.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Gap Handling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Small gaps (≤3 cadences) are filled by interpolation; longer gaps are flagged, not guessed.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Detrending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wotan bi-weight filter (0.75-day window) removes slow drift while keeping the transit dip intact.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Quality Gating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Targets with &lt;13.5 days of data, or noise &gt;5× the expected photon noise, are dropped automatically.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BLS / TLS Search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Box/Transit Least Squares scan tests thousands of trial periods to find the strongest repeating dip.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Cleaned &amp; detrended light curves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Candidate list (period, depth, duration)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BLS / TLS parameters (SDE, FAP)</a:t>
            </a:r>
          </a:p>
        </p:txBody>
      </p:sp>
      <p:pic>
        <p:nvPicPr>
          <p:cNvPr id="101" name="Picture 100" descr="phase1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3977639" cy="471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94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B7900-27DE-86D9-F18E-D68B03F3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B820804-8524-59C6-A428-B7759E2B4DC9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EXOPLANET DETECTION PIPELINE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5FCED1-9819-CBEA-98BF-842C9AE8B143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FA3CEE-EEAC-ED8A-51BC-83A6E7F895C1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70D5C79C-6EA3-6D62-76A4-880729A10475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F7074-811B-A26C-A63D-C1305AA91370}"/>
              </a:ext>
            </a:extLst>
          </p:cNvPr>
          <p:cNvSpPr txBox="1"/>
          <p:nvPr/>
        </p:nvSpPr>
        <p:spPr>
          <a:xfrm>
            <a:off x="548640" y="1143000"/>
            <a:ext cx="67208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7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Phase 2 — Feature Engineering (GPU-Accelerated)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US" sz="1400" b="1" dirty="0">
                <a:solidFill>
                  <a:srgbClr val="6FE3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— real Sector-1 data processed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Turn each candidate signal into a set of numbers a machine-learning model can actually learn from.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35+ Engineered Features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Transit geometry, signal quality, shape, odd/even depth, secondary eclipse, centroid and stellar stats.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GPU Acceleration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Phase-folding, FFTs and statistics run on an NVIDIA GPU via CuPy and PyTorch, with automatic CPU fallback.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Anti-Hang Safeguards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Capped worker count, per-task timeouts and RAM monitoring stop one stuck light curve from freezing the run.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Batch Checkpointing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Progress saves every batch, so a long feature-extraction job can resume instead of restarting.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Stellar Cross-Match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Pulls Teff, log g, radius, mass and distance from the TIC catalog for astrophysical context.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feature_matrix.csv — one row per candidate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35+ columns, ready for machine learning</a:t>
            </a:r>
          </a:p>
        </p:txBody>
      </p:sp>
      <p:pic>
        <p:nvPicPr>
          <p:cNvPr id="101" name="Picture 100" descr="phase2_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3977639" cy="471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5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8D237-FFCC-35CB-CEC3-9AB2D58F4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813062A-5EF2-7AAE-69F2-A3DAE05D5121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EXOPLANET DETECTION PIPELINE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C76D54-EF1D-53E8-74DE-6A1EC71E6383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A8FD0C-9C8D-3586-CA26-092768495257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A7AD3903-C8B9-B3AA-7FBB-72BF18254D06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B0FEB-AEF7-768F-9954-C53BC96D1640}"/>
              </a:ext>
            </a:extLst>
          </p:cNvPr>
          <p:cNvSpPr txBox="1"/>
          <p:nvPr/>
        </p:nvSpPr>
        <p:spPr>
          <a:xfrm>
            <a:off x="548640" y="1143000"/>
            <a:ext cx="67208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7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Phase 3 — Ensemble Machine-Learning Classifier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US" sz="1400" b="1" dirty="0">
                <a:solidFill>
                  <a:srgbClr val="AEB9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— not yet implemented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 the model decide, on its own, whether a candidate signal is really a planet or something else.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Class Balancing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SMOTE oversampling fixes the natural imbalance — real planets are rare next to false positives.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Ensemble Models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Random Forest, XGBoost and Extra Trees are trained together and combined via a stacked meta-learner.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Probability Calibration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Platt scaling makes predicted probabilities trustworthy — a "0.9" really means ~90% confident.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Explainability (SHAP)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SHAP values confirm the model relies on physically meaningful features like depth and SDE, not noise.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Confidence Routing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Predictions below 65% confidence are flagged for human review instead of being trusted blindly.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Target: macro F1-score ≥ 90% on held-out test data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Trained ML ensemble model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Calibrated planet probability per candidate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Planet / EB / Blend / Other class label</a:t>
            </a:r>
          </a:p>
        </p:txBody>
      </p:sp>
      <p:pic>
        <p:nvPicPr>
          <p:cNvPr id="101" name="Picture 100" descr="phase3_badg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3977639" cy="471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34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5E0C3-6ACB-02B3-B499-C02AD723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52277B0-D9D3-0DBD-5330-39982B69EA94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EXOPLANET DETECTION PIPELINE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1CDFC3-1AC6-6C00-3958-748F3F961265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6DAC2E-184F-89E6-80DF-6C3BA4483E01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F912E150-3E1B-AAF8-1DF8-0660AF945370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C191A8-94DA-CD00-AE30-5F7FA83B8374}"/>
              </a:ext>
            </a:extLst>
          </p:cNvPr>
          <p:cNvSpPr txBox="1"/>
          <p:nvPr/>
        </p:nvSpPr>
        <p:spPr>
          <a:xfrm>
            <a:off x="548640" y="1143000"/>
            <a:ext cx="67208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7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Phase 4 — Orbital Parameter Fitting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US" sz="1400" b="1" dirty="0">
                <a:solidFill>
                  <a:srgbClr val="AEB9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— not yet implemented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every strong candidate, work out its size, orbit and timing — with honest uncertainty ranges.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Transit Modeling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batman package builds a physics-based model of the dip caused by a planet crossing its star.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Bayesian MCMC Fitting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emcee runs 32 walkers for 1000 steps to explore every plausible combination of parameters.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Parameters Estimated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Radius ratio (Rp/Rs), orbital period, impact parameter, inclination and transit midpoint.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Credible Intervals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16th/50th/84th percentiles of the posterior give a 95% credible range, not just one number.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Fallback Handling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If MCMC fails to converge, the system falls back to a least-squares fit so it never gets stuck.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Best-fit transit model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Estimated planetary parameters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95% credible intervals per parameter</a:t>
            </a:r>
          </a:p>
        </p:txBody>
      </p:sp>
      <p:pic>
        <p:nvPicPr>
          <p:cNvPr id="101" name="Picture 100" descr="phase4_badg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3977639" cy="471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4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54E38-7163-8B1D-B42D-1DCC3ADD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A33257F-00A3-8533-DA2B-74015800EA0A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EXOPLANET DETECTION PIPELINE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085E15-93BE-53BC-03D3-3F40C582BF06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6F1F8A-41DC-45B3-05D4-0BCEEE90B873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EA66E98E-3EA5-CB47-82F5-2571070FCC08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DA6E4-C360-08C0-2664-CCC8244CC2B3}"/>
              </a:ext>
            </a:extLst>
          </p:cNvPr>
          <p:cNvSpPr txBox="1"/>
          <p:nvPr/>
        </p:nvSpPr>
        <p:spPr>
          <a:xfrm>
            <a:off x="548640" y="1143000"/>
            <a:ext cx="67208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7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Phase 5 — Visualization &amp; Scientific Reporting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US" sz="1400" b="1" dirty="0">
                <a:solidFill>
                  <a:srgbClr val="F4C5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PROGRESS — prototype dashboard live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Turn all the numbers into clear pictures and a short report a scientist can read in minutes.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 Diagnostic Plots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Raw &amp; detrended light curves, BLS/TLS periodogram, phase-fold + model, corner plot, odd/even, centroid.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Model Performance Views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Confusion matrix, precision-recall curves and calibration plots show how well the classifier performs.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Ranked Candidate Catalog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All candidates are sorted by signal-to-noise ratio into one master CSV / FITS table.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Automated PDF Report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Jinja2 template auto-fills a 3-page report per candidate with plots, parameters and a verdict.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PNG / PDF visualizations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Candidate catalog (CSV / FITS)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3-page automated scientific report</a:t>
            </a:r>
          </a:p>
        </p:txBody>
      </p:sp>
      <p:pic>
        <p:nvPicPr>
          <p:cNvPr id="101" name="Picture 100" descr="phase5_badg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3977639" cy="471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50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45A0D-2C10-B5AA-CC4B-FABC796F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34FEAF7-E062-F116-0D03-9D9A1B5F11BF}"/>
              </a:ext>
            </a:extLst>
          </p:cNvPr>
          <p:cNvSpPr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EXOPLANET DETECTION PIPELINE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F07B342-713F-F57D-7DDF-34E7B7FDDC59}"/>
              </a:ext>
            </a:extLst>
          </p:cNvPr>
          <p:cNvSpPr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E1710F-D9FD-ED20-868F-1371D8BCBFFA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100" name="Footer">
            <a:extLst>
              <a:ext uri="{FF2B5EF4-FFF2-40B4-BE49-F238E27FC236}">
                <a16:creationId xmlns:a16="http://schemas.microsoft.com/office/drawing/2014/main" id="{DDE35E92-0785-C800-4B71-76C6697B4302}"/>
              </a:ext>
            </a:extLst>
          </p:cNvPr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PHASE 1 / AI&amp;DS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95D5E-7D47-EA33-6C95-89CD3F930228}"/>
              </a:ext>
            </a:extLst>
          </p:cNvPr>
          <p:cNvSpPr txBox="1"/>
          <p:nvPr/>
        </p:nvSpPr>
        <p:spPr>
          <a:xfrm>
            <a:off x="548640" y="1143000"/>
            <a:ext cx="6720840" cy="4992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7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Phase 6 — Enhanced Analysis &amp; Reliability (Bonus)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Status: </a:t>
            </a:r>
            <a:r>
              <a:rPr lang="en-US" sz="1400" b="1" dirty="0">
                <a:solidFill>
                  <a:srgbClr val="AEB9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— not yet implemented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Stress-test the pipeline itself so its results can actually be trusted.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Centroid Analysis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Checks the dip truly comes from the target star's own pixels and not a nearby contaminating star.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Injection–Recovery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Plants thousands of fake, exactly-known transits and reruns the pipeline to measure detection sensitivity.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Active Learning — </a:t>
            </a: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Sends only the most uncertain (&lt;65% confidence) candidates to a human, then retrains on the new labels.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lang="en-IN" sz="1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Robustness &amp; sensitivity metrics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Contamination-checked, higher-confidence candidates</a:t>
            </a:r>
          </a:p>
          <a:p>
            <a:pPr marL="285750" lvl="0" indent="-285750">
              <a:lnSpc>
                <a:spcPct val="100000"/>
              </a:lnSpc>
              <a:spcAft>
                <a:spcPts val="400"/>
              </a:spcAft>
              <a:buSzPts val="1000"/>
              <a:buFont typeface="Symbol" panose="05050102010706020507" pitchFamily="18" charset="2"/>
              <a:buChar char="•"/>
              <a:tabLst>
                <a:tab pos="342900" algn="l"/>
              </a:tabLst>
            </a:pPr>
            <a:r>
              <a:rPr lang="en-IN" sz="1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model that keeps improving with human feedback</a:t>
            </a:r>
          </a:p>
        </p:txBody>
      </p:sp>
      <p:pic>
        <p:nvPicPr>
          <p:cNvPr id="101" name="Picture 100" descr="phase6_badg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17320"/>
            <a:ext cx="3977639" cy="471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73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2165</Words>
  <Application>Microsoft Office PowerPoint</Application>
  <PresentationFormat>Widescreen</PresentationFormat>
  <Paragraphs>329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Prasanna B R</cp:lastModifiedBy>
  <cp:revision>6</cp:revision>
  <dcterms:created xsi:type="dcterms:W3CDTF">2026-08-10T08:35:58Z</dcterms:created>
  <dcterms:modified xsi:type="dcterms:W3CDTF">2026-09-10T08:50:00Z</dcterms:modified>
</cp:coreProperties>
</file>